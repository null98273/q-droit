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3"/>
  </p:notesMasterIdLst>
  <p:sldIdLst>
    <p:sldId id="466" r:id="rId2"/>
    <p:sldId id="458" r:id="rId3"/>
    <p:sldId id="459" r:id="rId4"/>
    <p:sldId id="468" r:id="rId5"/>
    <p:sldId id="461" r:id="rId6"/>
    <p:sldId id="460" r:id="rId7"/>
    <p:sldId id="257" r:id="rId8"/>
    <p:sldId id="258" r:id="rId9"/>
    <p:sldId id="259" r:id="rId10"/>
    <p:sldId id="260" r:id="rId11"/>
    <p:sldId id="261" r:id="rId12"/>
    <p:sldId id="262" r:id="rId13"/>
    <p:sldId id="263" r:id="rId14"/>
    <p:sldId id="264" r:id="rId15"/>
    <p:sldId id="265" r:id="rId16"/>
    <p:sldId id="270" r:id="rId17"/>
    <p:sldId id="266" r:id="rId18"/>
    <p:sldId id="272" r:id="rId19"/>
    <p:sldId id="273" r:id="rId20"/>
    <p:sldId id="267" r:id="rId21"/>
    <p:sldId id="268" r:id="rId22"/>
    <p:sldId id="269" r:id="rId23"/>
    <p:sldId id="271" r:id="rId24"/>
    <p:sldId id="462" r:id="rId25"/>
    <p:sldId id="274" r:id="rId26"/>
    <p:sldId id="275" r:id="rId27"/>
    <p:sldId id="276" r:id="rId28"/>
    <p:sldId id="463" r:id="rId29"/>
    <p:sldId id="277" r:id="rId30"/>
    <p:sldId id="282" r:id="rId31"/>
    <p:sldId id="283" r:id="rId32"/>
    <p:sldId id="464" r:id="rId33"/>
    <p:sldId id="284" r:id="rId34"/>
    <p:sldId id="285" r:id="rId35"/>
    <p:sldId id="286" r:id="rId36"/>
    <p:sldId id="287" r:id="rId37"/>
    <p:sldId id="288" r:id="rId38"/>
    <p:sldId id="289" r:id="rId39"/>
    <p:sldId id="290" r:id="rId40"/>
    <p:sldId id="291" r:id="rId41"/>
    <p:sldId id="292" r:id="rId42"/>
    <p:sldId id="293" r:id="rId43"/>
    <p:sldId id="298" r:id="rId44"/>
    <p:sldId id="294" r:id="rId45"/>
    <p:sldId id="295" r:id="rId46"/>
    <p:sldId id="296" r:id="rId47"/>
    <p:sldId id="297" r:id="rId48"/>
    <p:sldId id="278" r:id="rId49"/>
    <p:sldId id="279" r:id="rId50"/>
    <p:sldId id="280" r:id="rId51"/>
    <p:sldId id="299" r:id="rId52"/>
    <p:sldId id="300" r:id="rId53"/>
    <p:sldId id="281" r:id="rId54"/>
    <p:sldId id="303" r:id="rId55"/>
    <p:sldId id="304" r:id="rId56"/>
    <p:sldId id="305" r:id="rId57"/>
    <p:sldId id="306" r:id="rId58"/>
    <p:sldId id="301" r:id="rId59"/>
    <p:sldId id="455" r:id="rId60"/>
    <p:sldId id="307" r:id="rId61"/>
    <p:sldId id="309" r:id="rId62"/>
    <p:sldId id="310" r:id="rId63"/>
    <p:sldId id="312" r:id="rId64"/>
    <p:sldId id="311" r:id="rId65"/>
    <p:sldId id="313" r:id="rId66"/>
    <p:sldId id="314" r:id="rId67"/>
    <p:sldId id="315" r:id="rId68"/>
    <p:sldId id="319" r:id="rId69"/>
    <p:sldId id="318" r:id="rId70"/>
    <p:sldId id="317"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6" r:id="rId87"/>
    <p:sldId id="344" r:id="rId88"/>
    <p:sldId id="335" r:id="rId89"/>
    <p:sldId id="337" r:id="rId90"/>
    <p:sldId id="338" r:id="rId91"/>
    <p:sldId id="339" r:id="rId92"/>
    <p:sldId id="340" r:id="rId93"/>
    <p:sldId id="351" r:id="rId94"/>
    <p:sldId id="341" r:id="rId95"/>
    <p:sldId id="342" r:id="rId96"/>
    <p:sldId id="352" r:id="rId97"/>
    <p:sldId id="343" r:id="rId98"/>
    <p:sldId id="345" r:id="rId99"/>
    <p:sldId id="457" r:id="rId100"/>
    <p:sldId id="347" r:id="rId101"/>
    <p:sldId id="354" r:id="rId102"/>
    <p:sldId id="456" r:id="rId103"/>
    <p:sldId id="346" r:id="rId104"/>
    <p:sldId id="355" r:id="rId105"/>
    <p:sldId id="348" r:id="rId106"/>
    <p:sldId id="364" r:id="rId107"/>
    <p:sldId id="349" r:id="rId108"/>
    <p:sldId id="350" r:id="rId109"/>
    <p:sldId id="356" r:id="rId110"/>
    <p:sldId id="357" r:id="rId111"/>
    <p:sldId id="365" r:id="rId112"/>
    <p:sldId id="358" r:id="rId113"/>
    <p:sldId id="359" r:id="rId114"/>
    <p:sldId id="360" r:id="rId115"/>
    <p:sldId id="361" r:id="rId116"/>
    <p:sldId id="367" r:id="rId117"/>
    <p:sldId id="363" r:id="rId118"/>
    <p:sldId id="362" r:id="rId119"/>
    <p:sldId id="370" r:id="rId120"/>
    <p:sldId id="366" r:id="rId121"/>
    <p:sldId id="368" r:id="rId122"/>
    <p:sldId id="369" r:id="rId123"/>
    <p:sldId id="371" r:id="rId124"/>
    <p:sldId id="372" r:id="rId125"/>
    <p:sldId id="373" r:id="rId126"/>
    <p:sldId id="374" r:id="rId127"/>
    <p:sldId id="375" r:id="rId128"/>
    <p:sldId id="377" r:id="rId129"/>
    <p:sldId id="378" r:id="rId130"/>
    <p:sldId id="379" r:id="rId131"/>
    <p:sldId id="467" r:id="rId132"/>
    <p:sldId id="380" r:id="rId133"/>
    <p:sldId id="381" r:id="rId134"/>
    <p:sldId id="383" r:id="rId135"/>
    <p:sldId id="382" r:id="rId136"/>
    <p:sldId id="384" r:id="rId137"/>
    <p:sldId id="387" r:id="rId138"/>
    <p:sldId id="388" r:id="rId139"/>
    <p:sldId id="386" r:id="rId140"/>
    <p:sldId id="389" r:id="rId141"/>
    <p:sldId id="390" r:id="rId142"/>
    <p:sldId id="385" r:id="rId143"/>
    <p:sldId id="395" r:id="rId144"/>
    <p:sldId id="391" r:id="rId145"/>
    <p:sldId id="393" r:id="rId146"/>
    <p:sldId id="394" r:id="rId147"/>
    <p:sldId id="396" r:id="rId148"/>
    <p:sldId id="398" r:id="rId149"/>
    <p:sldId id="397" r:id="rId150"/>
    <p:sldId id="400" r:id="rId151"/>
    <p:sldId id="401" r:id="rId152"/>
    <p:sldId id="402" r:id="rId153"/>
    <p:sldId id="403" r:id="rId154"/>
    <p:sldId id="404" r:id="rId155"/>
    <p:sldId id="405" r:id="rId156"/>
    <p:sldId id="406" r:id="rId157"/>
    <p:sldId id="408" r:id="rId158"/>
    <p:sldId id="407" r:id="rId159"/>
    <p:sldId id="417" r:id="rId160"/>
    <p:sldId id="416" r:id="rId161"/>
    <p:sldId id="409" r:id="rId162"/>
    <p:sldId id="410" r:id="rId163"/>
    <p:sldId id="411" r:id="rId164"/>
    <p:sldId id="412" r:id="rId165"/>
    <p:sldId id="413" r:id="rId166"/>
    <p:sldId id="414" r:id="rId167"/>
    <p:sldId id="415" r:id="rId168"/>
    <p:sldId id="418" r:id="rId169"/>
    <p:sldId id="419" r:id="rId170"/>
    <p:sldId id="420" r:id="rId171"/>
    <p:sldId id="422" r:id="rId172"/>
    <p:sldId id="423" r:id="rId173"/>
    <p:sldId id="424" r:id="rId174"/>
    <p:sldId id="426" r:id="rId175"/>
    <p:sldId id="425" r:id="rId176"/>
    <p:sldId id="427" r:id="rId177"/>
    <p:sldId id="428" r:id="rId178"/>
    <p:sldId id="432" r:id="rId179"/>
    <p:sldId id="435" r:id="rId180"/>
    <p:sldId id="433" r:id="rId181"/>
    <p:sldId id="434" r:id="rId182"/>
    <p:sldId id="431" r:id="rId183"/>
    <p:sldId id="436" r:id="rId184"/>
    <p:sldId id="444" r:id="rId185"/>
    <p:sldId id="445" r:id="rId186"/>
    <p:sldId id="446" r:id="rId187"/>
    <p:sldId id="437" r:id="rId188"/>
    <p:sldId id="447" r:id="rId189"/>
    <p:sldId id="438" r:id="rId190"/>
    <p:sldId id="448" r:id="rId191"/>
    <p:sldId id="439" r:id="rId192"/>
    <p:sldId id="430" r:id="rId193"/>
    <p:sldId id="449" r:id="rId194"/>
    <p:sldId id="429" r:id="rId195"/>
    <p:sldId id="440" r:id="rId196"/>
    <p:sldId id="441" r:id="rId197"/>
    <p:sldId id="450" r:id="rId198"/>
    <p:sldId id="451" r:id="rId199"/>
    <p:sldId id="452" r:id="rId200"/>
    <p:sldId id="453" r:id="rId201"/>
    <p:sldId id="454" r:id="rId20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80" autoAdjust="0"/>
  </p:normalViewPr>
  <p:slideViewPr>
    <p:cSldViewPr>
      <p:cViewPr>
        <p:scale>
          <a:sx n="80" d="100"/>
          <a:sy n="80" d="100"/>
        </p:scale>
        <p:origin x="-1445" y="-72"/>
      </p:cViewPr>
      <p:guideLst>
        <p:guide orient="horz" pos="2160"/>
        <p:guide pos="2880"/>
      </p:guideLst>
    </p:cSldViewPr>
  </p:slideViewPr>
  <p:outlineViewPr>
    <p:cViewPr>
      <p:scale>
        <a:sx n="33" d="100"/>
        <a:sy n="33" d="100"/>
      </p:scale>
      <p:origin x="0" y="42364"/>
    </p:cViewPr>
  </p:outlineViewPr>
  <p:notesTextViewPr>
    <p:cViewPr>
      <p:scale>
        <a:sx n="100" d="100"/>
        <a:sy n="100" d="100"/>
      </p:scale>
      <p:origin x="0" y="0"/>
    </p:cViewPr>
  </p:notesTextViewPr>
  <p:sorterViewPr>
    <p:cViewPr>
      <p:scale>
        <a:sx n="120" d="100"/>
        <a:sy n="12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theme" Target="theme/theme1.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C2970F-0853-4B0C-B383-F3E4167C4AD7}" type="datetimeFigureOut">
              <a:rPr lang="fr-FR" smtClean="0"/>
              <a:pPr/>
              <a:t>23/10/2024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141C87-5A58-4E5D-8B3E-7419C44A0B77}" type="slidenum">
              <a:rPr lang="fr-FR" smtClean="0"/>
              <a:pPr/>
              <a:t>‹N°›</a:t>
            </a:fld>
            <a:endParaRPr lang="fr-FR"/>
          </a:p>
        </p:txBody>
      </p:sp>
    </p:spTree>
    <p:extLst>
      <p:ext uri="{BB962C8B-B14F-4D97-AF65-F5344CB8AC3E}">
        <p14:creationId xmlns:p14="http://schemas.microsoft.com/office/powerpoint/2010/main" val="244597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4141C87-5A58-4E5D-8B3E-7419C44A0B77}" type="slidenum">
              <a:rPr lang="fr-FR" smtClean="0"/>
              <a:pPr/>
              <a:t>148</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9" name="Titr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a:t>Cliquez pour modifier le style du titre</a:t>
            </a:r>
            <a:endParaRPr kumimoji="0" lang="en-US"/>
          </a:p>
        </p:txBody>
      </p:sp>
      <p:sp>
        <p:nvSpPr>
          <p:cNvPr id="17" name="Sous-titr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B6681E81-A151-4CC5-AF6D-873C790BA263}" type="datetime1">
              <a:rPr lang="fr-FR" smtClean="0"/>
              <a:pPr/>
              <a:t>23/10/2024</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272D9B8B-0642-413F-BF02-247AC44831B3}" type="datetime1">
              <a:rPr lang="fr-FR" smtClean="0"/>
              <a:pPr/>
              <a:t>23/10/2024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0457C014-4876-46F1-81B3-A6F850501DA4}" type="datetime1">
              <a:rPr lang="fr-FR" smtClean="0"/>
              <a:pPr/>
              <a:t>23/10/2024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BE22C1F9-141C-424E-8B33-AE74B892234A}" type="datetime1">
              <a:rPr lang="fr-FR" smtClean="0"/>
              <a:pPr/>
              <a:t>23/10/2024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tIns="45720" anchor="b"/>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68213FD6-D620-41CA-B432-E5BCFECE3E25}" type="datetime1">
              <a:rPr lang="fr-FR" smtClean="0"/>
              <a:pPr/>
              <a:t>23/10/2024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16371B58-7C40-4095-83B2-DE7559372F23}" type="datetime1">
              <a:rPr lang="fr-FR" smtClean="0"/>
              <a:pPr/>
              <a:t>23/10/2024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4F12FA4-16FB-4D56-BE6C-4D0EC38FE7D8}" type="datetime1">
              <a:rPr lang="fr-FR" smtClean="0"/>
              <a:pPr/>
              <a:t>23/10/2024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0DF862F9-45B6-45DB-B058-84A81F281F99}" type="datetime1">
              <a:rPr lang="fr-FR" smtClean="0"/>
              <a:pPr/>
              <a:t>23/10/2024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Rogner et arrondir un rectangle à un seul coin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Triangle rect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r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fr-FR"/>
              <a:t>Cliquez pour modifier le style du titre</a:t>
            </a:r>
            <a:endParaRPr kumimoji="0" lang="en-US"/>
          </a:p>
        </p:txBody>
      </p:sp>
      <p:sp>
        <p:nvSpPr>
          <p:cNvPr id="4" name="Espace réservé du texte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B9937B6B-273E-4FB0-9D28-69FAF367FC79}" type="datetime1">
              <a:rPr lang="fr-FR" smtClean="0"/>
              <a:pPr/>
              <a:t>23/10/2024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077200" y="6356350"/>
            <a:ext cx="609600" cy="365125"/>
          </a:xfrm>
        </p:spPr>
        <p:txBody>
          <a:bodyPr/>
          <a:lstStyle/>
          <a:p>
            <a:fld id="{0B4B166F-A3A3-4DE9-809D-A8E7BD5C3246}" type="slidenum">
              <a:rPr lang="fr-FR" smtClean="0"/>
              <a:pPr/>
              <a:t>‹N°›</a:t>
            </a:fld>
            <a:endParaRPr lang="fr-FR"/>
          </a:p>
        </p:txBody>
      </p:sp>
      <p:sp>
        <p:nvSpPr>
          <p:cNvPr id="3" name="Espace réservé pour une image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a:t>Cliquez sur l'icône pour ajouter une image</a:t>
            </a:r>
            <a:endParaRPr kumimoji="0" lang="en-US" dirty="0"/>
          </a:p>
        </p:txBody>
      </p:sp>
      <p:sp>
        <p:nvSpPr>
          <p:cNvPr id="10" name="Forme libre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orme libre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7BA4E800-A7B4-43A7-B83C-65A3812DC89C}" type="datetime1">
              <a:rPr lang="fr-FR" smtClean="0"/>
              <a:pPr/>
              <a:t>23/10/2024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914401"/>
            <a:ext cx="2057400" cy="5211763"/>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914401"/>
            <a:ext cx="6019800" cy="5211763"/>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16DCAAC4-9DC7-43AB-8685-A37334D31D8C}" type="datetime1">
              <a:rPr lang="fr-FR" smtClean="0"/>
              <a:pPr/>
              <a:t>23/10/2024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4B166F-A3A3-4DE9-809D-A8E7BD5C3246}"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orme libre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Espace réservé du titre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fr-FR"/>
              <a:t>Cliquez pour modifier le style du titre</a:t>
            </a:r>
            <a:endParaRPr kumimoji="0" lang="en-US"/>
          </a:p>
        </p:txBody>
      </p:sp>
      <p:sp>
        <p:nvSpPr>
          <p:cNvPr id="30" name="Espace réservé du texte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0" name="Espace réservé de la date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BC84F23-39EE-4024-8696-2BCCF250B75C}" type="datetime1">
              <a:rPr lang="fr-FR" smtClean="0"/>
              <a:pPr/>
              <a:t>23/10/2024</a:t>
            </a:fld>
            <a:endParaRPr lang="fr-FR"/>
          </a:p>
        </p:txBody>
      </p:sp>
      <p:sp>
        <p:nvSpPr>
          <p:cNvPr id="22" name="Espace réservé du pied de page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a:p>
        </p:txBody>
      </p:sp>
      <p:sp>
        <p:nvSpPr>
          <p:cNvPr id="18" name="Espace réservé du numéro de diapositive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B4B166F-A3A3-4DE9-809D-A8E7BD5C3246}" type="slidenum">
              <a:rPr lang="fr-FR" smtClean="0"/>
              <a:pPr/>
              <a:t>‹N°›</a:t>
            </a:fld>
            <a:endParaRPr lang="fr-FR"/>
          </a:p>
        </p:txBody>
      </p:sp>
      <p:grpSp>
        <p:nvGrpSpPr>
          <p:cNvPr id="2" name="Groupe 1"/>
          <p:cNvGrpSpPr/>
          <p:nvPr/>
        </p:nvGrpSpPr>
        <p:grpSpPr>
          <a:xfrm>
            <a:off x="-19017" y="202408"/>
            <a:ext cx="9180548" cy="649224"/>
            <a:chOff x="-19045" y="216550"/>
            <a:chExt cx="9180548" cy="649224"/>
          </a:xfrm>
        </p:grpSpPr>
        <p:sp>
          <p:nvSpPr>
            <p:cNvPr id="12" name="Forme lib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orme lib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oecd-ilibrary.org/sites/25464790-"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1.emf"/><Relationship Id="rId4" Type="http://schemas.openxmlformats.org/officeDocument/2006/relationships/package" Target="../embeddings/Document_Microsoft_Word1.docx"/></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556792"/>
          </a:xfrm>
        </p:spPr>
        <p:txBody>
          <a:bodyPr>
            <a:normAutofit/>
          </a:bodyPr>
          <a:lstStyle/>
          <a:p>
            <a:pPr algn="ctr"/>
            <a:r>
              <a:rPr lang="fr-FR" sz="2800" dirty="0">
                <a:latin typeface="+mn-lt"/>
              </a:rPr>
              <a:t>Ecole de Droit UIR </a:t>
            </a:r>
            <a:r>
              <a:rPr lang="fr-FR" sz="2800" dirty="0" smtClean="0">
                <a:latin typeface="+mn-lt"/>
              </a:rPr>
              <a:t>2024-2025</a:t>
            </a:r>
            <a:r>
              <a:rPr lang="fr-FR" sz="2800" dirty="0">
                <a:latin typeface="+mn-lt"/>
              </a:rPr>
              <a:t/>
            </a:r>
            <a:br>
              <a:rPr lang="fr-FR" sz="2800" dirty="0">
                <a:latin typeface="+mn-lt"/>
              </a:rPr>
            </a:br>
            <a:endParaRPr lang="fr-FR" sz="2800" dirty="0">
              <a:latin typeface="+mn-lt"/>
            </a:endParaRPr>
          </a:p>
        </p:txBody>
      </p:sp>
      <p:sp>
        <p:nvSpPr>
          <p:cNvPr id="3" name="Espace réservé du contenu 2"/>
          <p:cNvSpPr>
            <a:spLocks noGrp="1"/>
          </p:cNvSpPr>
          <p:nvPr>
            <p:ph idx="1"/>
          </p:nvPr>
        </p:nvSpPr>
        <p:spPr>
          <a:xfrm>
            <a:off x="0" y="2132856"/>
            <a:ext cx="9144000" cy="4608512"/>
          </a:xfrm>
        </p:spPr>
        <p:txBody>
          <a:bodyPr>
            <a:normAutofit/>
          </a:bodyPr>
          <a:lstStyle/>
          <a:p>
            <a:pPr marL="0" indent="0" algn="ctr">
              <a:buNone/>
            </a:pPr>
            <a:endParaRPr lang="fr-FR" sz="2000" b="1" dirty="0" smtClean="0"/>
          </a:p>
          <a:p>
            <a:pPr marL="0" indent="0" algn="ctr">
              <a:lnSpc>
                <a:spcPct val="200000"/>
              </a:lnSpc>
              <a:buNone/>
            </a:pPr>
            <a:r>
              <a:rPr lang="fr-FR" sz="2000" b="1" dirty="0" smtClean="0">
                <a:solidFill>
                  <a:srgbClr val="FFFF00"/>
                </a:solidFill>
              </a:rPr>
              <a:t>Droit constitutionnel </a:t>
            </a:r>
          </a:p>
          <a:p>
            <a:pPr marL="0" indent="0" algn="ctr">
              <a:lnSpc>
                <a:spcPct val="200000"/>
              </a:lnSpc>
              <a:buNone/>
            </a:pPr>
            <a:r>
              <a:rPr lang="fr-FR" sz="2000" b="1" dirty="0" smtClean="0">
                <a:solidFill>
                  <a:srgbClr val="FFFF00"/>
                </a:solidFill>
              </a:rPr>
              <a:t>Professeur: Abdelhamid </a:t>
            </a:r>
            <a:r>
              <a:rPr lang="fr-FR" sz="2000" b="1" dirty="0" err="1" smtClean="0">
                <a:solidFill>
                  <a:srgbClr val="FFFF00"/>
                </a:solidFill>
              </a:rPr>
              <a:t>Benkhattab</a:t>
            </a:r>
            <a:endParaRPr lang="fr-FR" b="1" dirty="0">
              <a:solidFill>
                <a:srgbClr val="FFFF00"/>
              </a:solidFill>
            </a:endParaRPr>
          </a:p>
          <a:p>
            <a:pPr marL="0" indent="0" algn="ctr">
              <a:lnSpc>
                <a:spcPct val="200000"/>
              </a:lnSpc>
              <a:buNone/>
            </a:pPr>
            <a:r>
              <a:rPr lang="fr-FR" b="1" dirty="0">
                <a:solidFill>
                  <a:srgbClr val="FFC000"/>
                </a:solidFill>
              </a:rPr>
              <a:t/>
            </a:r>
            <a:br>
              <a:rPr lang="fr-FR" b="1" dirty="0">
                <a:solidFill>
                  <a:srgbClr val="FFC000"/>
                </a:solidFill>
              </a:rPr>
            </a:br>
            <a:endParaRPr lang="fr-FR" b="1" dirty="0">
              <a:solidFill>
                <a:srgbClr val="FFC000"/>
              </a:solidFill>
            </a:endParaRP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a:t>
            </a:fld>
            <a:endParaRPr lang="fr-FR"/>
          </a:p>
        </p:txBody>
      </p:sp>
    </p:spTree>
    <p:extLst>
      <p:ext uri="{BB962C8B-B14F-4D97-AF65-F5344CB8AC3E}">
        <p14:creationId xmlns:p14="http://schemas.microsoft.com/office/powerpoint/2010/main" val="29844622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988840"/>
            <a:ext cx="9036496" cy="4752528"/>
          </a:xfrm>
        </p:spPr>
        <p:txBody>
          <a:bodyPr/>
          <a:lstStyle/>
          <a:p>
            <a:pPr marL="0" indent="0" algn="just">
              <a:lnSpc>
                <a:spcPct val="150000"/>
              </a:lnSpc>
              <a:buNone/>
            </a:pPr>
            <a:r>
              <a:rPr lang="fr-FR" dirty="0" smtClean="0"/>
              <a:t>Le </a:t>
            </a:r>
            <a:r>
              <a:rPr lang="fr-FR" dirty="0"/>
              <a:t>Droit constitutionnel constitue, une des branches les plus importantes du Droit public interne. On est donc devant une science juridique qui s’intéresse aux normes constitutionnelles quelles que soient leurs manifestations et leurs étendues. </a:t>
            </a:r>
            <a:endParaRPr lang="fr-FR" dirty="0" smtClean="0"/>
          </a:p>
          <a:p>
            <a:pPr marL="0" indent="0" algn="just">
              <a:lnSpc>
                <a:spcPct val="150000"/>
              </a:lnSpc>
              <a:buNone/>
            </a:pPr>
            <a:r>
              <a:rPr lang="fr-FR" dirty="0"/>
              <a:t>Cette science regroupe ainsi deux notions importantes qui se complètent :</a:t>
            </a:r>
          </a:p>
          <a:p>
            <a:pPr marL="0" indent="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a:t>
            </a:fld>
            <a:endParaRPr lang="fr-FR"/>
          </a:p>
        </p:txBody>
      </p:sp>
      <p:sp>
        <p:nvSpPr>
          <p:cNvPr id="6" name="Titre 1"/>
          <p:cNvSpPr>
            <a:spLocks noGrp="1"/>
          </p:cNvSpPr>
          <p:nvPr>
            <p:ph type="title"/>
          </p:nvPr>
        </p:nvSpPr>
        <p:spPr>
          <a:xfrm>
            <a:off x="395536" y="332656"/>
            <a:ext cx="8291264" cy="1296144"/>
          </a:xfrm>
        </p:spPr>
        <p:txBody>
          <a:bodyPr>
            <a:normAutofit fontScale="90000"/>
          </a:bodyPr>
          <a:lstStyle/>
          <a:p>
            <a:pPr lvl="0" algn="ctr"/>
            <a:r>
              <a:rPr lang="fr-FR" sz="2800" b="1" dirty="0" smtClean="0">
                <a:latin typeface="+mn-lt"/>
              </a:rPr>
              <a:t/>
            </a:r>
            <a:br>
              <a:rPr lang="fr-FR" sz="2800" b="1" dirty="0" smtClean="0">
                <a:latin typeface="+mn-lt"/>
              </a:rPr>
            </a:br>
            <a:r>
              <a:rPr lang="fr-FR" sz="2800" b="1" dirty="0">
                <a:latin typeface="+mn-lt"/>
              </a:rPr>
              <a:t/>
            </a:r>
            <a:br>
              <a:rPr lang="fr-FR" sz="2800" b="1" dirty="0">
                <a:latin typeface="+mn-lt"/>
              </a:rPr>
            </a:br>
            <a:r>
              <a:rPr lang="fr-FR" sz="2800" b="1" i="1" dirty="0" smtClean="0">
                <a:solidFill>
                  <a:srgbClr val="FFFF00"/>
                </a:solidFill>
                <a:latin typeface="+mn-lt"/>
              </a:rPr>
              <a:t>Définition </a:t>
            </a:r>
            <a:r>
              <a:rPr lang="fr-FR" sz="2800" b="1" i="1" dirty="0">
                <a:solidFill>
                  <a:srgbClr val="FFFF00"/>
                </a:solidFill>
                <a:latin typeface="+mn-lt"/>
              </a:rPr>
              <a:t>du Droit constitutionnel</a:t>
            </a:r>
            <a:r>
              <a:rPr lang="fr-FR" b="1" i="1" dirty="0">
                <a:solidFill>
                  <a:srgbClr val="FFFF00"/>
                </a:solidFill>
              </a:rPr>
              <a:t/>
            </a:r>
            <a:br>
              <a:rPr lang="fr-FR" b="1" i="1" dirty="0">
                <a:solidFill>
                  <a:srgbClr val="FFFF00"/>
                </a:solidFill>
              </a:rPr>
            </a:br>
            <a:endParaRPr lang="fr-FR" b="1" i="1" dirty="0">
              <a:solidFill>
                <a:srgbClr val="FFFF00"/>
              </a:solidFill>
            </a:endParaRPr>
          </a:p>
        </p:txBody>
      </p:sp>
    </p:spTree>
    <p:extLst>
      <p:ext uri="{BB962C8B-B14F-4D97-AF65-F5344CB8AC3E}">
        <p14:creationId xmlns:p14="http://schemas.microsoft.com/office/powerpoint/2010/main" val="1467957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numCol="1">
            <a:normAutofit/>
          </a:bodyPr>
          <a:lstStyle/>
          <a:p>
            <a:pPr marL="514350" lvl="0" indent="-514350" algn="just">
              <a:buFont typeface="+mj-lt"/>
              <a:buAutoNum type="arabicPeriod"/>
            </a:pPr>
            <a:r>
              <a:rPr lang="fr-FR" sz="2200" b="1" dirty="0">
                <a:solidFill>
                  <a:srgbClr val="FFFF00"/>
                </a:solidFill>
              </a:rPr>
              <a:t>La notion de Droit</a:t>
            </a:r>
            <a:r>
              <a:rPr lang="fr-FR" dirty="0"/>
              <a:t> </a:t>
            </a:r>
            <a:endParaRPr lang="fr-FR" dirty="0" smtClean="0"/>
          </a:p>
          <a:p>
            <a:pPr marL="0" lvl="0" indent="0" algn="just">
              <a:lnSpc>
                <a:spcPct val="200000"/>
              </a:lnSpc>
              <a:buNone/>
            </a:pPr>
            <a:r>
              <a:rPr lang="fr-FR" dirty="0" smtClean="0"/>
              <a:t>signifie </a:t>
            </a:r>
            <a:r>
              <a:rPr lang="fr-FR" dirty="0"/>
              <a:t>l’ensemble des règles juridiques, abstraites, générales et contraignantes qui régissent les rapports </a:t>
            </a:r>
            <a:r>
              <a:rPr lang="fr-FR" dirty="0" smtClean="0"/>
              <a:t>collectifs </a:t>
            </a:r>
            <a:r>
              <a:rPr lang="fr-FR" dirty="0"/>
              <a:t>et </a:t>
            </a:r>
            <a:r>
              <a:rPr lang="fr-FR" dirty="0" smtClean="0"/>
              <a:t>individuels</a:t>
            </a:r>
            <a:r>
              <a:rPr lang="fr-FR" dirty="0"/>
              <a:t> </a:t>
            </a:r>
            <a:r>
              <a:rPr lang="fr-FR" dirty="0" smtClean="0"/>
              <a:t>dans une société quelconque;</a:t>
            </a:r>
            <a:endParaRPr lang="fr-FR" dirty="0"/>
          </a:p>
          <a:p>
            <a:pPr marL="514350" lvl="0" indent="-514350" algn="just">
              <a:lnSpc>
                <a:spcPct val="200000"/>
              </a:lnSpc>
              <a:buFont typeface="+mj-lt"/>
              <a:buAutoNum type="arabicPeriod" startAt="2"/>
            </a:pPr>
            <a:r>
              <a:rPr lang="fr-FR" sz="2200" b="1" dirty="0">
                <a:solidFill>
                  <a:srgbClr val="FFFF00"/>
                </a:solidFill>
              </a:rPr>
              <a:t>La notion de Constitutionnel</a:t>
            </a:r>
            <a:r>
              <a:rPr lang="fr-FR" sz="2000" b="1" dirty="0"/>
              <a:t> </a:t>
            </a:r>
            <a:endParaRPr lang="fr-FR" sz="2000" dirty="0" smtClean="0"/>
          </a:p>
          <a:p>
            <a:pPr marL="0" lvl="0" indent="0" algn="just">
              <a:lnSpc>
                <a:spcPct val="200000"/>
              </a:lnSpc>
              <a:buNone/>
            </a:pPr>
            <a:r>
              <a:rPr lang="fr-FR" dirty="0" smtClean="0"/>
              <a:t>renvoie </a:t>
            </a:r>
            <a:r>
              <a:rPr lang="fr-FR" dirty="0"/>
              <a:t>à tout ce qui touche l’organisation et l’exercice du pouvoir politique de l’État, c'est-à-dire : </a:t>
            </a:r>
            <a:endParaRPr lang="fr-FR" dirty="0" smtClean="0"/>
          </a:p>
          <a:p>
            <a:pPr marL="514350" lvl="0" indent="-514350" algn="just">
              <a:buFont typeface="+mj-lt"/>
              <a:buAutoNum type="arabicPeriod" startAt="2"/>
            </a:pPr>
            <a:endParaRPr lang="fr-FR" dirty="0"/>
          </a:p>
          <a:p>
            <a:pPr marL="514350" lvl="0" indent="-514350" algn="just">
              <a:buFont typeface="+mj-lt"/>
              <a:buAutoNum type="arabicPeriod" startAt="2"/>
            </a:pPr>
            <a:endParaRPr lang="fr-FR" dirty="0" smtClean="0"/>
          </a:p>
          <a:p>
            <a:pPr marL="0" lvl="0" indent="0"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a:t>
            </a:fld>
            <a:endParaRPr lang="fr-FR"/>
          </a:p>
        </p:txBody>
      </p:sp>
    </p:spTree>
    <p:extLst>
      <p:ext uri="{BB962C8B-B14F-4D97-AF65-F5344CB8AC3E}">
        <p14:creationId xmlns:p14="http://schemas.microsoft.com/office/powerpoint/2010/main" val="31776476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620688"/>
            <a:ext cx="9144000" cy="6237312"/>
          </a:xfrm>
        </p:spPr>
        <p:txBody>
          <a:bodyPr>
            <a:normAutofit lnSpcReduction="10000"/>
          </a:bodyPr>
          <a:lstStyle/>
          <a:p>
            <a:pPr marL="514350" indent="-514350" algn="just">
              <a:lnSpc>
                <a:spcPct val="150000"/>
              </a:lnSpc>
              <a:buFont typeface="+mj-lt"/>
              <a:buAutoNum type="alphaLcPeriod"/>
            </a:pPr>
            <a:r>
              <a:rPr lang="fr-FR" dirty="0"/>
              <a:t>Les organes supérieurs de l’État sont: le chef de l’Etat (Roi/président),le gouvernement, le parlement,</a:t>
            </a:r>
          </a:p>
          <a:p>
            <a:pPr marL="514350" indent="-514350" algn="just">
              <a:lnSpc>
                <a:spcPct val="150000"/>
              </a:lnSpc>
              <a:buFont typeface="+mj-lt"/>
              <a:buAutoNum type="alphaLcPeriod"/>
            </a:pPr>
            <a:r>
              <a:rPr lang="fr-FR" dirty="0"/>
              <a:t>Les organes inférieurs de l’Etat: l’administration centrale et territoriale…etc.), </a:t>
            </a:r>
          </a:p>
          <a:p>
            <a:pPr marL="514350" indent="-514350" algn="just">
              <a:lnSpc>
                <a:spcPct val="150000"/>
              </a:lnSpc>
              <a:buFont typeface="+mj-lt"/>
              <a:buAutoNum type="alphaLcPeriod"/>
            </a:pPr>
            <a:r>
              <a:rPr lang="fr-FR" dirty="0"/>
              <a:t>L’action institutionnelle des acteurs politiques (élections, contentieux politiques, coopération, programmes politiques… etc.) </a:t>
            </a:r>
          </a:p>
          <a:p>
            <a:pPr marL="514350" indent="-514350" algn="just">
              <a:lnSpc>
                <a:spcPct val="150000"/>
              </a:lnSpc>
              <a:buFont typeface="+mj-lt"/>
              <a:buAutoNum type="alphaLcPeriod"/>
            </a:pPr>
            <a:r>
              <a:rPr lang="fr-FR" dirty="0"/>
              <a:t>Les libertés fondamentales des citoyens (Droits de l’homme, parité homme/femme, participation citoyenne…etc.)</a:t>
            </a:r>
          </a:p>
          <a:p>
            <a:pPr marL="514350" indent="-514350" algn="just">
              <a:lnSpc>
                <a:spcPct val="150000"/>
              </a:lnSpc>
              <a:buFont typeface="+mj-lt"/>
              <a:buAutoNum type="alphaLcPeriod"/>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a:t>
            </a:fld>
            <a:endParaRPr lang="fr-FR"/>
          </a:p>
        </p:txBody>
      </p:sp>
    </p:spTree>
    <p:extLst>
      <p:ext uri="{BB962C8B-B14F-4D97-AF65-F5344CB8AC3E}">
        <p14:creationId xmlns:p14="http://schemas.microsoft.com/office/powerpoint/2010/main" val="8746974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0" indent="0" algn="just">
              <a:lnSpc>
                <a:spcPct val="150000"/>
              </a:lnSpc>
              <a:buNone/>
            </a:pPr>
            <a:endParaRPr lang="fr-FR" dirty="0" smtClean="0"/>
          </a:p>
          <a:p>
            <a:pPr marL="0" indent="0" algn="just">
              <a:lnSpc>
                <a:spcPct val="150000"/>
              </a:lnSpc>
              <a:buNone/>
            </a:pPr>
            <a:endParaRPr lang="fr-FR" dirty="0"/>
          </a:p>
          <a:p>
            <a:pPr marL="0" indent="0" algn="just">
              <a:lnSpc>
                <a:spcPct val="150000"/>
              </a:lnSpc>
              <a:buNone/>
            </a:pPr>
            <a:r>
              <a:rPr lang="fr-FR" dirty="0" smtClean="0"/>
              <a:t>George </a:t>
            </a:r>
            <a:r>
              <a:rPr lang="fr-FR" dirty="0"/>
              <a:t>Vedel </a:t>
            </a:r>
            <a:r>
              <a:rPr lang="fr-FR" dirty="0" smtClean="0"/>
              <a:t>estime qu’on </a:t>
            </a:r>
            <a:r>
              <a:rPr lang="fr-FR" dirty="0"/>
              <a:t>peut qualifier de constitutionnelle </a:t>
            </a:r>
            <a:r>
              <a:rPr lang="fr-FR" dirty="0" smtClean="0"/>
              <a:t>«</a:t>
            </a:r>
            <a:r>
              <a:rPr lang="fr-FR" i="1" dirty="0" smtClean="0"/>
              <a:t> toute </a:t>
            </a:r>
            <a:r>
              <a:rPr lang="fr-FR" i="1" dirty="0"/>
              <a:t>disposition juridique, abstraction faite de son objet et de sa forme, qui émane d’un pouvoir </a:t>
            </a:r>
            <a:r>
              <a:rPr lang="fr-FR" i="1" dirty="0" smtClean="0"/>
              <a:t>constituant »</a:t>
            </a:r>
            <a:r>
              <a:rPr lang="fr-FR" dirty="0" smtClean="0"/>
              <a:t>. </a:t>
            </a:r>
          </a:p>
          <a:p>
            <a:pPr marL="0" indent="0" algn="just">
              <a:lnSpc>
                <a:spcPct val="150000"/>
              </a:lnSpc>
              <a:buNone/>
            </a:pPr>
            <a:r>
              <a:rPr lang="fr-FR" dirty="0" smtClean="0"/>
              <a:t>L’émanation </a:t>
            </a:r>
            <a:r>
              <a:rPr lang="fr-FR" dirty="0"/>
              <a:t>du pouvoir </a:t>
            </a:r>
            <a:r>
              <a:rPr lang="fr-FR" dirty="0" smtClean="0"/>
              <a:t>instituant/ constituant </a:t>
            </a:r>
            <a:r>
              <a:rPr lang="fr-FR" dirty="0"/>
              <a:t>(Roi, parlement, assemblée constituante élue ou nommée…) devient le critère de qualification de ce qu’est constitutionnel. </a:t>
            </a:r>
          </a:p>
          <a:p>
            <a:pPr marL="0" indent="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a:t>
            </a:fld>
            <a:endParaRPr lang="fr-FR"/>
          </a:p>
        </p:txBody>
      </p:sp>
    </p:spTree>
    <p:extLst>
      <p:ext uri="{BB962C8B-B14F-4D97-AF65-F5344CB8AC3E}">
        <p14:creationId xmlns:p14="http://schemas.microsoft.com/office/powerpoint/2010/main" val="1232766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3078" y="0"/>
            <a:ext cx="9130921" cy="6858000"/>
          </a:xfrm>
        </p:spPr>
        <p:txBody>
          <a:bodyPr>
            <a:normAutofit fontScale="92500"/>
          </a:bodyPr>
          <a:lstStyle/>
          <a:p>
            <a:pPr lvl="0" algn="just">
              <a:lnSpc>
                <a:spcPct val="150000"/>
              </a:lnSpc>
            </a:pPr>
            <a:endParaRPr lang="fr-FR" b="1" dirty="0" smtClean="0"/>
          </a:p>
          <a:p>
            <a:pPr marL="514350" lvl="0" indent="-514350" algn="just">
              <a:lnSpc>
                <a:spcPct val="150000"/>
              </a:lnSpc>
              <a:buFont typeface="+mj-lt"/>
              <a:buAutoNum type="arabicPeriod" startAt="3"/>
            </a:pPr>
            <a:r>
              <a:rPr lang="fr-FR" b="1" i="1" dirty="0" smtClean="0">
                <a:solidFill>
                  <a:srgbClr val="FFFF00"/>
                </a:solidFill>
              </a:rPr>
              <a:t>La </a:t>
            </a:r>
            <a:r>
              <a:rPr lang="fr-FR" b="1" i="1" dirty="0">
                <a:solidFill>
                  <a:srgbClr val="FFFF00"/>
                </a:solidFill>
              </a:rPr>
              <a:t>notion de Droit constitutionnel </a:t>
            </a:r>
            <a:endParaRPr lang="fr-FR" b="1" i="1" dirty="0" smtClean="0">
              <a:solidFill>
                <a:srgbClr val="FFFF00"/>
              </a:solidFill>
            </a:endParaRPr>
          </a:p>
          <a:p>
            <a:pPr marL="0" lvl="0" indent="0" algn="just">
              <a:lnSpc>
                <a:spcPct val="150000"/>
              </a:lnSpc>
              <a:buNone/>
            </a:pPr>
            <a:r>
              <a:rPr lang="fr-FR" sz="3200" dirty="0"/>
              <a:t>R</a:t>
            </a:r>
            <a:r>
              <a:rPr lang="fr-FR" sz="3200" dirty="0" smtClean="0"/>
              <a:t>envoie à </a:t>
            </a:r>
            <a:r>
              <a:rPr lang="fr-FR" sz="3200" dirty="0"/>
              <a:t>cette science juridico-politique, qui étudie l’ensemble des règles et normes juridiques qui </a:t>
            </a:r>
            <a:r>
              <a:rPr lang="fr-FR" sz="3200" dirty="0" smtClean="0"/>
              <a:t>régissent:</a:t>
            </a:r>
          </a:p>
          <a:p>
            <a:pPr lvl="0" algn="just">
              <a:lnSpc>
                <a:spcPct val="150000"/>
              </a:lnSpc>
              <a:buFont typeface="Constantia" pitchFamily="18" charset="0"/>
              <a:buChar char="‐"/>
            </a:pPr>
            <a:r>
              <a:rPr lang="fr-FR" sz="3200" dirty="0" smtClean="0"/>
              <a:t> </a:t>
            </a:r>
            <a:r>
              <a:rPr lang="fr-FR" sz="3200" dirty="0"/>
              <a:t>la </a:t>
            </a:r>
            <a:r>
              <a:rPr lang="fr-FR" sz="3200" dirty="0" smtClean="0"/>
              <a:t>forme de l’Etat,</a:t>
            </a:r>
          </a:p>
          <a:p>
            <a:pPr lvl="0" algn="just">
              <a:lnSpc>
                <a:spcPct val="150000"/>
              </a:lnSpc>
              <a:buFont typeface="Constantia" pitchFamily="18" charset="0"/>
              <a:buChar char="‐"/>
            </a:pPr>
            <a:r>
              <a:rPr lang="fr-FR" sz="3200" dirty="0" smtClean="0"/>
              <a:t> </a:t>
            </a:r>
            <a:r>
              <a:rPr lang="fr-FR" sz="3200" dirty="0"/>
              <a:t>les </a:t>
            </a:r>
            <a:r>
              <a:rPr lang="fr-FR" sz="3200" dirty="0" smtClean="0"/>
              <a:t>compétences </a:t>
            </a:r>
            <a:r>
              <a:rPr lang="fr-FR" sz="3200" dirty="0"/>
              <a:t>et l’action des institutions de l’État</a:t>
            </a:r>
            <a:r>
              <a:rPr lang="fr-FR" sz="3200" dirty="0" smtClean="0"/>
              <a:t>,</a:t>
            </a:r>
          </a:p>
          <a:p>
            <a:pPr lvl="0" algn="just">
              <a:lnSpc>
                <a:spcPct val="150000"/>
              </a:lnSpc>
              <a:buFont typeface="Constantia" pitchFamily="18" charset="0"/>
              <a:buChar char="‐"/>
            </a:pPr>
            <a:r>
              <a:rPr lang="fr-FR" sz="3200" dirty="0" smtClean="0"/>
              <a:t> Et les </a:t>
            </a:r>
            <a:r>
              <a:rPr lang="fr-FR" sz="3200" dirty="0"/>
              <a:t>libertés fondamentales des citoyens qui leur sont opposables.  </a:t>
            </a:r>
          </a:p>
          <a:p>
            <a:pPr>
              <a:lnSpc>
                <a:spcPct val="150000"/>
              </a:lnSpc>
            </a:pPr>
            <a:endParaRPr lang="fr-FR" sz="3200" dirty="0" smtClean="0"/>
          </a:p>
          <a:p>
            <a:pPr marL="0" indent="0"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a:t>
            </a:fld>
            <a:endParaRPr lang="fr-FR"/>
          </a:p>
        </p:txBody>
      </p:sp>
    </p:spTree>
    <p:extLst>
      <p:ext uri="{BB962C8B-B14F-4D97-AF65-F5344CB8AC3E}">
        <p14:creationId xmlns:p14="http://schemas.microsoft.com/office/powerpoint/2010/main" val="5204547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357298"/>
          </a:xfrm>
        </p:spPr>
        <p:txBody>
          <a:bodyPr>
            <a:noAutofit/>
          </a:bodyPr>
          <a:lstStyle/>
          <a:p>
            <a:pPr marL="914400" indent="-914400" algn="ctr">
              <a:buFont typeface="+mj-lt"/>
              <a:buAutoNum type="arabicPeriod" startAt="4"/>
            </a:pPr>
            <a:r>
              <a:rPr lang="fr-FR" sz="4000" b="1" i="1" dirty="0">
                <a:solidFill>
                  <a:srgbClr val="FFFF00"/>
                </a:solidFill>
                <a:latin typeface="+mn-lt"/>
              </a:rPr>
              <a:t>Objets </a:t>
            </a:r>
            <a:r>
              <a:rPr lang="fr-FR" sz="4000" b="1" i="1" dirty="0" smtClean="0">
                <a:solidFill>
                  <a:srgbClr val="FFFF00"/>
                </a:solidFill>
                <a:latin typeface="+mn-lt"/>
              </a:rPr>
              <a:t>du </a:t>
            </a:r>
            <a:r>
              <a:rPr lang="fr-FR" sz="4000" b="1" i="1" dirty="0">
                <a:solidFill>
                  <a:srgbClr val="FFFF00"/>
                </a:solidFill>
                <a:latin typeface="+mn-lt"/>
              </a:rPr>
              <a:t>Droit constitutionnel</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507490992"/>
              </p:ext>
            </p:extLst>
          </p:nvPr>
        </p:nvGraphicFramePr>
        <p:xfrm>
          <a:off x="0" y="1785926"/>
          <a:ext cx="9144000" cy="5143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gridCol w="3048000">
                  <a:extLst>
                    <a:ext uri="{9D8B030D-6E8A-4147-A177-3AD203B41FA5}">
                      <a16:colId xmlns:a16="http://schemas.microsoft.com/office/drawing/2014/main" xmlns="" val="20002"/>
                    </a:ext>
                  </a:extLst>
                </a:gridCol>
              </a:tblGrid>
              <a:tr h="5143520">
                <a:tc>
                  <a:txBody>
                    <a:bodyPr/>
                    <a:lstStyle/>
                    <a:p>
                      <a:pPr marL="457200" indent="-457200" algn="ctr">
                        <a:buFont typeface="+mj-lt"/>
                        <a:buAutoNum type="arabicPeriod"/>
                      </a:pPr>
                      <a:r>
                        <a:rPr lang="fr-FR" sz="2400" b="1" baseline="0" dirty="0"/>
                        <a:t> </a:t>
                      </a:r>
                      <a:r>
                        <a:rPr lang="fr-FR" sz="2000" b="1" i="1" u="sng" baseline="0" dirty="0">
                          <a:solidFill>
                            <a:srgbClr val="FFFF00"/>
                          </a:solidFill>
                        </a:rPr>
                        <a:t>Etude des règles constitutionnelles qui déterminent</a:t>
                      </a:r>
                      <a:endParaRPr lang="fr-FR" sz="2400" b="1" i="1" u="sng" baseline="0" dirty="0">
                        <a:solidFill>
                          <a:srgbClr val="FFFF00"/>
                        </a:solidFill>
                      </a:endParaRPr>
                    </a:p>
                    <a:p>
                      <a:pPr marL="457200" indent="-457200" algn="ctr">
                        <a:buFont typeface="+mj-lt"/>
                        <a:buNone/>
                      </a:pPr>
                      <a:r>
                        <a:rPr lang="fr-FR" sz="2400" b="1" baseline="0" dirty="0"/>
                        <a:t> </a:t>
                      </a:r>
                    </a:p>
                    <a:p>
                      <a:pPr marL="457200" indent="-457200" algn="just">
                        <a:buFont typeface="Wingdings" pitchFamily="2" charset="2"/>
                        <a:buChar char="v"/>
                      </a:pPr>
                      <a:r>
                        <a:rPr lang="fr-FR" sz="2000" baseline="0" dirty="0"/>
                        <a:t>La forme de l’Etat     (unitaire/ composé) </a:t>
                      </a:r>
                    </a:p>
                    <a:p>
                      <a:pPr marL="457200" indent="-457200" algn="just">
                        <a:buFont typeface="Wingdings" pitchFamily="2" charset="2"/>
                        <a:buChar char="v"/>
                      </a:pPr>
                      <a:r>
                        <a:rPr lang="fr-FR" sz="2000" baseline="0" dirty="0" smtClean="0"/>
                        <a:t>Le </a:t>
                      </a:r>
                      <a:r>
                        <a:rPr lang="fr-FR" sz="2000" baseline="0" dirty="0"/>
                        <a:t>type de régime politique                       (présidentiel/ parlementaire ou semi-présidentiel)</a:t>
                      </a:r>
                    </a:p>
                    <a:p>
                      <a:pPr marL="457200" indent="-457200" algn="l">
                        <a:buFont typeface="Wingdings" pitchFamily="2" charset="2"/>
                        <a:buChar char="v"/>
                      </a:pPr>
                      <a:r>
                        <a:rPr lang="fr-MA" sz="2000" baseline="0" dirty="0"/>
                        <a:t>Les textes constitutionnels en tant que normes </a:t>
                      </a:r>
                      <a:r>
                        <a:rPr lang="fr-MA" sz="2000" baseline="0" dirty="0" smtClean="0"/>
                        <a:t>suprêmes</a:t>
                      </a:r>
                      <a:endParaRPr lang="fr-FR" sz="2000" dirty="0"/>
                    </a:p>
                  </a:txBody>
                  <a:tcPr/>
                </a:tc>
                <a:tc>
                  <a:txBody>
                    <a:bodyPr/>
                    <a:lstStyle/>
                    <a:p>
                      <a:pPr marL="342900" indent="-342900" algn="ctr">
                        <a:buFont typeface="+mj-lt"/>
                        <a:buAutoNum type="arabicPeriod" startAt="2"/>
                      </a:pPr>
                      <a:r>
                        <a:rPr kumimoji="0" lang="fr-FR" sz="2000" b="1" i="1" u="sng" kern="1200" baseline="0" dirty="0">
                          <a:solidFill>
                            <a:srgbClr val="FFFF00"/>
                          </a:solidFill>
                          <a:latin typeface="+mn-lt"/>
                          <a:ea typeface="+mn-ea"/>
                          <a:cs typeface="+mn-cs"/>
                        </a:rPr>
                        <a:t>Etude des prérogatives juridiques de l’Etat  et de ses institutions</a:t>
                      </a:r>
                    </a:p>
                    <a:p>
                      <a:pPr marL="457200" indent="-457200">
                        <a:buFont typeface="Wingdings" pitchFamily="2" charset="2"/>
                        <a:buChar char="v"/>
                      </a:pPr>
                      <a:endParaRPr lang="fr-FR" sz="2400" dirty="0"/>
                    </a:p>
                    <a:p>
                      <a:pPr marL="457200" indent="-457200">
                        <a:buFont typeface="Wingdings" pitchFamily="2" charset="2"/>
                        <a:buChar char="v"/>
                      </a:pPr>
                      <a:r>
                        <a:rPr kumimoji="0" lang="fr-FR" sz="2000" b="1" kern="1200" baseline="0" dirty="0">
                          <a:solidFill>
                            <a:schemeClr val="lt1"/>
                          </a:solidFill>
                          <a:latin typeface="+mn-lt"/>
                          <a:ea typeface="+mn-ea"/>
                          <a:cs typeface="+mn-cs"/>
                        </a:rPr>
                        <a:t>Procédures de législation </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Types de séparation des pouvoirs</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Relations de l’Etat avec son territoire</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Justice constitutionnelle </a:t>
                      </a:r>
                    </a:p>
                  </a:txBody>
                  <a:tcPr/>
                </a:tc>
                <a:tc>
                  <a:txBody>
                    <a:bodyPr/>
                    <a:lstStyle/>
                    <a:p>
                      <a:pPr marL="342900" indent="-342900" algn="ctr" rtl="0" eaLnBrk="1" latinLnBrk="0" hangingPunct="1">
                        <a:buFont typeface="+mj-lt"/>
                        <a:buAutoNum type="arabicPeriod" startAt="2"/>
                      </a:pPr>
                      <a:r>
                        <a:rPr kumimoji="0" lang="fr-FR" sz="2000" b="1" i="1" u="sng" kern="1200" baseline="0" dirty="0">
                          <a:solidFill>
                            <a:srgbClr val="FFFF00"/>
                          </a:solidFill>
                          <a:latin typeface="+mn-lt"/>
                          <a:ea typeface="+mn-ea"/>
                          <a:cs typeface="+mn-cs"/>
                        </a:rPr>
                        <a:t>Etude des seuils juridiques des droits et libertés des citoyens</a:t>
                      </a:r>
                    </a:p>
                    <a:p>
                      <a:pPr marL="342900" indent="-342900">
                        <a:buFont typeface="Wingdings" pitchFamily="2" charset="2"/>
                        <a:buChar char="v"/>
                      </a:pPr>
                      <a:endParaRPr lang="fr-FR" sz="2400" b="1" kern="1200" baseline="0" dirty="0">
                        <a:solidFill>
                          <a:schemeClr val="lt1"/>
                        </a:solidFill>
                        <a:latin typeface="+mn-lt"/>
                        <a:ea typeface="+mn-ea"/>
                        <a:cs typeface="+mn-cs"/>
                      </a:endParaRP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Libertés individuelles et collectives </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Égalité des chances</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Droit de l’homme</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Parité homme/ femmes</a:t>
                      </a:r>
                    </a:p>
                    <a:p>
                      <a:pPr marL="457200" indent="-457200" algn="l" rtl="0" eaLnBrk="1" latinLnBrk="0" hangingPunct="1">
                        <a:buFont typeface="Wingdings" pitchFamily="2" charset="2"/>
                        <a:buChar char="v"/>
                      </a:pPr>
                      <a:r>
                        <a:rPr kumimoji="0" lang="fr-FR" sz="2000" b="1" kern="1200" baseline="0" dirty="0">
                          <a:solidFill>
                            <a:schemeClr val="lt1"/>
                          </a:solidFill>
                          <a:latin typeface="+mn-lt"/>
                          <a:ea typeface="+mn-ea"/>
                          <a:cs typeface="+mn-cs"/>
                        </a:rPr>
                        <a:t>Supériorité du droit international</a:t>
                      </a:r>
                    </a:p>
                  </a:txBody>
                  <a:tcPr/>
                </a:tc>
                <a:extLst>
                  <a:ext uri="{0D108BD9-81ED-4DB2-BD59-A6C34878D82A}">
                    <a16:rowId xmlns:a16="http://schemas.microsoft.com/office/drawing/2014/main" xmlns="" val="10000"/>
                  </a:ext>
                </a:extLst>
              </a:tr>
            </a:tbl>
          </a:graphicData>
        </a:graphic>
      </p:graphicFrame>
      <p:sp>
        <p:nvSpPr>
          <p:cNvPr id="5" name="Espace réservé du numéro de diapositive 4"/>
          <p:cNvSpPr>
            <a:spLocks noGrp="1"/>
          </p:cNvSpPr>
          <p:nvPr>
            <p:ph type="sldNum" sz="quarter" idx="12"/>
          </p:nvPr>
        </p:nvSpPr>
        <p:spPr/>
        <p:txBody>
          <a:bodyPr/>
          <a:lstStyle/>
          <a:p>
            <a:fld id="{0B4B166F-A3A3-4DE9-809D-A8E7BD5C3246}" type="slidenum">
              <a:rPr lang="fr-FR" smtClean="0"/>
              <a:pPr/>
              <a:t>7</a:t>
            </a:fld>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428736"/>
          </a:xfrm>
        </p:spPr>
        <p:txBody>
          <a:bodyPr>
            <a:normAutofit fontScale="90000"/>
          </a:bodyPr>
          <a:lstStyle/>
          <a:p>
            <a:pPr algn="ctr"/>
            <a:r>
              <a:rPr lang="fr-FR" dirty="0">
                <a:solidFill>
                  <a:srgbClr val="FFFF00"/>
                </a:solidFill>
              </a:rPr>
              <a:t>5.</a:t>
            </a:r>
            <a:r>
              <a:rPr lang="fr-FR" dirty="0"/>
              <a:t> </a:t>
            </a:r>
            <a:r>
              <a:rPr lang="fr-FR" sz="4400" b="1" i="1" dirty="0">
                <a:solidFill>
                  <a:srgbClr val="FFFF00"/>
                </a:solidFill>
                <a:latin typeface="+mn-lt"/>
              </a:rPr>
              <a:t>Les sources du droit constitutionnel</a:t>
            </a:r>
            <a:endParaRPr lang="fr-FR" b="1" i="1" dirty="0">
              <a:solidFill>
                <a:srgbClr val="FFFF00"/>
              </a:solidFill>
              <a:latin typeface="+mn-lt"/>
            </a:endParaRPr>
          </a:p>
        </p:txBody>
      </p:sp>
      <p:sp>
        <p:nvSpPr>
          <p:cNvPr id="3" name="Espace réservé du contenu 2"/>
          <p:cNvSpPr>
            <a:spLocks noGrp="1"/>
          </p:cNvSpPr>
          <p:nvPr>
            <p:ph idx="1"/>
          </p:nvPr>
        </p:nvSpPr>
        <p:spPr>
          <a:xfrm>
            <a:off x="0" y="1214422"/>
            <a:ext cx="9144000" cy="5643578"/>
          </a:xfrm>
        </p:spPr>
        <p:txBody>
          <a:bodyPr>
            <a:normAutofit fontScale="40000" lnSpcReduction="20000"/>
          </a:bodyPr>
          <a:lstStyle/>
          <a:p>
            <a:pPr marL="514350" indent="-514350" algn="just">
              <a:lnSpc>
                <a:spcPct val="170000"/>
              </a:lnSpc>
              <a:buFont typeface="+mj-lt"/>
              <a:buAutoNum type="arabicPeriod"/>
            </a:pPr>
            <a:endParaRPr lang="fr-FR" sz="5100" b="1" dirty="0"/>
          </a:p>
          <a:p>
            <a:pPr marL="914400" indent="-914400" algn="just">
              <a:lnSpc>
                <a:spcPct val="170000"/>
              </a:lnSpc>
              <a:buFont typeface="+mj-lt"/>
              <a:buAutoNum type="alphaLcPeriod"/>
            </a:pPr>
            <a:r>
              <a:rPr lang="fr-FR" sz="5100" b="1" dirty="0">
                <a:solidFill>
                  <a:srgbClr val="FFFF00"/>
                </a:solidFill>
              </a:rPr>
              <a:t>La coutume</a:t>
            </a:r>
            <a:r>
              <a:rPr lang="fr-FR" sz="5100" b="1" dirty="0"/>
              <a:t>: </a:t>
            </a:r>
            <a:endParaRPr lang="fr-FR" sz="5100" b="1" dirty="0" smtClean="0"/>
          </a:p>
          <a:p>
            <a:pPr marL="0" indent="0" algn="just">
              <a:lnSpc>
                <a:spcPct val="170000"/>
              </a:lnSpc>
              <a:buNone/>
            </a:pPr>
            <a:r>
              <a:rPr lang="fr-FR" sz="5100" dirty="0" smtClean="0"/>
              <a:t>	Ets un ensemble </a:t>
            </a:r>
            <a:r>
              <a:rPr lang="fr-FR" sz="5100" dirty="0"/>
              <a:t>des pratiques sociales non codifiées que la société </a:t>
            </a:r>
            <a:r>
              <a:rPr lang="fr-FR" sz="5100" dirty="0" smtClean="0"/>
              <a:t>	considère comme </a:t>
            </a:r>
            <a:r>
              <a:rPr lang="fr-FR" sz="5100" dirty="0"/>
              <a:t>des règles de conduites morales que nul ne doit </a:t>
            </a:r>
            <a:r>
              <a:rPr lang="fr-FR" sz="5100" dirty="0" smtClean="0"/>
              <a:t>	transgresser</a:t>
            </a:r>
            <a:r>
              <a:rPr lang="fr-FR" sz="5100" dirty="0"/>
              <a:t>. </a:t>
            </a:r>
            <a:endParaRPr lang="fr-FR" sz="5100" dirty="0" smtClean="0"/>
          </a:p>
          <a:p>
            <a:pPr marL="0" indent="0" algn="just">
              <a:lnSpc>
                <a:spcPct val="170000"/>
              </a:lnSpc>
              <a:buNone/>
            </a:pPr>
            <a:r>
              <a:rPr lang="fr-FR" sz="5100" dirty="0"/>
              <a:t>	</a:t>
            </a:r>
            <a:r>
              <a:rPr lang="fr-FR" sz="5100" dirty="0" smtClean="0"/>
              <a:t>Elle trouve </a:t>
            </a:r>
            <a:r>
              <a:rPr lang="fr-FR" sz="5100" dirty="0"/>
              <a:t>son origine dans les croyances religieuses et culturelles de la </a:t>
            </a:r>
            <a:r>
              <a:rPr lang="fr-FR" sz="5100" dirty="0" smtClean="0"/>
              <a:t>	société</a:t>
            </a:r>
            <a:r>
              <a:rPr lang="fr-FR" sz="5100" dirty="0"/>
              <a:t>.</a:t>
            </a:r>
          </a:p>
          <a:p>
            <a:pPr marL="514350" indent="-514350" algn="just">
              <a:lnSpc>
                <a:spcPct val="170000"/>
              </a:lnSpc>
              <a:buNone/>
            </a:pPr>
            <a:r>
              <a:rPr lang="fr-FR" sz="5100" dirty="0" smtClean="0"/>
              <a:t>		le </a:t>
            </a:r>
            <a:r>
              <a:rPr lang="fr-FR" sz="5100" dirty="0"/>
              <a:t>Droit positif nie tout caractère juridique à la coutume et insiste </a:t>
            </a:r>
            <a:r>
              <a:rPr lang="fr-FR" sz="5100" dirty="0" smtClean="0"/>
              <a:t>	davantage sur les </a:t>
            </a:r>
            <a:r>
              <a:rPr lang="fr-FR" sz="5100" dirty="0"/>
              <a:t>règles écrites comme source de droit constitutionnel.</a:t>
            </a:r>
          </a:p>
          <a:p>
            <a:pPr marL="514350" indent="-514350" algn="just">
              <a:buFont typeface="+mj-lt"/>
              <a:buAutoNum type="arabicPeriod" startAt="2"/>
            </a:pPr>
            <a:endParaRPr lang="fr-FR" dirty="0"/>
          </a:p>
          <a:p>
            <a:pPr marL="514350" indent="-514350" algn="just">
              <a:buNone/>
            </a:pPr>
            <a:r>
              <a:rPr lang="fr-FR" dirty="0"/>
              <a:t> </a:t>
            </a:r>
          </a:p>
          <a:p>
            <a:pPr marL="514350" indent="-514350" algn="just">
              <a:buNone/>
            </a:pPr>
            <a:r>
              <a:rPr lang="fr-FR" dirty="0"/>
              <a:t> </a:t>
            </a:r>
          </a:p>
          <a:p>
            <a:pPr marL="514350" indent="-514350">
              <a:buNone/>
            </a:pPr>
            <a:r>
              <a:rPr lang="fr-FR"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marL="514350" indent="-514350">
              <a:buFont typeface="+mj-lt"/>
              <a:buAutoNum type="arabicPeriod" startAt="2"/>
            </a:pPr>
            <a:endParaRPr lang="fr-FR" b="1" dirty="0"/>
          </a:p>
          <a:p>
            <a:pPr marL="457200" indent="-457200">
              <a:buFont typeface="+mj-lt"/>
              <a:buAutoNum type="alphaLcPeriod" startAt="2"/>
            </a:pPr>
            <a:r>
              <a:rPr lang="fr-FR" sz="2400" b="1" i="1" dirty="0" smtClean="0">
                <a:solidFill>
                  <a:srgbClr val="FFFF00"/>
                </a:solidFill>
              </a:rPr>
              <a:t>les </a:t>
            </a:r>
            <a:r>
              <a:rPr lang="fr-FR" sz="2400" b="1" i="1" dirty="0">
                <a:solidFill>
                  <a:srgbClr val="FFFF00"/>
                </a:solidFill>
              </a:rPr>
              <a:t>conventions de la constitution</a:t>
            </a:r>
            <a:r>
              <a:rPr lang="fr-FR" dirty="0"/>
              <a:t> </a:t>
            </a:r>
          </a:p>
          <a:p>
            <a:pPr marL="514350" indent="-514350" algn="just">
              <a:lnSpc>
                <a:spcPct val="150000"/>
              </a:lnSpc>
              <a:buNone/>
            </a:pPr>
            <a:r>
              <a:rPr lang="fr-FR" dirty="0"/>
              <a:t>	Elles sont des règles non écrites d’origine </a:t>
            </a:r>
            <a:r>
              <a:rPr lang="fr-FR" dirty="0" smtClean="0"/>
              <a:t>politique (des arrangements), qui régissent la manière </a:t>
            </a:r>
            <a:r>
              <a:rPr lang="fr-FR" dirty="0"/>
              <a:t>dont les </a:t>
            </a:r>
            <a:r>
              <a:rPr lang="fr-FR" dirty="0" smtClean="0"/>
              <a:t>compétences  constitutionnelles, doivent </a:t>
            </a:r>
            <a:r>
              <a:rPr lang="fr-FR" dirty="0"/>
              <a:t>être </a:t>
            </a:r>
            <a:r>
              <a:rPr lang="fr-FR" dirty="0" smtClean="0"/>
              <a:t>exercées</a:t>
            </a:r>
            <a:r>
              <a:rPr lang="fr-FR" dirty="0"/>
              <a:t>, conformément aux principes et convictions politiques reconnus, à une période donnée de l’histoire.</a:t>
            </a:r>
          </a:p>
          <a:p>
            <a:pPr marL="514350" indent="-514350" algn="just">
              <a:lnSpc>
                <a:spcPct val="150000"/>
              </a:lnSpc>
              <a:buNone/>
            </a:pPr>
            <a:r>
              <a:rPr lang="fr-FR" dirty="0"/>
              <a:t>	Les conventions de la constitution diffèrent des coutumes constitutionnelles, dans la mesure où elles ne font pas partie du droit constitutionnel et ne sont pas reconnues par le juge constitutionnel.</a:t>
            </a:r>
          </a:p>
          <a:p>
            <a:pPr algn="just">
              <a:lnSpc>
                <a:spcPct val="150000"/>
              </a:lnSpc>
              <a:buNone/>
            </a:pPr>
            <a:r>
              <a:rPr lang="fr-FR" b="1" i="1" dirty="0"/>
              <a:t>	</a:t>
            </a:r>
            <a:r>
              <a:rPr lang="fr-FR" b="1" i="1" dirty="0" smtClean="0">
                <a:solidFill>
                  <a:srgbClr val="FFFF00"/>
                </a:solidFill>
              </a:rPr>
              <a:t>Exemple</a:t>
            </a:r>
            <a:r>
              <a:rPr lang="fr-FR" dirty="0"/>
              <a:t>:  Faire de la politique étrangère un domaine réservé du Roi( Maroc) ou du président (France)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fontScale="92500" lnSpcReduction="20000"/>
          </a:bodyPr>
          <a:lstStyle/>
          <a:p>
            <a:pPr marL="0" indent="0">
              <a:buNone/>
            </a:pPr>
            <a:endParaRPr lang="fr-FR" b="1" dirty="0"/>
          </a:p>
          <a:p>
            <a:pPr marL="514350" indent="-514350">
              <a:buFont typeface="+mj-lt"/>
              <a:buAutoNum type="arabicPeriod" startAt="3"/>
            </a:pPr>
            <a:endParaRPr lang="fr-FR" b="1" dirty="0"/>
          </a:p>
          <a:p>
            <a:pPr marL="571500" indent="-571500">
              <a:buFont typeface="+mj-lt"/>
              <a:buAutoNum type="alphaLcPeriod" startAt="3"/>
            </a:pPr>
            <a:r>
              <a:rPr lang="fr-FR" b="1" dirty="0">
                <a:solidFill>
                  <a:srgbClr val="FFFF00"/>
                </a:solidFill>
              </a:rPr>
              <a:t>La constitution elle-même </a:t>
            </a:r>
            <a:r>
              <a:rPr lang="fr-FR" b="1" dirty="0"/>
              <a:t>, </a:t>
            </a:r>
          </a:p>
          <a:p>
            <a:pPr marL="400050" lvl="1" indent="0" algn="just">
              <a:lnSpc>
                <a:spcPct val="150000"/>
              </a:lnSpc>
              <a:buNone/>
            </a:pPr>
            <a:r>
              <a:rPr lang="fr-FR" dirty="0" smtClean="0"/>
              <a:t>les </a:t>
            </a:r>
            <a:r>
              <a:rPr lang="fr-FR" dirty="0"/>
              <a:t>règles constitutionnelles contenues dans le texte constitutionnel en ce sens que </a:t>
            </a:r>
            <a:r>
              <a:rPr lang="fr-FR" dirty="0" smtClean="0"/>
              <a:t>ce dernier </a:t>
            </a:r>
            <a:r>
              <a:rPr lang="fr-FR" dirty="0"/>
              <a:t>est le fondement </a:t>
            </a:r>
            <a:r>
              <a:rPr lang="fr-FR" dirty="0" smtClean="0"/>
              <a:t>de tout l’ordre </a:t>
            </a:r>
            <a:r>
              <a:rPr lang="fr-FR" dirty="0"/>
              <a:t>juridique national</a:t>
            </a:r>
            <a:r>
              <a:rPr lang="fr-FR" dirty="0" smtClean="0"/>
              <a:t>. Cela signifie que la rédaction ou la modification d’une constitution ne se fait pas à partir de rien , mais sur la base de la constitution précédente ainsi que les règles et principes constitutionnels contenus dans les constitutions précédentes et dans la culture constitutionnelle du pays ( Islam au Maroc; Valeurs républicaines en France : laïcité, égalité…) </a:t>
            </a:r>
            <a:endParaRPr lang="fr-FR" dirty="0"/>
          </a:p>
          <a:p>
            <a:pPr marL="514350" indent="-514350" algn="just">
              <a:lnSpc>
                <a:spcPct val="150000"/>
              </a:lnSpc>
              <a:buFont typeface="+mj-lt"/>
              <a:buAutoNum type="alphaLcPeriod" startAt="3"/>
            </a:pPr>
            <a:r>
              <a:rPr lang="fr-FR" b="1" dirty="0">
                <a:solidFill>
                  <a:srgbClr val="FFFF00"/>
                </a:solidFill>
              </a:rPr>
              <a:t>Les lois organiques </a:t>
            </a:r>
            <a:r>
              <a:rPr lang="fr-FR" b="1" dirty="0"/>
              <a:t>: </a:t>
            </a:r>
          </a:p>
          <a:p>
            <a:pPr marL="514350" indent="-514350" algn="just">
              <a:lnSpc>
                <a:spcPct val="150000"/>
              </a:lnSpc>
              <a:buNone/>
            </a:pPr>
            <a:r>
              <a:rPr lang="fr-FR" dirty="0"/>
              <a:t>	</a:t>
            </a:r>
            <a:r>
              <a:rPr lang="fr-FR" dirty="0" smtClean="0"/>
              <a:t>qui sont </a:t>
            </a:r>
            <a:r>
              <a:rPr lang="fr-FR" dirty="0"/>
              <a:t>des lois à caractère constitutionnel </a:t>
            </a:r>
            <a:r>
              <a:rPr lang="fr-FR" dirty="0" smtClean="0"/>
              <a:t>qui</a:t>
            </a:r>
            <a:r>
              <a:rPr lang="fr-FR" dirty="0"/>
              <a:t> </a:t>
            </a:r>
            <a:r>
              <a:rPr lang="fr-FR" dirty="0" smtClean="0"/>
              <a:t>expliquent et </a:t>
            </a:r>
            <a:r>
              <a:rPr lang="fr-FR" dirty="0"/>
              <a:t>compètent le texte constitutionnel</a:t>
            </a:r>
            <a:r>
              <a:rPr lang="fr-FR" dirty="0" smtClean="0"/>
              <a:t>. Elles sont le prolongement normatif de la constitution, </a:t>
            </a:r>
            <a:endParaRPr lang="fr-FR" dirty="0"/>
          </a:p>
          <a:p>
            <a:pPr marL="514350" indent="-514350" algn="just">
              <a:lnSpc>
                <a:spcPct val="150000"/>
              </a:lnSpc>
              <a:buNone/>
            </a:pPr>
            <a:endParaRPr lang="fr-FR" dirty="0"/>
          </a:p>
          <a:p>
            <a:pPr marL="514350" indent="-514350">
              <a:buFont typeface="+mj-lt"/>
              <a:buAutoNum type="arabicPeriod" startAt="3"/>
            </a:pPr>
            <a:endParaRPr lang="fr-FR" dirty="0"/>
          </a:p>
          <a:p>
            <a:pPr marL="914400" lvl="1" indent="-514350">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buFont typeface="+mj-lt"/>
              <a:buAutoNum type="arabicPeriod" startAt="5"/>
            </a:pPr>
            <a:endParaRPr lang="fr-FR" b="1" dirty="0"/>
          </a:p>
          <a:p>
            <a:pPr marL="514350" indent="-514350">
              <a:buFont typeface="+mj-lt"/>
              <a:buAutoNum type="arabicPeriod" startAt="5"/>
            </a:pPr>
            <a:r>
              <a:rPr lang="fr-FR" b="1" dirty="0" smtClean="0">
                <a:solidFill>
                  <a:srgbClr val="FFFF00"/>
                </a:solidFill>
              </a:rPr>
              <a:t>La </a:t>
            </a:r>
            <a:r>
              <a:rPr lang="fr-FR" b="1" dirty="0">
                <a:solidFill>
                  <a:srgbClr val="FFFF00"/>
                </a:solidFill>
              </a:rPr>
              <a:t>législation</a:t>
            </a:r>
            <a:r>
              <a:rPr lang="fr-FR" dirty="0">
                <a:solidFill>
                  <a:srgbClr val="FFFF00"/>
                </a:solidFill>
              </a:rPr>
              <a:t>  </a:t>
            </a:r>
            <a:r>
              <a:rPr lang="fr-FR" b="1" dirty="0">
                <a:solidFill>
                  <a:srgbClr val="FFFF00"/>
                </a:solidFill>
              </a:rPr>
              <a:t>ordinaire</a:t>
            </a:r>
          </a:p>
          <a:p>
            <a:pPr marL="514350" indent="-514350" algn="just">
              <a:lnSpc>
                <a:spcPct val="150000"/>
              </a:lnSpc>
              <a:buNone/>
            </a:pPr>
            <a:r>
              <a:rPr lang="fr-FR" dirty="0"/>
              <a:t>	Il s’agit surtout des dispositions juridiques écrites adoptées par le parlement </a:t>
            </a:r>
            <a:r>
              <a:rPr lang="fr-FR" dirty="0" err="1" smtClean="0"/>
              <a:t>c.a.d</a:t>
            </a:r>
            <a:r>
              <a:rPr lang="fr-FR" dirty="0" smtClean="0"/>
              <a:t>,  </a:t>
            </a:r>
            <a:r>
              <a:rPr lang="fr-FR" dirty="0"/>
              <a:t>des lois ordinaires dont la fonction est de compléter et de donner une interprétation précise au texte constitutionnel.</a:t>
            </a:r>
          </a:p>
          <a:p>
            <a:pPr marL="514350" indent="-514350" algn="just">
              <a:lnSpc>
                <a:spcPct val="150000"/>
              </a:lnSpc>
              <a:buFont typeface="+mj-lt"/>
              <a:buAutoNum type="arabicPeriod" startAt="6"/>
            </a:pPr>
            <a:r>
              <a:rPr lang="fr-FR" b="1" dirty="0">
                <a:solidFill>
                  <a:srgbClr val="FFFF00"/>
                </a:solidFill>
              </a:rPr>
              <a:t>Les règlements intérieurs des chambres du parlement </a:t>
            </a:r>
            <a:r>
              <a:rPr lang="fr-FR" dirty="0">
                <a:solidFill>
                  <a:srgbClr val="FFFF00"/>
                </a:solidFill>
              </a:rPr>
              <a:t> </a:t>
            </a:r>
            <a:r>
              <a:rPr lang="fr-FR" dirty="0" smtClean="0"/>
              <a:t>des normes qui complètent </a:t>
            </a:r>
            <a:r>
              <a:rPr lang="fr-FR" dirty="0"/>
              <a:t>la constitution en matière d’organisation et du fonctionnement du parlement et de la procédure </a:t>
            </a:r>
            <a:r>
              <a:rPr lang="fr-FR" dirty="0" smtClean="0"/>
              <a:t>de l’adoption des lois.</a:t>
            </a:r>
            <a:endParaRPr lang="fr-FR" dirty="0"/>
          </a:p>
          <a:p>
            <a:pPr marL="514350" indent="-514350" algn="just">
              <a:lnSpc>
                <a:spcPct val="150000"/>
              </a:lnSpc>
              <a:buFont typeface="+mj-lt"/>
              <a:buAutoNum type="arabicPeriod" startAt="6"/>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a:t>
            </a:fld>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20000"/>
          </a:bodyPr>
          <a:lstStyle/>
          <a:p>
            <a:pPr marL="514350" lvl="0" indent="-514350" algn="just">
              <a:buFont typeface="+mj-lt"/>
              <a:buAutoNum type="arabicPeriod" startAt="7"/>
            </a:pPr>
            <a:endParaRPr lang="fr-FR" b="1" dirty="0"/>
          </a:p>
          <a:p>
            <a:pPr marL="514350" lvl="0" indent="-514350" algn="just">
              <a:buFont typeface="+mj-lt"/>
              <a:buAutoNum type="arabicPeriod" startAt="7"/>
            </a:pPr>
            <a:endParaRPr lang="fr-FR" b="1" dirty="0"/>
          </a:p>
          <a:p>
            <a:pPr marL="514350" lvl="0" indent="-514350" algn="just">
              <a:buFont typeface="+mj-lt"/>
              <a:buAutoNum type="arabicPeriod" startAt="7"/>
            </a:pPr>
            <a:r>
              <a:rPr lang="fr-FR" b="1" dirty="0">
                <a:solidFill>
                  <a:srgbClr val="FFFF00"/>
                </a:solidFill>
              </a:rPr>
              <a:t>Le Droit et conventions  internationaux</a:t>
            </a:r>
          </a:p>
          <a:p>
            <a:pPr marL="514350" indent="-514350" algn="just">
              <a:lnSpc>
                <a:spcPct val="150000"/>
              </a:lnSpc>
              <a:buNone/>
            </a:pPr>
            <a:r>
              <a:rPr lang="fr-FR" dirty="0"/>
              <a:t>	la souveraineté de l’État </a:t>
            </a:r>
            <a:r>
              <a:rPr lang="fr-FR" dirty="0" smtClean="0"/>
              <a:t>est </a:t>
            </a:r>
            <a:r>
              <a:rPr lang="fr-FR" dirty="0"/>
              <a:t>de plus en plus limitée dans beaucoup de domaines qui relèvent du Droit international, comme: les droits de l’Homme, l’environnement, le droit humanitaire, le Droit de la mère, le Droit de l’espace…etc. Ainsi, </a:t>
            </a:r>
            <a:r>
              <a:rPr lang="fr-FR" dirty="0" smtClean="0"/>
              <a:t>les </a:t>
            </a:r>
            <a:r>
              <a:rPr lang="fr-FR" dirty="0"/>
              <a:t>normes et les conventions internationales </a:t>
            </a:r>
            <a:r>
              <a:rPr lang="fr-FR" dirty="0" smtClean="0"/>
              <a:t>constituent une source directe du droit constitutionnel national.</a:t>
            </a:r>
          </a:p>
          <a:p>
            <a:pPr marL="514350" indent="-514350" algn="just">
              <a:lnSpc>
                <a:spcPct val="150000"/>
              </a:lnSpc>
              <a:buNone/>
            </a:pPr>
            <a:r>
              <a:rPr lang="fr-FR" dirty="0" smtClean="0"/>
              <a:t>On dit des Etats qui adoptent le principe de la priorité du Droit interne ( constitution) sur le droit international qu’ils ont un système juridique dualiste opposant la constitution au droit international. Tandis que le système juridique des pays qui adoptent la priorité du droit international sur le droit interne est considéré comme moniste, dans la mesure ou il n’opère pas de distinction entre le droit interne et le droit international, </a:t>
            </a:r>
            <a:endParaRPr lang="fr-FR" dirty="0"/>
          </a:p>
          <a:p>
            <a:pPr marL="514350" indent="-514350" algn="just">
              <a:buFont typeface="+mj-lt"/>
              <a:buAutoNum type="arabicPeriod" startAt="7"/>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a:t>
            </a:fld>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lvl="0" indent="-514350" algn="just">
              <a:buFont typeface="+mj-lt"/>
              <a:buAutoNum type="arabicPeriod" startAt="8"/>
            </a:pPr>
            <a:endParaRPr lang="fr-FR" b="1" dirty="0"/>
          </a:p>
          <a:p>
            <a:pPr marL="514350" lvl="0" indent="-514350" algn="just">
              <a:buFont typeface="+mj-lt"/>
              <a:buAutoNum type="arabicPeriod" startAt="8"/>
            </a:pPr>
            <a:endParaRPr lang="fr-FR" b="1" dirty="0"/>
          </a:p>
          <a:p>
            <a:pPr marL="514350" lvl="0" indent="-514350" algn="just">
              <a:buFont typeface="+mj-lt"/>
              <a:buAutoNum type="arabicPeriod" startAt="8"/>
            </a:pPr>
            <a:r>
              <a:rPr lang="fr-FR" b="1" dirty="0">
                <a:solidFill>
                  <a:srgbClr val="FFFF00"/>
                </a:solidFill>
              </a:rPr>
              <a:t>La justice constitutionnelle</a:t>
            </a:r>
          </a:p>
          <a:p>
            <a:pPr marL="514350" lvl="0" indent="-514350" algn="just">
              <a:lnSpc>
                <a:spcPct val="150000"/>
              </a:lnSpc>
              <a:buNone/>
            </a:pPr>
            <a:r>
              <a:rPr lang="fr-FR" dirty="0"/>
              <a:t>	les décisions de la justice constitutionnelle, en intervenant dans des domaines qui ne sont pas explicitement prévues par le texte constitutionnel ou en interprétant une disposition constitutionnelle ambigüe ou litigieuse, deviennent elles </a:t>
            </a:r>
            <a:r>
              <a:rPr lang="fr-FR" dirty="0" smtClean="0"/>
              <a:t>mêmes </a:t>
            </a:r>
            <a:r>
              <a:rPr lang="fr-FR" dirty="0"/>
              <a:t>une source directe de droit constitutionnel que nul constituant ne peut ignorer. La justice constitutionnelle contribue de ce fait indirectement à l’élaboration des normes constitutionnelles.</a:t>
            </a:r>
          </a:p>
          <a:p>
            <a:pPr marL="514350" indent="-514350">
              <a:buFont typeface="+mj-lt"/>
              <a:buAutoNum type="arabicPeriod"/>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42852"/>
            <a:ext cx="9144000" cy="1143008"/>
          </a:xfrm>
        </p:spPr>
        <p:txBody>
          <a:bodyPr>
            <a:normAutofit fontScale="90000"/>
          </a:bodyPr>
          <a:lstStyle/>
          <a:p>
            <a:pPr algn="just"/>
            <a:r>
              <a:rPr lang="fr-FR" sz="3100" b="1" i="1" dirty="0">
                <a:solidFill>
                  <a:srgbClr val="FFFF00"/>
                </a:solidFill>
                <a:latin typeface="+mn-lt"/>
              </a:rPr>
              <a:t>Chapitre I. La théorie générale de l’État</a:t>
            </a:r>
            <a:r>
              <a:rPr lang="fr-FR" dirty="0"/>
              <a:t/>
            </a:r>
            <a:br>
              <a:rPr lang="fr-FR" dirty="0"/>
            </a:br>
            <a:endParaRPr lang="fr-FR" dirty="0"/>
          </a:p>
        </p:txBody>
      </p:sp>
      <p:sp>
        <p:nvSpPr>
          <p:cNvPr id="3" name="Espace réservé du contenu 2"/>
          <p:cNvSpPr>
            <a:spLocks noGrp="1"/>
          </p:cNvSpPr>
          <p:nvPr>
            <p:ph idx="1"/>
          </p:nvPr>
        </p:nvSpPr>
        <p:spPr>
          <a:xfrm>
            <a:off x="0" y="1071546"/>
            <a:ext cx="9144000" cy="5643602"/>
          </a:xfrm>
        </p:spPr>
        <p:txBody>
          <a:bodyPr>
            <a:normAutofit fontScale="92500"/>
          </a:bodyPr>
          <a:lstStyle/>
          <a:p>
            <a:pPr algn="just">
              <a:lnSpc>
                <a:spcPct val="150000"/>
              </a:lnSpc>
              <a:buNone/>
            </a:pPr>
            <a:r>
              <a:rPr lang="fr-FR" dirty="0"/>
              <a:t>	</a:t>
            </a:r>
            <a:r>
              <a:rPr lang="fr-FR" dirty="0" smtClean="0"/>
              <a:t>L’institution </a:t>
            </a:r>
            <a:r>
              <a:rPr lang="fr-FR" dirty="0"/>
              <a:t>de l’Etat occupe une place centrale dans le droit constitutionnel en ce sens qu’elle en constitue le foyer. Cette dernière n’est autre qu’une forme d’institutionnalisation ou de rationalisation du pouvoir politique. C’est-a-dire, une manière de l’encadrer juridiquement, et de le soumettre au droit. Autrement dit, L’Etat est une façon de limiter l’arbitraire du pouvoir. </a:t>
            </a:r>
          </a:p>
          <a:p>
            <a:pPr algn="just">
              <a:lnSpc>
                <a:spcPct val="150000"/>
              </a:lnSpc>
              <a:buNone/>
            </a:pPr>
            <a:r>
              <a:rPr lang="fr-FR" dirty="0" smtClean="0"/>
              <a:t>	De </a:t>
            </a:r>
            <a:r>
              <a:rPr lang="fr-FR" dirty="0"/>
              <a:t>là, on parle de l’Etat de droit. </a:t>
            </a:r>
            <a:r>
              <a:rPr lang="fr-FR" dirty="0" err="1"/>
              <a:t>C.a.d</a:t>
            </a:r>
            <a:r>
              <a:rPr lang="fr-FR" dirty="0"/>
              <a:t>. du pouvoir politique soumis au droit. </a:t>
            </a:r>
          </a:p>
          <a:p>
            <a:pPr algn="just">
              <a:buNone/>
            </a:pPr>
            <a:r>
              <a:rPr lang="fr-FR" dirty="0"/>
              <a:t>« </a:t>
            </a:r>
            <a:r>
              <a:rPr lang="fr-FR" i="1" dirty="0">
                <a:solidFill>
                  <a:srgbClr val="FFFF00"/>
                </a:solidFill>
              </a:rPr>
              <a:t>Les hommes ont inventé l'État pour ne pas obéir aux hommes</a:t>
            </a:r>
            <a:r>
              <a:rPr lang="fr-FR" b="1" dirty="0"/>
              <a:t> </a:t>
            </a:r>
            <a:r>
              <a:rPr lang="fr-FR" dirty="0"/>
              <a:t>». G. </a:t>
            </a:r>
            <a:r>
              <a:rPr lang="fr-FR" dirty="0" err="1"/>
              <a:t>Burdeau</a:t>
            </a:r>
            <a:r>
              <a:rPr lang="fr-FR" i="1" dirty="0"/>
              <a:t>, L’État, éd., du Seuil, 1970, p. 15.  </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4638"/>
            <a:ext cx="8686800" cy="1143000"/>
          </a:xfrm>
        </p:spPr>
        <p:txBody>
          <a:bodyPr>
            <a:normAutofit fontScale="90000"/>
          </a:bodyPr>
          <a:lstStyle/>
          <a:p>
            <a:pPr lvl="0" algn="ctr"/>
            <a:r>
              <a:rPr lang="fr-CA" sz="3600" b="1" i="1" dirty="0">
                <a:solidFill>
                  <a:srgbClr val="FFFF00"/>
                </a:solidFill>
                <a:latin typeface="+mn-lt"/>
              </a:rPr>
              <a:t>Section 1.  </a:t>
            </a:r>
            <a:r>
              <a:rPr lang="fr-FR" sz="3600" b="1" i="1" dirty="0">
                <a:solidFill>
                  <a:srgbClr val="FFFF00"/>
                </a:solidFill>
                <a:latin typeface="+mn-lt"/>
              </a:rPr>
              <a:t>Éléments constitutifs de l’État</a:t>
            </a:r>
            <a:r>
              <a:rPr lang="fr-FR" dirty="0"/>
              <a:t/>
            </a:r>
            <a:br>
              <a:rPr lang="fr-FR" dirty="0"/>
            </a:br>
            <a:endParaRPr lang="fr-FR" dirty="0"/>
          </a:p>
        </p:txBody>
      </p:sp>
      <p:sp>
        <p:nvSpPr>
          <p:cNvPr id="3" name="Espace réservé du contenu 2"/>
          <p:cNvSpPr>
            <a:spLocks noGrp="1"/>
          </p:cNvSpPr>
          <p:nvPr>
            <p:ph idx="1"/>
          </p:nvPr>
        </p:nvSpPr>
        <p:spPr>
          <a:xfrm>
            <a:off x="0" y="1142984"/>
            <a:ext cx="9144000" cy="5715016"/>
          </a:xfrm>
        </p:spPr>
        <p:txBody>
          <a:bodyPr>
            <a:normAutofit/>
          </a:bodyPr>
          <a:lstStyle/>
          <a:p>
            <a:pPr algn="just">
              <a:lnSpc>
                <a:spcPct val="150000"/>
              </a:lnSpc>
              <a:buFont typeface="Wingdings" pitchFamily="2" charset="2"/>
              <a:buChar char="Ø"/>
            </a:pPr>
            <a:r>
              <a:rPr lang="fr-FR" sz="2800" dirty="0"/>
              <a:t>D’un point de vue juridique l’Etat est une « </a:t>
            </a:r>
            <a:r>
              <a:rPr lang="fr-FR" sz="2800" i="1" dirty="0">
                <a:solidFill>
                  <a:srgbClr val="FFFF00"/>
                </a:solidFill>
              </a:rPr>
              <a:t>une personne morale titulaire de la souveraineté</a:t>
            </a:r>
            <a:r>
              <a:rPr lang="fr-FR" sz="2800" i="1" dirty="0"/>
              <a:t> </a:t>
            </a:r>
            <a:r>
              <a:rPr lang="fr-FR" sz="2800" i="1" dirty="0" smtClean="0"/>
              <a:t>»</a:t>
            </a:r>
            <a:r>
              <a:rPr lang="fr-FR" sz="2800" dirty="0" smtClean="0"/>
              <a:t>. </a:t>
            </a:r>
          </a:p>
          <a:p>
            <a:pPr algn="just">
              <a:lnSpc>
                <a:spcPct val="150000"/>
              </a:lnSpc>
              <a:buFont typeface="Wingdings" pitchFamily="2" charset="2"/>
              <a:buChar char="Ø"/>
            </a:pPr>
            <a:r>
              <a:rPr lang="fr-FR" sz="2800" dirty="0" smtClean="0"/>
              <a:t>l’État </a:t>
            </a:r>
            <a:r>
              <a:rPr lang="fr-FR" sz="2800" dirty="0"/>
              <a:t>n’est que le nom que l’on donne au pouvoir politique lorsqu’ils s‘exerce exclusivement sous sa forme juridique. </a:t>
            </a:r>
            <a:r>
              <a:rPr lang="fr-FR" sz="2800" dirty="0" smtClean="0"/>
              <a:t>Une </a:t>
            </a:r>
            <a:r>
              <a:rPr lang="fr-FR" sz="2800" dirty="0"/>
              <a:t>définition précise de l’Etat reste improbable au point de pousser certains juristes comme G. Burdeau à le </a:t>
            </a:r>
            <a:r>
              <a:rPr lang="fr-FR" sz="2800" dirty="0" smtClean="0"/>
              <a:t>qualifier </a:t>
            </a:r>
            <a:r>
              <a:rPr lang="fr-FR" sz="2800" dirty="0"/>
              <a:t>d’idée juridique abstraite qui ne peut être saisie matériellement. </a:t>
            </a:r>
          </a:p>
          <a:p>
            <a:pPr algn="just">
              <a:buNone/>
            </a:pPr>
            <a:endParaRPr lang="fr-FR" dirty="0"/>
          </a:p>
          <a:p>
            <a:pPr>
              <a:buNone/>
            </a:pPr>
            <a:endParaRPr lang="fr-FR" dirty="0"/>
          </a:p>
          <a:p>
            <a:pPr>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Font typeface="Wingdings" pitchFamily="2" charset="2"/>
              <a:buChar char="Ø"/>
            </a:pPr>
            <a:endParaRPr lang="fr-FR" dirty="0"/>
          </a:p>
          <a:p>
            <a:pPr algn="just">
              <a:buFont typeface="Wingdings" pitchFamily="2" charset="2"/>
              <a:buChar char="Ø"/>
            </a:pPr>
            <a:r>
              <a:rPr lang="fr-MA" b="1" dirty="0">
                <a:solidFill>
                  <a:srgbClr val="FFFF00"/>
                </a:solidFill>
              </a:rPr>
              <a:t>Les théories explicatives de l’origine de l’Etat</a:t>
            </a:r>
          </a:p>
          <a:p>
            <a:pPr marL="514350" indent="-514350" algn="just">
              <a:buFont typeface="+mj-lt"/>
              <a:buAutoNum type="alphaLcPeriod"/>
            </a:pPr>
            <a:r>
              <a:rPr lang="fr-MA" i="1" dirty="0"/>
              <a:t>La théorie théocratique ( Droit divin)</a:t>
            </a:r>
          </a:p>
          <a:p>
            <a:pPr marL="514350" indent="-514350" algn="just">
              <a:buFont typeface="+mj-lt"/>
              <a:buAutoNum type="alphaLcPeriod"/>
            </a:pPr>
            <a:r>
              <a:rPr lang="fr-MA" i="1" dirty="0"/>
              <a:t>La théorie du contrat social (</a:t>
            </a:r>
            <a:r>
              <a:rPr lang="fr-MA" i="1" dirty="0" err="1"/>
              <a:t>Jhon</a:t>
            </a:r>
            <a:r>
              <a:rPr lang="fr-MA" i="1" dirty="0"/>
              <a:t> lock, </a:t>
            </a:r>
            <a:r>
              <a:rPr lang="fr-MA" i="1" dirty="0" err="1"/>
              <a:t>T.Hobbes</a:t>
            </a:r>
            <a:r>
              <a:rPr lang="fr-MA" i="1" dirty="0"/>
              <a:t>; J.J. Rousseau,  </a:t>
            </a:r>
          </a:p>
          <a:p>
            <a:pPr marL="514350" indent="-514350" algn="just">
              <a:buFont typeface="+mj-lt"/>
              <a:buAutoNum type="alphaLcPeriod"/>
            </a:pPr>
            <a:r>
              <a:rPr lang="fr-MA" i="1" dirty="0"/>
              <a:t>La théorie marxiste ( Marx, Althusser, </a:t>
            </a:r>
            <a:r>
              <a:rPr lang="fr-MA" i="1" dirty="0" err="1"/>
              <a:t>Poulantzas</a:t>
            </a:r>
            <a:r>
              <a:rPr lang="fr-MA" i="1" dirty="0"/>
              <a:t>,…) </a:t>
            </a:r>
          </a:p>
          <a:p>
            <a:pPr marL="514350" indent="-514350" algn="just">
              <a:buFont typeface="+mj-lt"/>
              <a:buAutoNum type="alphaLcPeriod"/>
            </a:pPr>
            <a:r>
              <a:rPr lang="fr-MA" i="1" dirty="0"/>
              <a:t>La théorie </a:t>
            </a:r>
            <a:r>
              <a:rPr lang="fr-FR" i="1" dirty="0"/>
              <a:t>du pouvoir Tilly, F. Oppenheimer, Weber, Elias…)</a:t>
            </a:r>
          </a:p>
          <a:p>
            <a:pPr algn="just">
              <a:lnSpc>
                <a:spcPct val="150000"/>
              </a:lnSpc>
              <a:buFont typeface="Wingdings" pitchFamily="2" charset="2"/>
              <a:buChar char="Ø"/>
            </a:pPr>
            <a:r>
              <a:rPr lang="fr-FR" dirty="0"/>
              <a:t>Ces théories sont plus philosophiques que juridiques. </a:t>
            </a:r>
          </a:p>
          <a:p>
            <a:pPr marL="0" indent="0" algn="just">
              <a:lnSpc>
                <a:spcPct val="150000"/>
              </a:lnSpc>
              <a:buNone/>
            </a:pPr>
            <a:r>
              <a:rPr lang="fr-FR" sz="2400" b="1" i="1" dirty="0">
                <a:solidFill>
                  <a:srgbClr val="FFFF00"/>
                </a:solidFill>
              </a:rPr>
              <a:t>Juridiquement, on peut définir l’Etat à partir des éléments juridiques qui le constituent: un territoire; une population et un pouvoir politique souverain</a:t>
            </a:r>
            <a:r>
              <a:rPr lang="fr-FR" dirty="0"/>
              <a:t>.</a:t>
            </a: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071546"/>
          </a:xfrm>
        </p:spPr>
        <p:txBody>
          <a:bodyPr>
            <a:normAutofit/>
          </a:bodyPr>
          <a:lstStyle/>
          <a:p>
            <a:pPr marL="742950" indent="-742950" algn="ctr">
              <a:buFont typeface="+mj-lt"/>
              <a:buAutoNum type="alphaUcPeriod"/>
            </a:pPr>
            <a:r>
              <a:rPr lang="fr-FR" b="1" i="1" dirty="0">
                <a:solidFill>
                  <a:srgbClr val="FFFF00"/>
                </a:solidFill>
                <a:latin typeface="+mn-lt"/>
              </a:rPr>
              <a:t>Le territoire</a:t>
            </a:r>
          </a:p>
        </p:txBody>
      </p:sp>
      <p:sp>
        <p:nvSpPr>
          <p:cNvPr id="3" name="Espace réservé du contenu 2"/>
          <p:cNvSpPr>
            <a:spLocks noGrp="1"/>
          </p:cNvSpPr>
          <p:nvPr>
            <p:ph idx="1"/>
          </p:nvPr>
        </p:nvSpPr>
        <p:spPr>
          <a:xfrm>
            <a:off x="0" y="1142984"/>
            <a:ext cx="9144000" cy="5715016"/>
          </a:xfrm>
        </p:spPr>
        <p:txBody>
          <a:bodyPr>
            <a:normAutofit/>
          </a:bodyPr>
          <a:lstStyle/>
          <a:p>
            <a:pPr algn="just">
              <a:lnSpc>
                <a:spcPct val="150000"/>
              </a:lnSpc>
              <a:buNone/>
            </a:pPr>
            <a:r>
              <a:rPr lang="fr-FR" dirty="0"/>
              <a:t>	Le territoire constitue  cet espace géographiquement délimité sur lequel l’État exerce pleinement et exclusivement sa souveraineté. Cet espace, ayant des frontières déterminées, constitue le support spatial de l’autorité politique de l’État. Cela implique que l’État y exerce sa souveraineté politique et juridique de manière exclusive. Le territoire est composé de </a:t>
            </a:r>
            <a:r>
              <a:rPr lang="fr-FR" b="1" dirty="0"/>
              <a:t>l’espace terrestre</a:t>
            </a:r>
            <a:r>
              <a:rPr lang="fr-FR" dirty="0"/>
              <a:t>; de </a:t>
            </a:r>
            <a:r>
              <a:rPr lang="fr-FR" b="1" dirty="0"/>
              <a:t>l’espace aérien </a:t>
            </a:r>
            <a:r>
              <a:rPr lang="fr-FR" dirty="0"/>
              <a:t>et de </a:t>
            </a:r>
            <a:r>
              <a:rPr lang="fr-FR" b="1" dirty="0"/>
              <a:t>l’espace maritime</a:t>
            </a:r>
            <a:r>
              <a:rPr lang="fr-FR" dirty="0"/>
              <a:t>.</a:t>
            </a:r>
          </a:p>
          <a:p>
            <a:pPr>
              <a:buNone/>
            </a:pPr>
            <a:endParaRPr lang="fr-FR" dirty="0"/>
          </a:p>
        </p:txBody>
      </p:sp>
      <p:sp>
        <p:nvSpPr>
          <p:cNvPr id="6" name="Espace réservé du numéro de diapositive 5"/>
          <p:cNvSpPr>
            <a:spLocks noGrp="1"/>
          </p:cNvSpPr>
          <p:nvPr>
            <p:ph type="sldNum" sz="quarter" idx="12"/>
          </p:nvPr>
        </p:nvSpPr>
        <p:spPr/>
        <p:txBody>
          <a:bodyPr/>
          <a:lstStyle/>
          <a:p>
            <a:fld id="{0B4B166F-A3A3-4DE9-809D-A8E7BD5C3246}" type="slidenum">
              <a:rPr lang="fr-FR" smtClean="0"/>
              <a:pPr/>
              <a:t>17</a:t>
            </a:fld>
            <a:endParaRPr lang="fr-FR"/>
          </a:p>
        </p:txBody>
      </p:sp>
      <p:graphicFrame>
        <p:nvGraphicFramePr>
          <p:cNvPr id="5" name="Tableau 4"/>
          <p:cNvGraphicFramePr>
            <a:graphicFrameLocks noGrp="1"/>
          </p:cNvGraphicFramePr>
          <p:nvPr>
            <p:extLst>
              <p:ext uri="{D42A27DB-BD31-4B8C-83A1-F6EECF244321}">
                <p14:modId xmlns:p14="http://schemas.microsoft.com/office/powerpoint/2010/main" val="4284932850"/>
              </p:ext>
            </p:extLst>
          </p:nvPr>
        </p:nvGraphicFramePr>
        <p:xfrm>
          <a:off x="142844" y="6143644"/>
          <a:ext cx="8858312" cy="975360"/>
        </p:xfrm>
        <a:graphic>
          <a:graphicData uri="http://schemas.openxmlformats.org/drawingml/2006/table">
            <a:tbl>
              <a:tblPr firstRow="1" bandRow="1">
                <a:tableStyleId>{5C22544A-7EE6-4342-B048-85BDC9FD1C3A}</a:tableStyleId>
              </a:tblPr>
              <a:tblGrid>
                <a:gridCol w="8858312">
                  <a:extLst>
                    <a:ext uri="{9D8B030D-6E8A-4147-A177-3AD203B41FA5}">
                      <a16:colId xmlns:a16="http://schemas.microsoft.com/office/drawing/2014/main" xmlns="" val="20000"/>
                    </a:ext>
                  </a:extLst>
                </a:gridCol>
              </a:tblGrid>
              <a:tr h="214290">
                <a:tc>
                  <a:txBody>
                    <a:bodyPr/>
                    <a:lstStyle/>
                    <a:p>
                      <a:pPr>
                        <a:buFont typeface="Arial" pitchFamily="34" charset="0"/>
                        <a:buNone/>
                      </a:pPr>
                      <a:r>
                        <a:rPr lang="fr-FR" sz="2000" b="1" dirty="0"/>
                        <a:t>Problème: </a:t>
                      </a:r>
                      <a:r>
                        <a:rPr lang="fr-FR" sz="2000" b="1" baseline="0" dirty="0"/>
                        <a:t> </a:t>
                      </a:r>
                      <a:r>
                        <a:rPr lang="fr-FR" sz="2000" b="1" dirty="0"/>
                        <a:t>peuples </a:t>
                      </a:r>
                      <a:r>
                        <a:rPr lang="fr-FR" sz="2000" b="1" dirty="0" smtClean="0"/>
                        <a:t> sans </a:t>
                      </a:r>
                      <a:r>
                        <a:rPr lang="fr-FR" sz="2000" b="1" dirty="0"/>
                        <a:t>territoire ; Etats</a:t>
                      </a:r>
                      <a:r>
                        <a:rPr lang="fr-FR" sz="2000" b="1" baseline="0" dirty="0"/>
                        <a:t> </a:t>
                      </a:r>
                      <a:r>
                        <a:rPr lang="fr-FR" sz="2000" b="1" baseline="0" dirty="0" smtClean="0"/>
                        <a:t>plurinationaux; territoires </a:t>
                      </a:r>
                      <a:r>
                        <a:rPr lang="fr-FR" sz="2000" b="1" baseline="0" smtClean="0"/>
                        <a:t>sans peuples.</a:t>
                      </a:r>
                      <a:endParaRPr lang="fr-FR" sz="2000" b="1" dirty="0"/>
                    </a:p>
                    <a:p>
                      <a:endParaRPr lang="fr-FR" dirty="0"/>
                    </a:p>
                  </a:txBody>
                  <a:tcPr/>
                </a:tc>
                <a:extLst>
                  <a:ext uri="{0D108BD9-81ED-4DB2-BD59-A6C34878D82A}">
                    <a16:rowId xmlns:a16="http://schemas.microsoft.com/office/drawing/2014/main" xmlns=""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929718" cy="6858000"/>
          </a:xfrm>
        </p:spPr>
        <p:txBody>
          <a:bodyPr>
            <a:normAutofit lnSpcReduction="10000"/>
          </a:bodyPr>
          <a:lstStyle/>
          <a:p>
            <a:pPr marL="514350" indent="-514350">
              <a:buAutoNum type="arabicPeriod"/>
            </a:pPr>
            <a:endParaRPr lang="fr-MA" dirty="0"/>
          </a:p>
          <a:p>
            <a:pPr marL="514350" indent="-514350">
              <a:buAutoNum type="arabicPeriod"/>
            </a:pPr>
            <a:r>
              <a:rPr lang="fr-MA" b="1" i="1" dirty="0">
                <a:solidFill>
                  <a:srgbClr val="FFFF00"/>
                </a:solidFill>
              </a:rPr>
              <a:t>l’espace terrestre </a:t>
            </a:r>
          </a:p>
          <a:p>
            <a:pPr marL="514350" indent="-514350" algn="just">
              <a:buNone/>
            </a:pPr>
            <a:r>
              <a:rPr lang="fr-MA" dirty="0"/>
              <a:t>	Est cet espace géographique terrestre sur lequel l’Etat exerce sa souveraineté ( sol, sous sol , ressources , faune et Flore, homme, bâtiments…)</a:t>
            </a:r>
          </a:p>
          <a:p>
            <a:pPr marL="514350" indent="-514350" algn="just">
              <a:buFont typeface="+mj-lt"/>
              <a:buAutoNum type="arabicPeriod" startAt="2"/>
            </a:pPr>
            <a:r>
              <a:rPr lang="fr-MA" b="1" i="1" dirty="0">
                <a:solidFill>
                  <a:srgbClr val="FFFF00"/>
                </a:solidFill>
              </a:rPr>
              <a:t>L’espace maritime </a:t>
            </a:r>
            <a:r>
              <a:rPr lang="fr-MA" dirty="0"/>
              <a:t>(</a:t>
            </a:r>
            <a:r>
              <a:rPr lang="fr-FR" i="1" dirty="0"/>
              <a:t>Convention des Nations Unies sur le droit de la mer, Conclue à </a:t>
            </a:r>
            <a:r>
              <a:rPr lang="fr-FR" i="1" dirty="0" err="1"/>
              <a:t>Montego</a:t>
            </a:r>
            <a:r>
              <a:rPr lang="fr-FR" i="1" dirty="0"/>
              <a:t> </a:t>
            </a:r>
            <a:r>
              <a:rPr lang="fr-FR" i="1" dirty="0" err="1"/>
              <a:t>Bay</a:t>
            </a:r>
            <a:r>
              <a:rPr lang="fr-FR" i="1" dirty="0"/>
              <a:t>, le 10 décembre 1982) trois types de frontières maritimes</a:t>
            </a:r>
          </a:p>
          <a:p>
            <a:pPr marL="514350" indent="-514350" algn="just">
              <a:buFont typeface="Times New Roman" pitchFamily="18" charset="0"/>
              <a:buChar char="⁻"/>
            </a:pPr>
            <a:r>
              <a:rPr lang="fr-FR" b="1" i="1" dirty="0"/>
              <a:t> </a:t>
            </a:r>
            <a:r>
              <a:rPr lang="fr-FR" b="1" i="1" dirty="0">
                <a:solidFill>
                  <a:srgbClr val="FFFF00"/>
                </a:solidFill>
              </a:rPr>
              <a:t>La mer territoriale</a:t>
            </a:r>
            <a:r>
              <a:rPr lang="fr-FR" dirty="0"/>
              <a:t> qui s'étend jusqu'à 12 milles marins (M), soit, environ 22 km des cotes;</a:t>
            </a:r>
          </a:p>
          <a:p>
            <a:pPr marL="514350" indent="-514350" algn="just">
              <a:buFont typeface="Times New Roman" pitchFamily="18" charset="0"/>
              <a:buChar char="⁻"/>
            </a:pPr>
            <a:r>
              <a:rPr lang="fr-FR" b="1" i="1" dirty="0">
                <a:solidFill>
                  <a:srgbClr val="FFFF00"/>
                </a:solidFill>
              </a:rPr>
              <a:t>la Zone Économique Exclusive </a:t>
            </a:r>
            <a:r>
              <a:rPr lang="fr-FR" b="1" i="1" dirty="0"/>
              <a:t>(ZEE)</a:t>
            </a:r>
            <a:r>
              <a:rPr lang="fr-FR" dirty="0"/>
              <a:t> qui s’étend jusqu'à 200 M, soit environ 370 km au large de la mer territoriale</a:t>
            </a:r>
            <a:r>
              <a:rPr lang="fr-FR" dirty="0" smtClean="0"/>
              <a:t>; (contrôle douanier, fiscal, sanitaire et immigration)</a:t>
            </a:r>
            <a:endParaRPr lang="fr-FR" dirty="0"/>
          </a:p>
          <a:p>
            <a:pPr marL="514350" indent="-514350" algn="just">
              <a:buFont typeface="Times New Roman" pitchFamily="18" charset="0"/>
              <a:buChar char="⁻"/>
            </a:pPr>
            <a:r>
              <a:rPr lang="fr-MA" b="1" i="1" dirty="0">
                <a:solidFill>
                  <a:srgbClr val="FFFF00"/>
                </a:solidFill>
              </a:rPr>
              <a:t>Le plateau continental </a:t>
            </a:r>
            <a:r>
              <a:rPr lang="fr-MA" b="1" i="1" dirty="0"/>
              <a:t>ou ZEE </a:t>
            </a:r>
            <a:r>
              <a:rPr lang="fr-MA" dirty="0"/>
              <a:t>étendue jusqu'a  350 </a:t>
            </a:r>
            <a:r>
              <a:rPr lang="fr-MA" dirty="0" smtClean="0"/>
              <a:t>milles ( exploitation des ressources naturelles </a:t>
            </a:r>
            <a:r>
              <a:rPr lang="fr-FR" dirty="0" smtClean="0"/>
              <a:t>du </a:t>
            </a:r>
            <a:r>
              <a:rPr lang="fr-FR" dirty="0"/>
              <a:t>sol et du </a:t>
            </a:r>
            <a:r>
              <a:rPr lang="fr-FR" dirty="0" smtClean="0"/>
              <a:t>sous-sol </a:t>
            </a:r>
            <a:r>
              <a:rPr lang="fr-FR" dirty="0"/>
              <a:t>des fonds marins</a:t>
            </a:r>
            <a:r>
              <a:rPr lang="fr-MA" dirty="0" smtClean="0"/>
              <a:t>)</a:t>
            </a: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18</a:t>
            </a:fld>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514350" indent="-514350" algn="just">
              <a:buFont typeface="+mj-lt"/>
              <a:buAutoNum type="arabicPeriod" startAt="3"/>
            </a:pPr>
            <a:endParaRPr lang="fr-FR" b="1" dirty="0"/>
          </a:p>
          <a:p>
            <a:pPr marL="514350" indent="-514350" algn="just">
              <a:lnSpc>
                <a:spcPct val="150000"/>
              </a:lnSpc>
              <a:buFont typeface="+mj-lt"/>
              <a:buAutoNum type="arabicPeriod" startAt="3"/>
            </a:pPr>
            <a:r>
              <a:rPr lang="fr-FR" b="1" i="1" dirty="0">
                <a:solidFill>
                  <a:srgbClr val="FFFF00"/>
                </a:solidFill>
              </a:rPr>
              <a:t>L’espace aérien </a:t>
            </a:r>
          </a:p>
          <a:p>
            <a:pPr marL="514350" indent="-514350" algn="just">
              <a:lnSpc>
                <a:spcPct val="150000"/>
              </a:lnSpc>
              <a:buNone/>
            </a:pPr>
            <a:r>
              <a:rPr lang="fr-FR" dirty="0"/>
              <a:t>	Est régie par la convention de Chicago de 1944 . </a:t>
            </a:r>
          </a:p>
          <a:p>
            <a:pPr marL="514350" indent="-514350" algn="just">
              <a:lnSpc>
                <a:spcPct val="150000"/>
              </a:lnSpc>
              <a:buNone/>
            </a:pPr>
            <a:r>
              <a:rPr lang="fr-FR" dirty="0"/>
              <a:t>	Il est formé de l’espace aérien en dessus du territoire terrestre et maritime de l’Etat. </a:t>
            </a:r>
          </a:p>
          <a:p>
            <a:pPr marL="514350" indent="-514350" algn="just">
              <a:lnSpc>
                <a:spcPct val="150000"/>
              </a:lnSpc>
              <a:buNone/>
            </a:pPr>
            <a:r>
              <a:rPr lang="fr-FR" dirty="0"/>
              <a:t>	La souveraineté de l’Etat sur cet espace signifie juridiquement que ce dernier est sa propriété, sur laquelle il dispose d’une compétence juridique et administrative exclusive. (le droit  national y est appliqué de manière exclusive)</a:t>
            </a: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071546"/>
          </a:xfrm>
        </p:spPr>
        <p:txBody>
          <a:bodyPr/>
          <a:lstStyle/>
          <a:p>
            <a:pPr algn="ctr"/>
            <a:r>
              <a:rPr lang="fr-FR" b="1" i="1" dirty="0">
                <a:solidFill>
                  <a:srgbClr val="FFFF00"/>
                </a:solidFill>
              </a:rPr>
              <a:t>B.</a:t>
            </a:r>
            <a:r>
              <a:rPr lang="fr-FR" b="1" i="1" dirty="0"/>
              <a:t> </a:t>
            </a:r>
            <a:r>
              <a:rPr lang="fr-FR" b="1" i="1" dirty="0">
                <a:solidFill>
                  <a:srgbClr val="FFFF00"/>
                </a:solidFill>
                <a:latin typeface="+mn-lt"/>
              </a:rPr>
              <a:t>La population</a:t>
            </a:r>
          </a:p>
        </p:txBody>
      </p:sp>
      <p:sp>
        <p:nvSpPr>
          <p:cNvPr id="3" name="Espace réservé du contenu 2"/>
          <p:cNvSpPr>
            <a:spLocks noGrp="1"/>
          </p:cNvSpPr>
          <p:nvPr>
            <p:ph idx="1"/>
          </p:nvPr>
        </p:nvSpPr>
        <p:spPr>
          <a:xfrm>
            <a:off x="0" y="1071546"/>
            <a:ext cx="9144000" cy="5786454"/>
          </a:xfrm>
        </p:spPr>
        <p:txBody>
          <a:bodyPr>
            <a:normAutofit/>
          </a:bodyPr>
          <a:lstStyle/>
          <a:p>
            <a:pPr algn="just">
              <a:buNone/>
            </a:pPr>
            <a:r>
              <a:rPr lang="fr-FR" dirty="0"/>
              <a:t> 	</a:t>
            </a:r>
          </a:p>
          <a:p>
            <a:pPr algn="just">
              <a:lnSpc>
                <a:spcPct val="150000"/>
              </a:lnSpc>
              <a:buNone/>
            </a:pPr>
            <a:r>
              <a:rPr lang="fr-FR" dirty="0"/>
              <a:t>	La population est une communauté d’individus plus ou moins homogène qui partage historiquement le même territoire, les mêmes valeurs et obéit à la même autorité politique. </a:t>
            </a:r>
          </a:p>
          <a:p>
            <a:pPr algn="just">
              <a:lnSpc>
                <a:spcPct val="150000"/>
              </a:lnSpc>
              <a:buNone/>
            </a:pPr>
            <a:r>
              <a:rPr lang="fr-FR" dirty="0"/>
              <a:t>	les constitutionnalistes </a:t>
            </a:r>
            <a:r>
              <a:rPr lang="fr-FR" dirty="0" smtClean="0"/>
              <a:t>ont, </a:t>
            </a:r>
            <a:r>
              <a:rPr lang="fr-FR" dirty="0"/>
              <a:t>depuis le XVIIe  </a:t>
            </a:r>
            <a:r>
              <a:rPr lang="fr-FR" dirty="0" smtClean="0"/>
              <a:t>siècle, </a:t>
            </a:r>
            <a:r>
              <a:rPr lang="fr-FR" dirty="0"/>
              <a:t>confondu l’État avec la nation au point de voir en lui</a:t>
            </a:r>
            <a:r>
              <a:rPr lang="fr-FR" dirty="0" smtClean="0"/>
              <a:t>: «</a:t>
            </a:r>
            <a:r>
              <a:rPr lang="fr-FR" dirty="0"/>
              <a:t> </a:t>
            </a:r>
            <a:r>
              <a:rPr lang="fr-FR" i="1" dirty="0">
                <a:solidFill>
                  <a:srgbClr val="FFFF00"/>
                </a:solidFill>
              </a:rPr>
              <a:t>la personnification juridique de la nation</a:t>
            </a:r>
            <a:r>
              <a:rPr lang="fr-FR" dirty="0">
                <a:solidFill>
                  <a:srgbClr val="FFFF00"/>
                </a:solidFill>
              </a:rPr>
              <a:t> </a:t>
            </a:r>
            <a:r>
              <a:rPr lang="fr-FR" dirty="0"/>
              <a:t>», </a:t>
            </a:r>
            <a:r>
              <a:rPr lang="fr-FR" dirty="0" smtClean="0"/>
              <a:t>(</a:t>
            </a:r>
            <a:r>
              <a:rPr lang="fr-FR" sz="2000" i="1" dirty="0" smtClean="0"/>
              <a:t>A</a:t>
            </a:r>
            <a:r>
              <a:rPr lang="fr-FR" dirty="0"/>
              <a:t>. </a:t>
            </a:r>
            <a:r>
              <a:rPr lang="fr-FR" sz="2400" i="1" dirty="0" smtClean="0"/>
              <a:t>Esmein, </a:t>
            </a:r>
            <a:r>
              <a:rPr lang="fr-FR" sz="2400" i="1" dirty="0"/>
              <a:t>1896, p.1</a:t>
            </a:r>
            <a:r>
              <a:rPr lang="fr-FR" dirty="0"/>
              <a:t>.).</a:t>
            </a:r>
          </a:p>
          <a:p>
            <a:pPr algn="just">
              <a:buNone/>
            </a:pPr>
            <a:r>
              <a:rPr lang="fr-FR" dirty="0"/>
              <a:t>	</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20</a:t>
            </a:fld>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r>
              <a:rPr lang="fr-FR" dirty="0"/>
              <a:t>	</a:t>
            </a:r>
          </a:p>
          <a:p>
            <a:pPr algn="just">
              <a:buNone/>
            </a:pPr>
            <a:endParaRPr lang="fr-FR" dirty="0"/>
          </a:p>
          <a:p>
            <a:pPr algn="just">
              <a:lnSpc>
                <a:spcPct val="150000"/>
              </a:lnSpc>
              <a:buNone/>
            </a:pPr>
            <a:r>
              <a:rPr lang="fr-FR" dirty="0"/>
              <a:t>	</a:t>
            </a:r>
            <a:r>
              <a:rPr lang="fr-FR" sz="2800" dirty="0"/>
              <a:t>La nation serait alors un groupement social ayant pris conscience de son unité morale et de ses intérêts, et constitue de ce fait la substance humaine de l’État. </a:t>
            </a:r>
          </a:p>
          <a:p>
            <a:pPr algn="just">
              <a:lnSpc>
                <a:spcPct val="150000"/>
              </a:lnSpc>
              <a:buNone/>
            </a:pPr>
            <a:r>
              <a:rPr lang="fr-FR" sz="2800" dirty="0"/>
              <a:t>	Une population disparate, ne peut à elle seule former un État. Il lui faut une dimension qualitative majeure pour le faire: devenir une entité humaine dotée d’une mémoire et d’une volonté souveraine. </a:t>
            </a:r>
            <a:r>
              <a:rPr lang="fr-FR" sz="3200" dirty="0"/>
              <a:t>Il </a:t>
            </a:r>
            <a:r>
              <a:rPr lang="fr-FR" sz="2800" dirty="0"/>
              <a:t>existe deux définitions de la nation:</a:t>
            </a: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21</a:t>
            </a:fld>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buNone/>
            </a:pPr>
            <a:r>
              <a:rPr lang="fr-FR" dirty="0"/>
              <a:t>	</a:t>
            </a:r>
          </a:p>
          <a:p>
            <a:pPr algn="ctr">
              <a:buNone/>
            </a:pPr>
            <a:endParaRPr lang="fr-MA" b="1" dirty="0"/>
          </a:p>
          <a:p>
            <a:pPr algn="ctr">
              <a:buNone/>
            </a:pPr>
            <a:r>
              <a:rPr lang="fr-MA" b="1" dirty="0">
                <a:solidFill>
                  <a:srgbClr val="FFFF00"/>
                </a:solidFill>
              </a:rPr>
              <a:t>Encadré </a:t>
            </a:r>
            <a:r>
              <a:rPr lang="fr-MA" b="1" dirty="0" smtClean="0">
                <a:solidFill>
                  <a:srgbClr val="FFFF00"/>
                </a:solidFill>
              </a:rPr>
              <a:t>N°</a:t>
            </a:r>
            <a:r>
              <a:rPr lang="fr-FR" b="1" dirty="0" smtClean="0">
                <a:solidFill>
                  <a:srgbClr val="FFFF00"/>
                </a:solidFill>
              </a:rPr>
              <a:t>1</a:t>
            </a:r>
            <a:endParaRPr lang="fr-FR" b="1" dirty="0">
              <a:solidFill>
                <a:srgbClr val="FFFF00"/>
              </a:solidFill>
            </a:endParaRPr>
          </a:p>
          <a:p>
            <a:pPr algn="just">
              <a:lnSpc>
                <a:spcPct val="150000"/>
              </a:lnSpc>
              <a:buNone/>
            </a:pPr>
            <a:r>
              <a:rPr lang="fr-FR" dirty="0"/>
              <a:t>	la nation « (…) </a:t>
            </a:r>
            <a:r>
              <a:rPr lang="fr-FR" i="1" dirty="0">
                <a:solidFill>
                  <a:srgbClr val="FFFF00"/>
                </a:solidFill>
              </a:rPr>
              <a:t>est une population nommée qui partage historiquement un territoire, des mémoires et des mythes communs, une culture publique standardisée, une économie et des droits légaux ainsi que des devoirs pour tous les membres de la collectivité</a:t>
            </a:r>
            <a:r>
              <a:rPr lang="fr-FR" dirty="0">
                <a:solidFill>
                  <a:srgbClr val="FFFF00"/>
                </a:solidFill>
              </a:rPr>
              <a:t> </a:t>
            </a:r>
            <a:r>
              <a:rPr lang="fr-FR" dirty="0"/>
              <a:t>».  (</a:t>
            </a:r>
            <a:r>
              <a:rPr lang="en-US" dirty="0"/>
              <a:t>Anthony. D. </a:t>
            </a:r>
            <a:r>
              <a:rPr lang="en-US" dirty="0" smtClean="0"/>
              <a:t>Smith, </a:t>
            </a:r>
            <a:r>
              <a:rPr lang="en-US" dirty="0"/>
              <a:t>1993, p. 14.)</a:t>
            </a:r>
            <a:endParaRPr lang="fr-FR" dirty="0"/>
          </a:p>
          <a:p>
            <a:pPr>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0" indent="0" algn="just">
              <a:buNone/>
            </a:pPr>
            <a:endParaRPr lang="fr-FR" b="1" dirty="0"/>
          </a:p>
          <a:p>
            <a:pPr marL="514350" indent="-514350" algn="just">
              <a:buClr>
                <a:srgbClr val="FF0000"/>
              </a:buClr>
              <a:buFont typeface="+mj-lt"/>
              <a:buAutoNum type="arabicPeriod"/>
            </a:pPr>
            <a:r>
              <a:rPr lang="fr-FR" b="1" i="1" dirty="0">
                <a:solidFill>
                  <a:srgbClr val="FFFF00"/>
                </a:solidFill>
              </a:rPr>
              <a:t>Une définition objective de la Nation </a:t>
            </a:r>
            <a:r>
              <a:rPr lang="fr-FR" b="1" dirty="0"/>
              <a:t>( </a:t>
            </a:r>
            <a:r>
              <a:rPr lang="fr-FR" b="1" i="1" dirty="0"/>
              <a:t>jus sanguinis</a:t>
            </a:r>
            <a:r>
              <a:rPr lang="fr-FR" b="1" dirty="0"/>
              <a:t>) </a:t>
            </a:r>
          </a:p>
          <a:p>
            <a:pPr marL="514350" indent="-514350" algn="just">
              <a:lnSpc>
                <a:spcPct val="150000"/>
              </a:lnSpc>
              <a:buClr>
                <a:srgbClr val="FF0000"/>
              </a:buClr>
              <a:buNone/>
            </a:pPr>
            <a:r>
              <a:rPr lang="fr-FR" dirty="0"/>
              <a:t>	La nation est un communauté d’individus dotée d’un certain nombre de caractéristiques communes comme: </a:t>
            </a:r>
            <a:endParaRPr lang="fr-FR" dirty="0" smtClean="0"/>
          </a:p>
          <a:p>
            <a:pPr lvl="1" algn="just">
              <a:lnSpc>
                <a:spcPct val="150000"/>
              </a:lnSpc>
              <a:buClr>
                <a:srgbClr val="FF0000"/>
              </a:buClr>
              <a:buFont typeface="Constantia" pitchFamily="18" charset="0"/>
              <a:buChar char="‐"/>
            </a:pPr>
            <a:r>
              <a:rPr lang="fr-FR" dirty="0" smtClean="0"/>
              <a:t>la </a:t>
            </a:r>
            <a:r>
              <a:rPr lang="fr-FR" dirty="0"/>
              <a:t>langue, </a:t>
            </a:r>
            <a:endParaRPr lang="fr-FR" dirty="0" smtClean="0"/>
          </a:p>
          <a:p>
            <a:pPr lvl="1" algn="just">
              <a:lnSpc>
                <a:spcPct val="150000"/>
              </a:lnSpc>
              <a:buClr>
                <a:srgbClr val="FF0000"/>
              </a:buClr>
              <a:buFont typeface="Constantia" pitchFamily="18" charset="0"/>
              <a:buChar char="‐"/>
            </a:pPr>
            <a:r>
              <a:rPr lang="fr-FR" dirty="0" smtClean="0"/>
              <a:t>la </a:t>
            </a:r>
            <a:r>
              <a:rPr lang="fr-FR" dirty="0"/>
              <a:t>religion, </a:t>
            </a:r>
            <a:endParaRPr lang="fr-FR" dirty="0" smtClean="0"/>
          </a:p>
          <a:p>
            <a:pPr lvl="1" algn="just">
              <a:lnSpc>
                <a:spcPct val="150000"/>
              </a:lnSpc>
              <a:buClr>
                <a:srgbClr val="FF0000"/>
              </a:buClr>
              <a:buFont typeface="Constantia" pitchFamily="18" charset="0"/>
              <a:buChar char="‐"/>
            </a:pPr>
            <a:r>
              <a:rPr lang="fr-FR" dirty="0" smtClean="0"/>
              <a:t>la </a:t>
            </a:r>
            <a:r>
              <a:rPr lang="fr-FR" dirty="0"/>
              <a:t>race, </a:t>
            </a:r>
            <a:endParaRPr lang="fr-FR" dirty="0" smtClean="0"/>
          </a:p>
          <a:p>
            <a:pPr lvl="1" algn="just">
              <a:lnSpc>
                <a:spcPct val="150000"/>
              </a:lnSpc>
              <a:buClr>
                <a:srgbClr val="FF0000"/>
              </a:buClr>
              <a:buFont typeface="Constantia" pitchFamily="18" charset="0"/>
              <a:buChar char="‐"/>
            </a:pPr>
            <a:r>
              <a:rPr lang="fr-FR" dirty="0" smtClean="0"/>
              <a:t>une </a:t>
            </a:r>
            <a:r>
              <a:rPr lang="fr-FR" dirty="0"/>
              <a:t>histoire et un avenir commun. </a:t>
            </a:r>
            <a:endParaRPr lang="fr-FR" dirty="0" smtClean="0"/>
          </a:p>
          <a:p>
            <a:pPr marL="0" indent="0" algn="just">
              <a:buClr>
                <a:srgbClr val="FF0000"/>
              </a:buClr>
              <a:buNone/>
            </a:pPr>
            <a:r>
              <a:rPr lang="fr-FR" dirty="0" smtClean="0"/>
              <a:t>Bref</a:t>
            </a:r>
            <a:r>
              <a:rPr lang="fr-FR" dirty="0"/>
              <a:t>, elle est dotée d’une conscience propre de sa personnalité morale et de ses intérêts.(</a:t>
            </a:r>
            <a:r>
              <a:rPr lang="fr-FR" sz="2800" i="1" dirty="0"/>
              <a:t>M</a:t>
            </a:r>
            <a:r>
              <a:rPr lang="fr-FR" sz="2800" i="1" dirty="0" smtClean="0"/>
              <a:t>. Hauriou</a:t>
            </a:r>
            <a:r>
              <a:rPr lang="fr-FR" sz="2800" i="1" dirty="0"/>
              <a:t>, 1930,p.6 et </a:t>
            </a:r>
            <a:r>
              <a:rPr lang="fr-FR" sz="2800" i="1" dirty="0" err="1"/>
              <a:t>suiv</a:t>
            </a:r>
            <a:r>
              <a:rPr lang="fr-FR" sz="2800" i="1" dirty="0"/>
              <a:t>.) </a:t>
            </a:r>
            <a:endParaRPr lang="fr-FR" i="1"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23</a:t>
            </a:fld>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08504" cy="6858000"/>
          </a:xfrm>
        </p:spPr>
        <p:txBody>
          <a:bodyPr/>
          <a:lstStyle/>
          <a:p>
            <a:pPr marL="514350" indent="-514350" algn="just">
              <a:buClr>
                <a:srgbClr val="FF0000"/>
              </a:buClr>
              <a:buFont typeface="+mj-lt"/>
              <a:buAutoNum type="arabicPeriod" startAt="2"/>
            </a:pPr>
            <a:endParaRPr lang="fr-MA" b="1" i="1" dirty="0" smtClean="0">
              <a:solidFill>
                <a:srgbClr val="FFFF00"/>
              </a:solidFill>
            </a:endParaRPr>
          </a:p>
          <a:p>
            <a:pPr marL="514350" indent="-514350" algn="just">
              <a:buClr>
                <a:srgbClr val="FF0000"/>
              </a:buClr>
              <a:buFont typeface="+mj-lt"/>
              <a:buAutoNum type="arabicPeriod" startAt="2"/>
            </a:pPr>
            <a:endParaRPr lang="fr-MA" b="1" i="1" dirty="0">
              <a:solidFill>
                <a:srgbClr val="FFFF00"/>
              </a:solidFill>
            </a:endParaRPr>
          </a:p>
          <a:p>
            <a:pPr marL="514350" indent="-514350" algn="just">
              <a:buClr>
                <a:srgbClr val="FF0000"/>
              </a:buClr>
              <a:buFont typeface="+mj-lt"/>
              <a:buAutoNum type="arabicPeriod" startAt="2"/>
            </a:pPr>
            <a:r>
              <a:rPr lang="fr-MA" b="1" i="1" dirty="0" smtClean="0">
                <a:solidFill>
                  <a:srgbClr val="FFFF00"/>
                </a:solidFill>
              </a:rPr>
              <a:t>Une </a:t>
            </a:r>
            <a:r>
              <a:rPr lang="fr-MA" b="1" i="1" dirty="0">
                <a:solidFill>
                  <a:srgbClr val="FFFF00"/>
                </a:solidFill>
              </a:rPr>
              <a:t>définition subjective </a:t>
            </a:r>
            <a:r>
              <a:rPr lang="fr-MA" b="1" dirty="0"/>
              <a:t>( </a:t>
            </a:r>
            <a:r>
              <a:rPr lang="fr-MA" b="1" i="1" dirty="0"/>
              <a:t>jus </a:t>
            </a:r>
            <a:r>
              <a:rPr lang="fr-MA" b="1" i="1" dirty="0" err="1"/>
              <a:t>Solis</a:t>
            </a:r>
            <a:r>
              <a:rPr lang="fr-MA" b="1" dirty="0"/>
              <a:t>)</a:t>
            </a:r>
            <a:endParaRPr lang="fr-FR" dirty="0"/>
          </a:p>
          <a:p>
            <a:pPr algn="just">
              <a:lnSpc>
                <a:spcPct val="150000"/>
              </a:lnSpc>
              <a:buClr>
                <a:srgbClr val="FF0000"/>
              </a:buClr>
              <a:buNone/>
            </a:pPr>
            <a:r>
              <a:rPr lang="fr-FR" dirty="0"/>
              <a:t>	Selon Ernest Renan, ce qui distingue une nation ce n’est ni la race, ni la langue, ni la religion. </a:t>
            </a:r>
            <a:endParaRPr lang="fr-FR" dirty="0" smtClean="0"/>
          </a:p>
          <a:p>
            <a:pPr algn="just">
              <a:lnSpc>
                <a:spcPct val="150000"/>
              </a:lnSpc>
              <a:buClr>
                <a:srgbClr val="FF0000"/>
              </a:buClr>
              <a:buNone/>
            </a:pPr>
            <a:r>
              <a:rPr lang="fr-FR" dirty="0" smtClean="0"/>
              <a:t>Son </a:t>
            </a:r>
            <a:r>
              <a:rPr lang="fr-FR" dirty="0"/>
              <a:t>existence… «</a:t>
            </a:r>
            <a:r>
              <a:rPr lang="fr-FR" i="1" dirty="0">
                <a:solidFill>
                  <a:srgbClr val="FFFF00"/>
                </a:solidFill>
              </a:rPr>
              <a:t>est un plébiscite de tous les jours </a:t>
            </a:r>
            <a:r>
              <a:rPr lang="fr-FR" dirty="0"/>
              <a:t>». </a:t>
            </a:r>
          </a:p>
          <a:p>
            <a:pPr algn="just">
              <a:lnSpc>
                <a:spcPct val="150000"/>
              </a:lnSpc>
              <a:buClr>
                <a:srgbClr val="FF0000"/>
              </a:buClr>
              <a:buNone/>
            </a:pPr>
            <a:r>
              <a:rPr lang="fr-FR" dirty="0"/>
              <a:t>	Elle se base sur deux éléments majeurs: </a:t>
            </a:r>
            <a:endParaRPr lang="fr-FR" dirty="0" smtClean="0"/>
          </a:p>
          <a:p>
            <a:pPr algn="just">
              <a:lnSpc>
                <a:spcPct val="150000"/>
              </a:lnSpc>
              <a:buClr>
                <a:srgbClr val="FF0000"/>
              </a:buClr>
            </a:pPr>
            <a:r>
              <a:rPr lang="fr-FR" dirty="0" smtClean="0"/>
              <a:t>Un </a:t>
            </a:r>
            <a:r>
              <a:rPr lang="fr-FR" dirty="0"/>
              <a:t>passé commun </a:t>
            </a:r>
            <a:r>
              <a:rPr lang="fr-FR" dirty="0" smtClean="0"/>
              <a:t>( </a:t>
            </a:r>
            <a:r>
              <a:rPr lang="fr-FR" dirty="0"/>
              <a:t>souvenir de grandeur) </a:t>
            </a:r>
            <a:endParaRPr lang="fr-FR" dirty="0" smtClean="0"/>
          </a:p>
          <a:p>
            <a:pPr algn="just">
              <a:lnSpc>
                <a:spcPct val="150000"/>
              </a:lnSpc>
              <a:buClr>
                <a:srgbClr val="FF0000"/>
              </a:buClr>
            </a:pPr>
            <a:r>
              <a:rPr lang="fr-FR" dirty="0" smtClean="0"/>
              <a:t>et </a:t>
            </a:r>
            <a:r>
              <a:rPr lang="fr-FR" dirty="0"/>
              <a:t>un désire de vivre en semble. </a:t>
            </a:r>
          </a:p>
          <a:p>
            <a:pPr marL="0" indent="0"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24</a:t>
            </a:fld>
            <a:endParaRPr lang="fr-FR"/>
          </a:p>
        </p:txBody>
      </p:sp>
    </p:spTree>
    <p:extLst>
      <p:ext uri="{BB962C8B-B14F-4D97-AF65-F5344CB8AC3E}">
        <p14:creationId xmlns:p14="http://schemas.microsoft.com/office/powerpoint/2010/main" val="2448776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2984"/>
          </a:xfrm>
        </p:spPr>
        <p:txBody>
          <a:bodyPr>
            <a:noAutofit/>
          </a:bodyPr>
          <a:lstStyle/>
          <a:p>
            <a:pPr lvl="0" algn="ctr"/>
            <a:r>
              <a:rPr lang="fr-CA" sz="3200" b="1" dirty="0">
                <a:latin typeface="+mn-lt"/>
              </a:rPr>
              <a:t/>
            </a:r>
            <a:br>
              <a:rPr lang="fr-CA" sz="3200" b="1" dirty="0">
                <a:latin typeface="+mn-lt"/>
              </a:rPr>
            </a:br>
            <a:r>
              <a:rPr lang="fr-CA" sz="3200" b="1" dirty="0">
                <a:latin typeface="+mn-lt"/>
              </a:rPr>
              <a:t/>
            </a:r>
            <a:br>
              <a:rPr lang="fr-CA" sz="3200" b="1" dirty="0">
                <a:latin typeface="+mn-lt"/>
              </a:rPr>
            </a:br>
            <a:r>
              <a:rPr lang="fr-CA" sz="3200" b="1" dirty="0">
                <a:latin typeface="+mn-lt"/>
              </a:rPr>
              <a:t/>
            </a:r>
            <a:br>
              <a:rPr lang="fr-CA" sz="3200" b="1" dirty="0">
                <a:latin typeface="+mn-lt"/>
              </a:rPr>
            </a:br>
            <a:r>
              <a:rPr lang="fr-CA" sz="3200" b="1" dirty="0">
                <a:latin typeface="+mn-lt"/>
              </a:rPr>
              <a:t/>
            </a:r>
            <a:br>
              <a:rPr lang="fr-CA" sz="3200" b="1" dirty="0">
                <a:latin typeface="+mn-lt"/>
              </a:rPr>
            </a:br>
            <a:r>
              <a:rPr lang="fr-CA" sz="3200" b="1" dirty="0">
                <a:latin typeface="+mn-lt"/>
              </a:rPr>
              <a:t/>
            </a:r>
            <a:br>
              <a:rPr lang="fr-CA" sz="3200" b="1" dirty="0">
                <a:latin typeface="+mn-lt"/>
              </a:rPr>
            </a:br>
            <a:r>
              <a:rPr lang="fr-CA" sz="3200" b="1" dirty="0">
                <a:latin typeface="+mn-lt"/>
              </a:rPr>
              <a:t/>
            </a:r>
            <a:br>
              <a:rPr lang="fr-CA" sz="3200" b="1" dirty="0">
                <a:latin typeface="+mn-lt"/>
              </a:rPr>
            </a:br>
            <a:r>
              <a:rPr lang="fr-CA" sz="3200" b="1" dirty="0" smtClean="0">
                <a:latin typeface="+mn-lt"/>
              </a:rPr>
              <a:t/>
            </a:r>
            <a:br>
              <a:rPr lang="fr-CA" sz="3200" b="1" dirty="0" smtClean="0">
                <a:latin typeface="+mn-lt"/>
              </a:rPr>
            </a:br>
            <a:r>
              <a:rPr lang="fr-CA" sz="3200" b="1" dirty="0" smtClean="0">
                <a:latin typeface="+mn-lt"/>
              </a:rPr>
              <a:t/>
            </a:r>
            <a:br>
              <a:rPr lang="fr-CA" sz="3200" b="1" dirty="0" smtClean="0">
                <a:latin typeface="+mn-lt"/>
              </a:rPr>
            </a:br>
            <a:r>
              <a:rPr lang="fr-CA" sz="3200" b="1" dirty="0" smtClean="0">
                <a:latin typeface="+mn-lt"/>
              </a:rPr>
              <a:t/>
            </a:r>
            <a:br>
              <a:rPr lang="fr-CA" sz="3200" b="1" dirty="0" smtClean="0">
                <a:latin typeface="+mn-lt"/>
              </a:rPr>
            </a:br>
            <a:r>
              <a:rPr lang="fr-CA" sz="3200" b="1" dirty="0">
                <a:latin typeface="+mn-lt"/>
              </a:rPr>
              <a:t/>
            </a:r>
            <a:br>
              <a:rPr lang="fr-CA" sz="3200" b="1" dirty="0">
                <a:latin typeface="+mn-lt"/>
              </a:rPr>
            </a:br>
            <a:r>
              <a:rPr lang="fr-CA" sz="3200" b="1" dirty="0" smtClean="0">
                <a:latin typeface="+mn-lt"/>
              </a:rPr>
              <a:t/>
            </a:r>
            <a:br>
              <a:rPr lang="fr-CA" sz="3200" b="1" dirty="0" smtClean="0">
                <a:latin typeface="+mn-lt"/>
              </a:rPr>
            </a:br>
            <a:r>
              <a:rPr lang="fr-CA" sz="3200" b="1" dirty="0">
                <a:latin typeface="+mn-lt"/>
              </a:rPr>
              <a:t/>
            </a:r>
            <a:br>
              <a:rPr lang="fr-CA" sz="3200" b="1" dirty="0">
                <a:latin typeface="+mn-lt"/>
              </a:rPr>
            </a:br>
            <a:r>
              <a:rPr lang="fr-CA" sz="3200" b="1" dirty="0" smtClean="0">
                <a:solidFill>
                  <a:srgbClr val="FFFF00"/>
                </a:solidFill>
                <a:latin typeface="+mn-lt"/>
              </a:rPr>
              <a:t>C</a:t>
            </a:r>
            <a:r>
              <a:rPr lang="fr-CA" sz="3200" b="1" dirty="0">
                <a:solidFill>
                  <a:srgbClr val="FFFF00"/>
                </a:solidFill>
                <a:latin typeface="+mn-lt"/>
              </a:rPr>
              <a:t>. </a:t>
            </a:r>
            <a:r>
              <a:rPr lang="fr-CA" sz="3200" b="1" i="1" dirty="0">
                <a:solidFill>
                  <a:srgbClr val="FFFF00"/>
                </a:solidFill>
                <a:latin typeface="+mn-lt"/>
              </a:rPr>
              <a:t>La puissance publique souveraine</a:t>
            </a:r>
            <a:r>
              <a:rPr lang="fr-FR" sz="4400" dirty="0">
                <a:latin typeface="+mn-lt"/>
              </a:rPr>
              <a:t/>
            </a:r>
            <a:br>
              <a:rPr lang="fr-FR" sz="4400" dirty="0">
                <a:latin typeface="+mn-lt"/>
              </a:rPr>
            </a:br>
            <a:endParaRPr lang="fr-FR" sz="4400" dirty="0">
              <a:latin typeface="+mn-lt"/>
            </a:endParaRPr>
          </a:p>
        </p:txBody>
      </p:sp>
      <p:sp>
        <p:nvSpPr>
          <p:cNvPr id="3" name="Espace réservé du contenu 2"/>
          <p:cNvSpPr>
            <a:spLocks noGrp="1"/>
          </p:cNvSpPr>
          <p:nvPr>
            <p:ph idx="1"/>
          </p:nvPr>
        </p:nvSpPr>
        <p:spPr>
          <a:xfrm>
            <a:off x="0" y="1000108"/>
            <a:ext cx="9144000" cy="5857892"/>
          </a:xfrm>
        </p:spPr>
        <p:txBody>
          <a:bodyPr>
            <a:normAutofit fontScale="92500" lnSpcReduction="10000"/>
          </a:bodyPr>
          <a:lstStyle/>
          <a:p>
            <a:pPr algn="just">
              <a:lnSpc>
                <a:spcPct val="150000"/>
              </a:lnSpc>
              <a:buNone/>
            </a:pPr>
            <a:r>
              <a:rPr lang="fr-FR" dirty="0"/>
              <a:t>	</a:t>
            </a:r>
            <a:r>
              <a:rPr lang="fr-FR" dirty="0" smtClean="0"/>
              <a:t>La </a:t>
            </a:r>
            <a:r>
              <a:rPr lang="fr-FR" dirty="0"/>
              <a:t>puissance publique, est l’autorité de commandement qui agit exclusivement au nom de l’État. Elle est dotée d’une administration, qui exécute ses décisions et volontés. Elle détient dans ce sens le pouvoir et le monopole de la violence légitime. Bref; elle est selon J. Bodin « </a:t>
            </a:r>
            <a:r>
              <a:rPr lang="fr-FR" dirty="0">
                <a:solidFill>
                  <a:srgbClr val="FFFF00"/>
                </a:solidFill>
              </a:rPr>
              <a:t>la puissance absolue et perpétuelle de l’Etat</a:t>
            </a:r>
            <a:r>
              <a:rPr lang="fr-FR" dirty="0"/>
              <a:t> </a:t>
            </a:r>
            <a:r>
              <a:rPr lang="fr-FR" dirty="0" smtClean="0"/>
              <a:t>»,</a:t>
            </a:r>
          </a:p>
          <a:p>
            <a:pPr algn="just">
              <a:lnSpc>
                <a:spcPct val="150000"/>
              </a:lnSpc>
              <a:buNone/>
            </a:pPr>
            <a:r>
              <a:rPr lang="fr-FR" smtClean="0"/>
              <a:t>  </a:t>
            </a:r>
            <a:r>
              <a:rPr lang="fr-FR"/>
              <a:t>Selon </a:t>
            </a:r>
            <a:r>
              <a:rPr lang="fr-FR" smtClean="0"/>
              <a:t>Léon </a:t>
            </a:r>
            <a:r>
              <a:rPr lang="fr-FR" dirty="0"/>
              <a:t>Duguit « </a:t>
            </a:r>
            <a:r>
              <a:rPr lang="fr-FR" i="1" dirty="0">
                <a:solidFill>
                  <a:srgbClr val="FFFF00"/>
                </a:solidFill>
              </a:rPr>
              <a:t>on peut dire que dans toutes les sociétés humaines, grandes ou petites, primitives ou civilisées, il y a une différenciation entre gouvernants et gouvernés, et à cela seulement se réduit au fond ce qu’on appelle la puissance publique</a:t>
            </a:r>
            <a:r>
              <a:rPr lang="fr-FR" i="1" dirty="0"/>
              <a:t>.</a:t>
            </a:r>
            <a:r>
              <a:rPr lang="fr-FR" dirty="0"/>
              <a:t> » (Duguit, TI, p.535). </a:t>
            </a: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buNone/>
            </a:pPr>
            <a:r>
              <a:rPr lang="fr-FR" dirty="0"/>
              <a:t> </a:t>
            </a:r>
          </a:p>
          <a:p>
            <a:pPr algn="just">
              <a:lnSpc>
                <a:spcPct val="150000"/>
              </a:lnSpc>
              <a:buNone/>
            </a:pPr>
            <a:r>
              <a:rPr lang="fr-FR" dirty="0"/>
              <a:t>	sur le plan juridique, la souveraineté de l’État n’est autre que le pouvoir de commander et de contraindre sans être commandé ou contraint par qui que ce soit à l’intérieur comme à l’extérieur.</a:t>
            </a:r>
          </a:p>
          <a:p>
            <a:pPr algn="just">
              <a:lnSpc>
                <a:spcPct val="150000"/>
              </a:lnSpc>
              <a:buNone/>
            </a:pPr>
            <a:r>
              <a:rPr lang="fr-MA" dirty="0"/>
              <a:t>	En doit constitutionnel, la souveraineté appartient au peuple, qui l’exerce directement ou indirectement. Cela signifie que le pouvoir appartient au peuple, et non aux gouvernants ou à Dieu, comme dans le cas des monarchies absolues ou des régimes </a:t>
            </a:r>
            <a:r>
              <a:rPr lang="fr-MA" dirty="0" smtClean="0"/>
              <a:t>théocratiques, </a:t>
            </a:r>
            <a:r>
              <a:rPr lang="fr-MA" dirty="0"/>
              <a:t>où le pouvoir </a:t>
            </a:r>
            <a:r>
              <a:rPr lang="fr-MA" dirty="0" smtClean="0"/>
              <a:t>appartient </a:t>
            </a:r>
            <a:r>
              <a:rPr lang="fr-MA" dirty="0"/>
              <a:t>à Dieu, </a:t>
            </a:r>
            <a:r>
              <a:rPr lang="fr-MA" dirty="0" smtClean="0"/>
              <a:t>et </a:t>
            </a:r>
            <a:r>
              <a:rPr lang="fr-MA" dirty="0"/>
              <a:t>où le peuple n’a aucun droit de commandement ou même de désobéissance ou de résistance. </a:t>
            </a:r>
            <a:endParaRPr lang="fr-FR" dirty="0"/>
          </a:p>
          <a:p>
            <a:pPr algn="just">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26</a:t>
            </a:fld>
            <a:endParaRPr lang="fr-F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r>
              <a:rPr lang="fr-FR" dirty="0"/>
              <a:t>	</a:t>
            </a:r>
          </a:p>
          <a:p>
            <a:pPr algn="just">
              <a:lnSpc>
                <a:spcPct val="150000"/>
              </a:lnSpc>
              <a:buNone/>
            </a:pPr>
            <a:r>
              <a:rPr lang="fr-FR" dirty="0"/>
              <a:t>	</a:t>
            </a:r>
            <a:endParaRPr lang="fr-FR" dirty="0" smtClean="0"/>
          </a:p>
          <a:p>
            <a:pPr algn="just">
              <a:lnSpc>
                <a:spcPct val="150000"/>
              </a:lnSpc>
              <a:buNone/>
            </a:pPr>
            <a:r>
              <a:rPr lang="fr-FR" dirty="0" smtClean="0"/>
              <a:t>En </a:t>
            </a:r>
            <a:r>
              <a:rPr lang="fr-FR" dirty="0"/>
              <a:t>Droit </a:t>
            </a:r>
            <a:r>
              <a:rPr lang="fr-FR" dirty="0" smtClean="0"/>
              <a:t>constitutionnel, </a:t>
            </a:r>
            <a:r>
              <a:rPr lang="fr-FR" dirty="0"/>
              <a:t>la souveraineté de </a:t>
            </a:r>
            <a:r>
              <a:rPr lang="fr-FR" dirty="0" smtClean="0"/>
              <a:t>l’État </a:t>
            </a:r>
            <a:r>
              <a:rPr lang="fr-FR" dirty="0"/>
              <a:t>se ramène à cette double </a:t>
            </a:r>
            <a:r>
              <a:rPr lang="fr-FR" dirty="0" smtClean="0"/>
              <a:t>idée que:</a:t>
            </a:r>
          </a:p>
          <a:p>
            <a:pPr algn="just">
              <a:lnSpc>
                <a:spcPct val="150000"/>
              </a:lnSpc>
              <a:buFont typeface="Wingdings" pitchFamily="2" charset="2"/>
              <a:buChar char="v"/>
            </a:pPr>
            <a:r>
              <a:rPr lang="fr-FR" dirty="0" smtClean="0"/>
              <a:t> </a:t>
            </a:r>
            <a:r>
              <a:rPr lang="fr-FR" dirty="0"/>
              <a:t>l’État dispose de l’autorité suprême et absolue dans l’ordre juridique interne; </a:t>
            </a:r>
            <a:endParaRPr lang="fr-FR" dirty="0" smtClean="0"/>
          </a:p>
          <a:p>
            <a:pPr algn="just">
              <a:lnSpc>
                <a:spcPct val="150000"/>
              </a:lnSpc>
              <a:buFont typeface="Wingdings" pitchFamily="2" charset="2"/>
              <a:buChar char="v"/>
            </a:pPr>
            <a:r>
              <a:rPr lang="fr-FR" dirty="0" smtClean="0"/>
              <a:t>et </a:t>
            </a:r>
            <a:r>
              <a:rPr lang="fr-FR" dirty="0"/>
              <a:t>qu’il n’est, sur le plan international, soumis à aucun autre sujet de droit international, (Etats ou </a:t>
            </a:r>
            <a:r>
              <a:rPr lang="fr-FR" dirty="0" smtClean="0"/>
              <a:t>institutions internationales</a:t>
            </a:r>
            <a:r>
              <a:rPr lang="fr-FR" dirty="0"/>
              <a:t>)</a:t>
            </a:r>
          </a:p>
          <a:p>
            <a:pPr algn="just">
              <a:lnSpc>
                <a:spcPct val="150000"/>
              </a:lnSpc>
              <a:buNone/>
            </a:pPr>
            <a:r>
              <a:rPr lang="fr-MA" dirty="0"/>
              <a:t>	on distingue de deux types de souveraineté:</a:t>
            </a:r>
          </a:p>
          <a:p>
            <a:pPr algn="just">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13376"/>
          </a:xfrm>
        </p:spPr>
        <p:txBody>
          <a:bodyPr/>
          <a:lstStyle/>
          <a:p>
            <a:pPr marL="514350" indent="-514350" algn="just">
              <a:lnSpc>
                <a:spcPct val="150000"/>
              </a:lnSpc>
              <a:buFont typeface="Wingdings" pitchFamily="2" charset="2"/>
              <a:buChar char="Ø"/>
            </a:pPr>
            <a:endParaRPr lang="fr-MA" b="1" i="1" dirty="0" smtClean="0"/>
          </a:p>
          <a:p>
            <a:pPr marL="514350" indent="-514350" algn="just">
              <a:lnSpc>
                <a:spcPct val="150000"/>
              </a:lnSpc>
              <a:buFont typeface="Wingdings" pitchFamily="2" charset="2"/>
              <a:buChar char="Ø"/>
            </a:pPr>
            <a:r>
              <a:rPr lang="fr-MA" b="1" i="1" dirty="0" smtClean="0">
                <a:solidFill>
                  <a:srgbClr val="FFFF00"/>
                </a:solidFill>
              </a:rPr>
              <a:t>La </a:t>
            </a:r>
            <a:r>
              <a:rPr lang="fr-MA" b="1" i="1" dirty="0">
                <a:solidFill>
                  <a:srgbClr val="FFFF00"/>
                </a:solidFill>
              </a:rPr>
              <a:t>souveraineté populaire</a:t>
            </a:r>
            <a:r>
              <a:rPr lang="fr-MA" dirty="0"/>
              <a:t>: lorsque les représentants du peuple ne sont que des commissaires qui n’ont aucun pouvoir, indépendamment des électeurs. Résultat: ils sont révoqués chaque fois que les électeurs le décident. </a:t>
            </a:r>
          </a:p>
          <a:p>
            <a:pPr marL="514350" indent="-514350" algn="just">
              <a:lnSpc>
                <a:spcPct val="150000"/>
              </a:lnSpc>
              <a:buFont typeface="Wingdings" pitchFamily="2" charset="2"/>
              <a:buChar char="Ø"/>
            </a:pPr>
            <a:r>
              <a:rPr lang="fr-MA" dirty="0"/>
              <a:t> </a:t>
            </a:r>
            <a:r>
              <a:rPr lang="fr-MA" b="1" i="1" dirty="0">
                <a:solidFill>
                  <a:srgbClr val="FFFF00"/>
                </a:solidFill>
              </a:rPr>
              <a:t>la souveraineté Nationale</a:t>
            </a:r>
            <a:r>
              <a:rPr lang="fr-MA" dirty="0"/>
              <a:t>: les représentants du peuple sont indépendants des électeurs qui les ont mandatés, car ils représentent la nation. Une fois élus, ils ne peuvent être révoqués. </a:t>
            </a:r>
            <a:endParaRPr lang="fr-FR" dirty="0"/>
          </a:p>
          <a:p>
            <a:pPr marL="0" indent="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28</a:t>
            </a:fld>
            <a:endParaRPr lang="fr-FR"/>
          </a:p>
        </p:txBody>
      </p:sp>
    </p:spTree>
    <p:extLst>
      <p:ext uri="{BB962C8B-B14F-4D97-AF65-F5344CB8AC3E}">
        <p14:creationId xmlns:p14="http://schemas.microsoft.com/office/powerpoint/2010/main" val="2816855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000108"/>
          </a:xfrm>
        </p:spPr>
        <p:txBody>
          <a:bodyPr>
            <a:normAutofit/>
          </a:bodyPr>
          <a:lstStyle/>
          <a:p>
            <a:pPr marL="742950" indent="-742950" algn="ctr">
              <a:buFont typeface="+mj-lt"/>
              <a:buAutoNum type="alphaUcPeriod" startAt="4"/>
            </a:pPr>
            <a:r>
              <a:rPr lang="fr-MA" sz="3200" b="1" i="1" dirty="0"/>
              <a:t>La reconnaissance internationale</a:t>
            </a:r>
            <a:endParaRPr lang="fr-FR" sz="3200" b="1" i="1" dirty="0"/>
          </a:p>
        </p:txBody>
      </p:sp>
      <p:sp>
        <p:nvSpPr>
          <p:cNvPr id="3" name="Espace réservé du contenu 2"/>
          <p:cNvSpPr>
            <a:spLocks noGrp="1"/>
          </p:cNvSpPr>
          <p:nvPr>
            <p:ph idx="1"/>
          </p:nvPr>
        </p:nvSpPr>
        <p:spPr>
          <a:xfrm>
            <a:off x="0" y="1214422"/>
            <a:ext cx="9144000" cy="5643578"/>
          </a:xfrm>
        </p:spPr>
        <p:txBody>
          <a:bodyPr>
            <a:normAutofit fontScale="92500" lnSpcReduction="10000"/>
          </a:bodyPr>
          <a:lstStyle/>
          <a:p>
            <a:pPr algn="just">
              <a:buNone/>
            </a:pPr>
            <a:r>
              <a:rPr lang="fr-FR" dirty="0"/>
              <a:t>	La reconnaissance internationale d’un Etat suppose que la communauté internationale, pris individuellement (Etat à Etat), ou collectivement dans le cadre des organisations internationales comme (….) </a:t>
            </a:r>
            <a:r>
              <a:rPr lang="fr-FR" i="1" dirty="0"/>
              <a:t>ONU, UA, UE, UNESCO, BM, OIT, OMS, </a:t>
            </a:r>
            <a:r>
              <a:rPr lang="fr-FR" dirty="0"/>
              <a:t>reconnaissent de droit et de fait, </a:t>
            </a:r>
            <a:r>
              <a:rPr lang="fr-FR" i="1" dirty="0"/>
              <a:t>l'existence</a:t>
            </a:r>
            <a:r>
              <a:rPr lang="fr-FR" dirty="0"/>
              <a:t> d’un Etat comme personne morale sujet de droit international, c.a.d. comme une personne juridique responsable de ses actes devant les autres sujets de droit international. </a:t>
            </a:r>
          </a:p>
          <a:p>
            <a:pPr algn="just">
              <a:buNone/>
            </a:pPr>
            <a:r>
              <a:rPr lang="fr-FR" dirty="0"/>
              <a:t>	l’existence de la population, du territoire et d’une autorité politique, ne suffit pas  pour qu’un Etat puisse réellement exister. Il lui faut la reconnaissance officielle (échange de représentants et reconnaissance au sein de l’ONU) de la communauté internationale, formée essentiellement par les États et les organisations internationales, notamment l’ONU et les organisations régionales, Union Africaine, ligue des États arabes, UE, OIT, UNESCO …etc.</a:t>
            </a: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29</a:t>
            </a:fld>
            <a:endParaRPr lang="fr-F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340768"/>
          </a:xfrm>
        </p:spPr>
        <p:txBody>
          <a:bodyPr>
            <a:normAutofit fontScale="90000"/>
          </a:bodyPr>
          <a:lstStyle/>
          <a:p>
            <a:pPr algn="ctr"/>
            <a:r>
              <a:rPr lang="fr-CA" b="1" i="1" dirty="0">
                <a:solidFill>
                  <a:srgbClr val="FFFF00"/>
                </a:solidFill>
              </a:rPr>
              <a:t>Section II : Les formes de l’État</a:t>
            </a:r>
            <a:r>
              <a:rPr lang="fr-FR" b="1" i="1" dirty="0"/>
              <a:t/>
            </a:r>
            <a:br>
              <a:rPr lang="fr-FR" b="1" i="1" dirty="0"/>
            </a:br>
            <a:endParaRPr lang="fr-FR" b="1" i="1" dirty="0"/>
          </a:p>
        </p:txBody>
      </p:sp>
      <p:sp>
        <p:nvSpPr>
          <p:cNvPr id="3" name="Espace réservé du contenu 2"/>
          <p:cNvSpPr>
            <a:spLocks noGrp="1"/>
          </p:cNvSpPr>
          <p:nvPr>
            <p:ph idx="1"/>
          </p:nvPr>
        </p:nvSpPr>
        <p:spPr>
          <a:xfrm>
            <a:off x="0" y="1785926"/>
            <a:ext cx="9144000" cy="5072074"/>
          </a:xfrm>
        </p:spPr>
        <p:txBody>
          <a:bodyPr/>
          <a:lstStyle/>
          <a:p>
            <a:pPr algn="just">
              <a:lnSpc>
                <a:spcPct val="150000"/>
              </a:lnSpc>
              <a:buNone/>
            </a:pPr>
            <a:r>
              <a:rPr lang="fr-FR" dirty="0"/>
              <a:t>	</a:t>
            </a:r>
            <a:r>
              <a:rPr lang="fr-FR" sz="2800" dirty="0"/>
              <a:t>La classification des Etats en droit constitutionnel se fait à partir du critère de la séparation des pouvoirs qui s’y pratique, et à partir des types de rapports juridiques existants entre l’Etat et son territoire. Ce dernier est unitaire lorsque la séparation des pouvoirs est verticale et il est composé lorsque la séparation des pouvoirs y est horizontale. </a:t>
            </a: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30</a:t>
            </a:fld>
            <a:endParaRPr lang="fr-F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24744"/>
          </a:xfrm>
        </p:spPr>
        <p:txBody>
          <a:bodyPr>
            <a:noAutofit/>
          </a:bodyPr>
          <a:lstStyle/>
          <a:p>
            <a:pPr marL="914400" lvl="0" indent="-914400" algn="ctr">
              <a:buFont typeface="+mj-lt"/>
              <a:buAutoNum type="alphaUcPeriod"/>
            </a:pPr>
            <a:r>
              <a:rPr lang="fr-CA" sz="3600" b="1" i="1" dirty="0">
                <a:solidFill>
                  <a:srgbClr val="FFFF00"/>
                </a:solidFill>
              </a:rPr>
              <a:t>l’État unitaire</a:t>
            </a:r>
            <a:r>
              <a:rPr lang="fr-FR" sz="3600" dirty="0">
                <a:solidFill>
                  <a:srgbClr val="FFFF00"/>
                </a:solidFill>
              </a:rPr>
              <a:t/>
            </a:r>
            <a:br>
              <a:rPr lang="fr-FR" sz="3600" dirty="0">
                <a:solidFill>
                  <a:srgbClr val="FFFF00"/>
                </a:solidFill>
              </a:rPr>
            </a:br>
            <a:endParaRPr lang="fr-FR" sz="3600" dirty="0">
              <a:solidFill>
                <a:srgbClr val="FFFF00"/>
              </a:solidFill>
            </a:endParaRPr>
          </a:p>
        </p:txBody>
      </p:sp>
      <p:sp>
        <p:nvSpPr>
          <p:cNvPr id="3" name="Espace réservé du contenu 2"/>
          <p:cNvSpPr>
            <a:spLocks noGrp="1"/>
          </p:cNvSpPr>
          <p:nvPr>
            <p:ph idx="1"/>
          </p:nvPr>
        </p:nvSpPr>
        <p:spPr>
          <a:xfrm>
            <a:off x="0" y="1214422"/>
            <a:ext cx="9144000" cy="5643578"/>
          </a:xfrm>
        </p:spPr>
        <p:txBody>
          <a:bodyPr>
            <a:normAutofit fontScale="85000" lnSpcReduction="20000"/>
          </a:bodyPr>
          <a:lstStyle/>
          <a:p>
            <a:pPr algn="justLow">
              <a:lnSpc>
                <a:spcPct val="150000"/>
              </a:lnSpc>
              <a:buNone/>
            </a:pPr>
            <a:r>
              <a:rPr lang="fr-FR" dirty="0"/>
              <a:t> 	</a:t>
            </a:r>
            <a:r>
              <a:rPr lang="fr-FR" dirty="0" smtClean="0"/>
              <a:t> </a:t>
            </a:r>
            <a:r>
              <a:rPr lang="fr-FR" dirty="0"/>
              <a:t>l’Etat unitaire </a:t>
            </a:r>
            <a:r>
              <a:rPr lang="fr-FR" dirty="0" smtClean="0"/>
              <a:t>est une forme d’Etat ou le </a:t>
            </a:r>
            <a:r>
              <a:rPr lang="fr-FR" dirty="0"/>
              <a:t>pouvoir politique est centralisé dans la capitale, les citoyens et le territoire obéissent à une même autorité politique centrale et aux mêmes lois. </a:t>
            </a:r>
            <a:endParaRPr lang="fr-FR" dirty="0" smtClean="0"/>
          </a:p>
          <a:p>
            <a:pPr algn="justLow">
              <a:lnSpc>
                <a:spcPct val="150000"/>
              </a:lnSpc>
              <a:buNone/>
            </a:pPr>
            <a:r>
              <a:rPr lang="fr-FR" dirty="0" smtClean="0"/>
              <a:t>	Dans l’État </a:t>
            </a:r>
            <a:r>
              <a:rPr lang="fr-FR" dirty="0"/>
              <a:t>unitaire, les subdivisions </a:t>
            </a:r>
            <a:r>
              <a:rPr lang="fr-FR" dirty="0" smtClean="0"/>
              <a:t>politiques ( comme l’administration territoriale) doivent </a:t>
            </a:r>
            <a:r>
              <a:rPr lang="fr-FR" dirty="0"/>
              <a:t>exécuter les </a:t>
            </a:r>
            <a:r>
              <a:rPr lang="fr-FR" dirty="0" smtClean="0"/>
              <a:t>ordres </a:t>
            </a:r>
            <a:r>
              <a:rPr lang="fr-FR" dirty="0"/>
              <a:t>du gouvernement central </a:t>
            </a:r>
            <a:r>
              <a:rPr lang="fr-FR" dirty="0" smtClean="0"/>
              <a:t>et </a:t>
            </a:r>
            <a:r>
              <a:rPr lang="fr-FR" dirty="0"/>
              <a:t>n'ont </a:t>
            </a:r>
            <a:r>
              <a:rPr lang="fr-FR" dirty="0" smtClean="0"/>
              <a:t>aucun pouvoir </a:t>
            </a:r>
            <a:r>
              <a:rPr lang="fr-FR" dirty="0"/>
              <a:t>d'agir par elles-mêmes.</a:t>
            </a:r>
          </a:p>
          <a:p>
            <a:pPr algn="just">
              <a:lnSpc>
                <a:spcPct val="150000"/>
              </a:lnSpc>
              <a:buNone/>
            </a:pPr>
            <a:r>
              <a:rPr lang="fr-FR" dirty="0"/>
              <a:t>	Dans ce type d’Etat les compétences du pouvoir central sont transférées de manière verticale vers le territoire et l’administration territoriale. Les collectivités et l’administration territoriales (régions; provinces, communes) n’ont </a:t>
            </a:r>
            <a:r>
              <a:rPr lang="fr-FR" dirty="0" smtClean="0"/>
              <a:t>de ce fait, aucune </a:t>
            </a:r>
            <a:r>
              <a:rPr lang="fr-FR" dirty="0"/>
              <a:t>autonomie politique par rapport à l’Etat central. </a:t>
            </a:r>
          </a:p>
          <a:p>
            <a:pPr algn="just">
              <a:lnSpc>
                <a:spcPct val="150000"/>
              </a:lnSpc>
              <a:buNone/>
            </a:pPr>
            <a:r>
              <a:rPr lang="fr-FR"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31</a:t>
            </a:fld>
            <a:endParaRPr lang="fr-F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endParaRPr lang="fr-FR" dirty="0" smtClean="0"/>
          </a:p>
          <a:p>
            <a:pPr algn="just">
              <a:lnSpc>
                <a:spcPct val="150000"/>
              </a:lnSpc>
              <a:buNone/>
            </a:pPr>
            <a:r>
              <a:rPr lang="fr-FR" dirty="0" smtClean="0"/>
              <a:t>Cette </a:t>
            </a:r>
            <a:r>
              <a:rPr lang="fr-FR" dirty="0"/>
              <a:t>forme d’État se caractérise par trois aspects fondamentaux:</a:t>
            </a:r>
          </a:p>
          <a:p>
            <a:pPr lvl="0" algn="just">
              <a:lnSpc>
                <a:spcPct val="150000"/>
              </a:lnSpc>
            </a:pPr>
            <a:r>
              <a:rPr lang="fr-FR" dirty="0"/>
              <a:t>L’unité et l’indivisibilité du pouvoir politique,</a:t>
            </a:r>
          </a:p>
          <a:p>
            <a:pPr lvl="0" algn="just">
              <a:lnSpc>
                <a:spcPct val="150000"/>
              </a:lnSpc>
            </a:pPr>
            <a:r>
              <a:rPr lang="fr-FR" dirty="0"/>
              <a:t>L’indivisibilité du territoire,</a:t>
            </a:r>
          </a:p>
          <a:p>
            <a:pPr lvl="0" algn="just">
              <a:lnSpc>
                <a:spcPct val="150000"/>
              </a:lnSpc>
            </a:pPr>
            <a:r>
              <a:rPr lang="fr-FR" dirty="0"/>
              <a:t>L’indivisibilité du </a:t>
            </a:r>
            <a:r>
              <a:rPr lang="fr-FR" dirty="0" smtClean="0"/>
              <a:t>peuple</a:t>
            </a:r>
          </a:p>
          <a:p>
            <a:pPr marL="0" lvl="0" indent="0" algn="just">
              <a:lnSpc>
                <a:spcPct val="150000"/>
              </a:lnSpc>
              <a:buNone/>
            </a:pPr>
            <a:r>
              <a:rPr lang="fr-FR" dirty="0"/>
              <a:t>C</a:t>
            </a:r>
            <a:r>
              <a:rPr lang="fr-FR" dirty="0" smtClean="0"/>
              <a:t>et unitarisme politique et juridique implique sur l’existence :</a:t>
            </a:r>
          </a:p>
          <a:p>
            <a:pPr algn="just">
              <a:buClr>
                <a:srgbClr val="FFFF00"/>
              </a:buClr>
              <a:buFont typeface="Constantia" pitchFamily="18" charset="0"/>
              <a:buChar char="‐"/>
            </a:pPr>
            <a:r>
              <a:rPr lang="fr-FR" dirty="0" smtClean="0"/>
              <a:t>D’un </a:t>
            </a:r>
            <a:r>
              <a:rPr lang="fr-FR" dirty="0"/>
              <a:t>seul chef </a:t>
            </a:r>
            <a:r>
              <a:rPr lang="fr-FR" dirty="0" smtClean="0"/>
              <a:t>d’État ( président ou monarque), </a:t>
            </a:r>
            <a:endParaRPr lang="fr-FR" dirty="0"/>
          </a:p>
          <a:p>
            <a:pPr algn="just">
              <a:buClr>
                <a:srgbClr val="FFFF00"/>
              </a:buClr>
              <a:buFont typeface="Constantia" pitchFamily="18" charset="0"/>
              <a:buChar char="‐"/>
            </a:pPr>
            <a:r>
              <a:rPr lang="fr-FR" dirty="0" smtClean="0"/>
              <a:t>D’un </a:t>
            </a:r>
            <a:r>
              <a:rPr lang="fr-FR" dirty="0"/>
              <a:t>seul gouvernement</a:t>
            </a:r>
            <a:r>
              <a:rPr lang="fr-FR" dirty="0" smtClean="0"/>
              <a:t>,( Chef de gouvernement et ministres)</a:t>
            </a:r>
            <a:endParaRPr lang="fr-FR" dirty="0"/>
          </a:p>
          <a:p>
            <a:pPr algn="just">
              <a:buClr>
                <a:srgbClr val="FFFF00"/>
              </a:buClr>
              <a:buFont typeface="Constantia" pitchFamily="18" charset="0"/>
              <a:buChar char="‐"/>
            </a:pPr>
            <a:r>
              <a:rPr lang="fr-FR" dirty="0" smtClean="0"/>
              <a:t>D’un </a:t>
            </a:r>
            <a:r>
              <a:rPr lang="fr-FR" dirty="0"/>
              <a:t>seul Parlement</a:t>
            </a:r>
            <a:r>
              <a:rPr lang="fr-FR" dirty="0" smtClean="0"/>
              <a:t>, (une ou deux chambres)</a:t>
            </a:r>
            <a:endParaRPr lang="fr-FR" dirty="0"/>
          </a:p>
          <a:p>
            <a:pPr algn="just">
              <a:buClr>
                <a:srgbClr val="FFFF00"/>
              </a:buClr>
              <a:buFont typeface="Constantia" pitchFamily="18" charset="0"/>
              <a:buChar char="‐"/>
            </a:pPr>
            <a:r>
              <a:rPr lang="fr-FR" dirty="0" smtClean="0"/>
              <a:t>D’une </a:t>
            </a:r>
            <a:r>
              <a:rPr lang="fr-FR" dirty="0"/>
              <a:t>seule organisation juridictionnelle</a:t>
            </a:r>
            <a:r>
              <a:rPr lang="fr-FR" dirty="0" smtClean="0"/>
              <a:t>, (tribunaux de 1</a:t>
            </a:r>
            <a:r>
              <a:rPr lang="fr-FR" baseline="30000" dirty="0" smtClean="0"/>
              <a:t>ère</a:t>
            </a:r>
            <a:r>
              <a:rPr lang="fr-FR" dirty="0" smtClean="0"/>
              <a:t> instance, cours d’appel et une cour  suprême ou de cassation)</a:t>
            </a:r>
            <a:endParaRPr lang="fr-FR" dirty="0"/>
          </a:p>
          <a:p>
            <a:pPr algn="just">
              <a:buClr>
                <a:srgbClr val="FFFF00"/>
              </a:buClr>
              <a:buFont typeface="Constantia" pitchFamily="18" charset="0"/>
              <a:buChar char="‐"/>
            </a:pPr>
            <a:r>
              <a:rPr lang="fr-FR" dirty="0" smtClean="0"/>
              <a:t>D’une </a:t>
            </a:r>
            <a:r>
              <a:rPr lang="fr-FR" dirty="0"/>
              <a:t>seule Constitution,</a:t>
            </a:r>
          </a:p>
          <a:p>
            <a:pPr algn="just">
              <a:buClr>
                <a:srgbClr val="FFFF00"/>
              </a:buClr>
              <a:buFont typeface="Constantia" pitchFamily="18" charset="0"/>
              <a:buChar char="‐"/>
            </a:pPr>
            <a:r>
              <a:rPr lang="fr-FR" dirty="0" smtClean="0"/>
              <a:t>D’une </a:t>
            </a:r>
            <a:r>
              <a:rPr lang="fr-FR" dirty="0"/>
              <a:t>seule législation </a:t>
            </a:r>
            <a:r>
              <a:rPr lang="fr-FR" dirty="0" smtClean="0"/>
              <a:t>applicable.</a:t>
            </a:r>
            <a:endParaRPr lang="fr-FR" dirty="0"/>
          </a:p>
          <a:p>
            <a:pPr marL="0" indent="0"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32</a:t>
            </a:fld>
            <a:endParaRPr lang="fr-FR"/>
          </a:p>
        </p:txBody>
      </p:sp>
    </p:spTree>
    <p:extLst>
      <p:ext uri="{BB962C8B-B14F-4D97-AF65-F5344CB8AC3E}">
        <p14:creationId xmlns:p14="http://schemas.microsoft.com/office/powerpoint/2010/main" val="977259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20000"/>
          </a:bodyPr>
          <a:lstStyle/>
          <a:p>
            <a:pPr algn="just">
              <a:buNone/>
            </a:pPr>
            <a:endParaRPr lang="fr-FR" dirty="0"/>
          </a:p>
          <a:p>
            <a:pPr algn="just">
              <a:buNone/>
            </a:pPr>
            <a:endParaRPr lang="fr-FR" dirty="0"/>
          </a:p>
          <a:p>
            <a:pPr algn="just">
              <a:buNone/>
            </a:pPr>
            <a:r>
              <a:rPr lang="fr-FR" dirty="0"/>
              <a:t>On peut distinguer trois types d’États unitaires : </a:t>
            </a:r>
          </a:p>
          <a:p>
            <a:pPr marL="514350" lvl="0" indent="-514350" algn="just">
              <a:buFont typeface="+mj-lt"/>
              <a:buAutoNum type="alphaLcParenR"/>
            </a:pPr>
            <a:r>
              <a:rPr lang="fr-CA" sz="3000" b="1" i="1" u="sng" dirty="0">
                <a:solidFill>
                  <a:srgbClr val="FFFF00"/>
                </a:solidFill>
              </a:rPr>
              <a:t>L’État unitaire  centralisé</a:t>
            </a:r>
            <a:r>
              <a:rPr lang="fr-CA" dirty="0"/>
              <a:t>: </a:t>
            </a:r>
          </a:p>
          <a:p>
            <a:pPr algn="just">
              <a:lnSpc>
                <a:spcPct val="150000"/>
              </a:lnSpc>
              <a:buNone/>
            </a:pPr>
            <a:r>
              <a:rPr lang="fr-FR" dirty="0"/>
              <a:t>	Dans ce type d’États, les pouvoirs politiques et administratifs sont concentrés </a:t>
            </a:r>
            <a:r>
              <a:rPr lang="fr-FR" dirty="0" smtClean="0"/>
              <a:t>entre </a:t>
            </a:r>
            <a:r>
              <a:rPr lang="fr-FR" dirty="0"/>
              <a:t>les mains des autorités publiques centrales qui peuvent les déléguer aux autres agents locaux de l’État qui n’ont aucun pouvoir propre.</a:t>
            </a:r>
          </a:p>
          <a:p>
            <a:pPr algn="just">
              <a:lnSpc>
                <a:spcPct val="150000"/>
              </a:lnSpc>
              <a:buNone/>
            </a:pPr>
            <a:r>
              <a:rPr lang="fr-FR" dirty="0"/>
              <a:t>	L’État centralisé est souvent un État </a:t>
            </a:r>
            <a:r>
              <a:rPr lang="fr-FR" dirty="0" smtClean="0"/>
              <a:t>déconcentré, </a:t>
            </a:r>
            <a:r>
              <a:rPr lang="fr-FR" dirty="0"/>
              <a:t>au sens où certains de ses </a:t>
            </a:r>
            <a:r>
              <a:rPr lang="fr-FR" dirty="0" smtClean="0"/>
              <a:t>agents </a:t>
            </a:r>
            <a:r>
              <a:rPr lang="fr-FR" dirty="0"/>
              <a:t>bénéficiant d’une délégation des pouvoirs. Ces derniers peuvent aussi déléguer certains de leur pouvoirs aux agents locaux, en cas de besoin.</a:t>
            </a:r>
          </a:p>
          <a:p>
            <a:pPr algn="just">
              <a:lnSpc>
                <a:spcPct val="150000"/>
              </a:lnSpc>
              <a:buNone/>
            </a:pPr>
            <a:r>
              <a:rPr lang="fr-MA" dirty="0"/>
              <a:t>	ce type d’Etat est devenu rare et ne correspond qu’aux pays de taille très petite, comme </a:t>
            </a:r>
            <a:r>
              <a:rPr lang="fr-FR" dirty="0"/>
              <a:t>Malte, Monaco. </a:t>
            </a:r>
          </a:p>
          <a:p>
            <a:pPr marL="514350" lvl="0" indent="-514350" algn="just">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33</a:t>
            </a:fld>
            <a:endParaRPr lang="fr-F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buNone/>
            </a:pPr>
            <a:endParaRPr lang="fr-FR" dirty="0"/>
          </a:p>
          <a:p>
            <a:pPr algn="just">
              <a:buNone/>
            </a:pPr>
            <a:endParaRPr lang="fr-FR" dirty="0"/>
          </a:p>
          <a:p>
            <a:pPr marL="514350" lvl="0" indent="-514350" algn="just">
              <a:buFont typeface="+mj-lt"/>
              <a:buAutoNum type="alphaLcParenR" startAt="2"/>
            </a:pPr>
            <a:r>
              <a:rPr lang="fr-FR" b="1" i="1" u="sng" dirty="0">
                <a:solidFill>
                  <a:srgbClr val="FFFF00"/>
                </a:solidFill>
              </a:rPr>
              <a:t>L’État unitaire décentralisé</a:t>
            </a:r>
            <a:r>
              <a:rPr lang="fr-FR" b="1" i="1" u="sng" dirty="0"/>
              <a:t>: </a:t>
            </a:r>
          </a:p>
          <a:p>
            <a:pPr algn="just">
              <a:lnSpc>
                <a:spcPct val="150000"/>
              </a:lnSpc>
              <a:buNone/>
            </a:pPr>
            <a:r>
              <a:rPr lang="fr-FR" dirty="0"/>
              <a:t>	Dans l’État unitaire décentralisé, les collectivités territoriales s’administrent mais ne se gouvernent pas.</a:t>
            </a:r>
          </a:p>
          <a:p>
            <a:pPr algn="just">
              <a:lnSpc>
                <a:spcPct val="150000"/>
              </a:lnSpc>
              <a:buNone/>
            </a:pPr>
            <a:r>
              <a:rPr lang="fr-FR" dirty="0"/>
              <a:t>	Dans ces États, les pouvoirs de décision administratifs de l’État sont confiés partiellement à certaines institutions </a:t>
            </a:r>
            <a:r>
              <a:rPr lang="fr-FR" dirty="0" smtClean="0"/>
              <a:t>territoriales </a:t>
            </a:r>
            <a:r>
              <a:rPr lang="fr-FR" dirty="0"/>
              <a:t>bénéficiant d’une autonomie juridique et financière relative par rapport au pouvoir central, dans le sens ou elles possèdent le statut </a:t>
            </a:r>
            <a:r>
              <a:rPr lang="fr-FR" dirty="0" smtClean="0"/>
              <a:t>de </a:t>
            </a:r>
            <a:r>
              <a:rPr lang="fr-FR" dirty="0"/>
              <a:t>personne morale différencié par rapport à l’Etat.</a:t>
            </a:r>
          </a:p>
          <a:p>
            <a:pPr algn="just">
              <a:lnSpc>
                <a:spcPct val="150000"/>
              </a:lnSpc>
              <a:buNone/>
            </a:pPr>
            <a:r>
              <a:rPr lang="fr-FR" dirty="0"/>
              <a:t>	</a:t>
            </a:r>
          </a:p>
          <a:p>
            <a:pPr algn="just">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34</a:t>
            </a:fld>
            <a:endParaRPr lang="fr-F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20000"/>
          </a:bodyPr>
          <a:lstStyle/>
          <a:p>
            <a:pPr algn="just">
              <a:buNone/>
            </a:pPr>
            <a:endParaRPr lang="fr-MA" dirty="0"/>
          </a:p>
          <a:p>
            <a:pPr algn="just">
              <a:buNone/>
            </a:pPr>
            <a:r>
              <a:rPr lang="fr-MA" dirty="0"/>
              <a:t>	Ce type d’Etat est le plus répandu dans le monde. </a:t>
            </a:r>
          </a:p>
          <a:p>
            <a:pPr algn="just">
              <a:lnSpc>
                <a:spcPct val="150000"/>
              </a:lnSpc>
              <a:buNone/>
            </a:pPr>
            <a:r>
              <a:rPr lang="fr-MA" dirty="0"/>
              <a:t>	La France; les pays Bas; le Maroc, la Pologne, la Portugal, la Suède; l’Egypte; la Grèce, la Turquie… sont tous des Etats unitaires décentralisés qui reconnaissent une certaine autonomie administrative, plus ou moins élargie, aux collectivités territoriales. Ces dernières sont juridiquement érigées en personnes morales distinctes de l’Etat, conformément au principe à valeur constitutionnelle de la libre administration. </a:t>
            </a:r>
            <a:endParaRPr lang="fr-MA" dirty="0" smtClean="0"/>
          </a:p>
          <a:p>
            <a:pPr algn="just">
              <a:lnSpc>
                <a:spcPct val="150000"/>
              </a:lnSpc>
              <a:buNone/>
            </a:pPr>
            <a:r>
              <a:rPr lang="fr-MA" dirty="0" smtClean="0">
                <a:solidFill>
                  <a:srgbClr val="FFFF00"/>
                </a:solidFill>
              </a:rPr>
              <a:t>Art </a:t>
            </a:r>
            <a:r>
              <a:rPr lang="fr-MA" dirty="0">
                <a:solidFill>
                  <a:srgbClr val="FFFF00"/>
                </a:solidFill>
              </a:rPr>
              <a:t>72 de la constitution Française </a:t>
            </a:r>
            <a:r>
              <a:rPr lang="fr-MA" dirty="0"/>
              <a:t>«</a:t>
            </a:r>
            <a:r>
              <a:rPr lang="fr-FR" i="1" dirty="0"/>
              <a:t>Dans les conditions prévues par la loi, ces collectivités s'administrent librement par des conseils élus </a:t>
            </a:r>
            <a:r>
              <a:rPr lang="fr-FR" dirty="0"/>
              <a:t>»; </a:t>
            </a:r>
            <a:endParaRPr lang="fr-FR" dirty="0" smtClean="0"/>
          </a:p>
          <a:p>
            <a:pPr algn="just">
              <a:lnSpc>
                <a:spcPct val="150000"/>
              </a:lnSpc>
              <a:buNone/>
            </a:pPr>
            <a:r>
              <a:rPr lang="fr-FR" dirty="0" smtClean="0">
                <a:solidFill>
                  <a:srgbClr val="FFFF00"/>
                </a:solidFill>
              </a:rPr>
              <a:t>art </a:t>
            </a:r>
            <a:r>
              <a:rPr lang="fr-FR" dirty="0">
                <a:solidFill>
                  <a:srgbClr val="FFFF00"/>
                </a:solidFill>
              </a:rPr>
              <a:t>136 de la constitution marocaine </a:t>
            </a:r>
            <a:r>
              <a:rPr lang="fr-FR" dirty="0"/>
              <a:t>«</a:t>
            </a:r>
            <a:r>
              <a:rPr lang="fr-FR" i="1" dirty="0"/>
              <a:t>L'organisation territoriale du Royaume repose sur les principes de libre administration…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35</a:t>
            </a:fld>
            <a:endParaRPr lang="fr-F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buNone/>
            </a:pPr>
            <a:endParaRPr lang="fr-MA" dirty="0"/>
          </a:p>
          <a:p>
            <a:pPr algn="just">
              <a:lnSpc>
                <a:spcPct val="150000"/>
              </a:lnSpc>
              <a:buNone/>
            </a:pPr>
            <a:r>
              <a:rPr lang="fr-FR" dirty="0"/>
              <a:t>	</a:t>
            </a:r>
          </a:p>
          <a:p>
            <a:pPr algn="just">
              <a:lnSpc>
                <a:spcPct val="150000"/>
              </a:lnSpc>
              <a:buNone/>
            </a:pPr>
            <a:r>
              <a:rPr lang="fr-FR" dirty="0"/>
              <a:t>	</a:t>
            </a:r>
            <a:r>
              <a:rPr lang="fr-FR" sz="2800" dirty="0"/>
              <a:t>La décentralisation se définit alors comme …</a:t>
            </a:r>
            <a:r>
              <a:rPr lang="fr-FR" sz="2800" i="1" dirty="0">
                <a:solidFill>
                  <a:srgbClr val="FFFF00"/>
                </a:solidFill>
              </a:rPr>
              <a:t>un transfert d'une série de compétences, de responsabilités et de ressources depuis l'administration centrale vers les collectivités territoriales, qui sont des entités juridiques élues au suffrage universel et bénéficiant d'un certain degré d'autonomie  juridique, économique par rapport à l’Etat</a:t>
            </a:r>
            <a:r>
              <a:rPr lang="fr-FR" sz="2800" i="1" dirty="0"/>
              <a:t>. </a:t>
            </a:r>
            <a:r>
              <a:rPr lang="fr-FR" sz="2800" dirty="0"/>
              <a:t>	</a:t>
            </a:r>
            <a:endParaRPr lang="fr-FR" dirty="0"/>
          </a:p>
          <a:p>
            <a:pPr algn="just">
              <a:lnSpc>
                <a:spcPct val="150000"/>
              </a:lnSpc>
              <a:buNone/>
            </a:pPr>
            <a:r>
              <a:rPr lang="fr-FR"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36</a:t>
            </a:fld>
            <a:endParaRPr lang="fr-F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0B4B166F-A3A3-4DE9-809D-A8E7BD5C3246}" type="slidenum">
              <a:rPr lang="fr-FR" smtClean="0"/>
              <a:pPr/>
              <a:t>37</a:t>
            </a:fld>
            <a:endParaRPr lang="fr-FR"/>
          </a:p>
        </p:txBody>
      </p:sp>
      <p:pic>
        <p:nvPicPr>
          <p:cNvPr id="1026" name="Picture 2"/>
          <p:cNvPicPr>
            <a:picLocks noGrp="1" noChangeAspect="1" noChangeArrowheads="1"/>
          </p:cNvPicPr>
          <p:nvPr>
            <p:ph idx="1"/>
          </p:nvPr>
        </p:nvPicPr>
        <p:blipFill>
          <a:blip r:embed="rId2"/>
          <a:srcRect/>
          <a:stretch>
            <a:fillRect/>
          </a:stretch>
        </p:blipFill>
        <p:spPr bwMode="auto">
          <a:xfrm>
            <a:off x="0" y="285728"/>
            <a:ext cx="9144000" cy="5286412"/>
          </a:xfrm>
          <a:prstGeom prst="rect">
            <a:avLst/>
          </a:prstGeom>
          <a:noFill/>
          <a:ln w="9525">
            <a:noFill/>
            <a:miter lim="800000"/>
            <a:headEnd/>
            <a:tailEnd/>
          </a:ln>
          <a:effectLst/>
        </p:spPr>
      </p:pic>
      <p:sp>
        <p:nvSpPr>
          <p:cNvPr id="6" name="Rectangle 5"/>
          <p:cNvSpPr/>
          <p:nvPr/>
        </p:nvSpPr>
        <p:spPr>
          <a:xfrm>
            <a:off x="0" y="5643578"/>
            <a:ext cx="9144000" cy="646331"/>
          </a:xfrm>
          <a:prstGeom prst="rect">
            <a:avLst/>
          </a:prstGeom>
        </p:spPr>
        <p:txBody>
          <a:bodyPr wrap="square">
            <a:spAutoFit/>
          </a:bodyPr>
          <a:lstStyle/>
          <a:p>
            <a:r>
              <a:rPr lang="fr-FR" b="1" dirty="0"/>
              <a:t>Définition de la décentralisation dans les États unitaires , https://www.oecd-ilibrary.org/sites/25464790-fr/index.html?itemId=/content/component/25464790-fr </a:t>
            </a:r>
            <a:endParaRPr lang="fr-F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endParaRPr lang="fr-MA" dirty="0"/>
          </a:p>
          <a:p>
            <a:pPr algn="just">
              <a:lnSpc>
                <a:spcPct val="150000"/>
              </a:lnSpc>
              <a:buNone/>
            </a:pPr>
            <a:r>
              <a:rPr lang="fr-FR" dirty="0"/>
              <a:t>	Généralement, il existe dans ce type d’Etats deux types de décentralisation:</a:t>
            </a:r>
          </a:p>
          <a:p>
            <a:pPr algn="just">
              <a:lnSpc>
                <a:spcPct val="150000"/>
              </a:lnSpc>
              <a:buFont typeface="Wingdings" pitchFamily="2" charset="2"/>
              <a:buChar char="v"/>
            </a:pPr>
            <a:r>
              <a:rPr lang="fr-FR" dirty="0"/>
              <a:t>	</a:t>
            </a:r>
            <a:r>
              <a:rPr lang="fr-FR" dirty="0">
                <a:solidFill>
                  <a:srgbClr val="FFFF00"/>
                </a:solidFill>
              </a:rPr>
              <a:t>Une décentralisation territoriale </a:t>
            </a:r>
            <a:r>
              <a:rPr lang="fr-FR" dirty="0"/>
              <a:t>(communes régions; collectivités territoriales). Les collectivités territoriales y bénéficient d’un statut juridique distinct de l’Etat et d’une autonomie décisionnelle et financière. </a:t>
            </a:r>
          </a:p>
          <a:p>
            <a:pPr algn="just">
              <a:lnSpc>
                <a:spcPct val="150000"/>
              </a:lnSpc>
              <a:buFont typeface="Wingdings" pitchFamily="2" charset="2"/>
              <a:buChar char="v"/>
            </a:pPr>
            <a:r>
              <a:rPr lang="fr-FR" dirty="0"/>
              <a:t>	</a:t>
            </a:r>
            <a:r>
              <a:rPr lang="fr-FR" dirty="0">
                <a:solidFill>
                  <a:srgbClr val="FFFF00"/>
                </a:solidFill>
              </a:rPr>
              <a:t>Une décentralisation technique ou </a:t>
            </a:r>
            <a:r>
              <a:rPr lang="fr-FR" dirty="0" smtClean="0">
                <a:solidFill>
                  <a:srgbClr val="FFFF00"/>
                </a:solidFill>
              </a:rPr>
              <a:t>fonctionnelle, </a:t>
            </a:r>
            <a:r>
              <a:rPr lang="fr-FR" dirty="0"/>
              <a:t>qui  consiste en la création des établissements publics, régis par le principe de spécialité et donc de </a:t>
            </a:r>
            <a:r>
              <a:rPr lang="fr-FR" dirty="0" smtClean="0"/>
              <a:t>compétence, </a:t>
            </a:r>
            <a:r>
              <a:rPr lang="fr-FR" dirty="0"/>
              <a:t>pour gérer un ou plusieurs services publics spécifiques </a:t>
            </a:r>
            <a:r>
              <a:rPr lang="fr-FR" dirty="0" smtClean="0"/>
              <a:t>(</a:t>
            </a:r>
            <a:r>
              <a:rPr lang="fr-FR" dirty="0" err="1" smtClean="0"/>
              <a:t>exp</a:t>
            </a:r>
            <a:r>
              <a:rPr lang="fr-FR" dirty="0" smtClean="0"/>
              <a:t>. </a:t>
            </a:r>
            <a:r>
              <a:rPr lang="fr-FR" dirty="0"/>
              <a:t>les universités; les services de transport urbain…  ).</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38</a:t>
            </a:fld>
            <a:endParaRPr lang="fr-F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514350" lvl="0" indent="-514350" algn="just">
              <a:buFont typeface="+mj-lt"/>
              <a:buAutoNum type="alphaLcParenR" startAt="3"/>
            </a:pPr>
            <a:endParaRPr lang="fr-CA" b="1" i="1" u="sng" dirty="0"/>
          </a:p>
          <a:p>
            <a:pPr marL="514350" lvl="0" indent="-514350" algn="just">
              <a:buFont typeface="+mj-lt"/>
              <a:buAutoNum type="alphaLcParenR" startAt="3"/>
            </a:pPr>
            <a:r>
              <a:rPr lang="fr-CA" b="1" i="1" u="sng" dirty="0">
                <a:solidFill>
                  <a:srgbClr val="FFFF00"/>
                </a:solidFill>
              </a:rPr>
              <a:t>L’État unitaire régionalisé</a:t>
            </a:r>
            <a:r>
              <a:rPr lang="fr-CA" dirty="0">
                <a:solidFill>
                  <a:srgbClr val="FFFF00"/>
                </a:solidFill>
              </a:rPr>
              <a:t> </a:t>
            </a:r>
          </a:p>
          <a:p>
            <a:pPr marL="514350" lvl="0" indent="-514350" algn="just">
              <a:lnSpc>
                <a:spcPct val="150000"/>
              </a:lnSpc>
              <a:buNone/>
            </a:pPr>
            <a:r>
              <a:rPr lang="fr-FR" dirty="0"/>
              <a:t>		C’est une nouvelle forme d’État unitaire qui concilie la forme unitaire classique de l’État avec la forme fédérale. Elle résulte de l’évolution de l’État unitaire vers une  décentralisation si poussée, au point de reconnaitre constitutionnellement aux collectivités territoriales (régions) une autonomie juridique, politique et financière proche de celle reconnue par les États </a:t>
            </a:r>
            <a:r>
              <a:rPr lang="fr-FR" dirty="0" smtClean="0"/>
              <a:t>fédéraux aux Etats fédérés, </a:t>
            </a:r>
            <a:r>
              <a:rPr lang="fr-FR" dirty="0"/>
              <a:t>tout en préservant le caractère unitaire et centralisé de l’État.</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39</a:t>
            </a:fld>
            <a:endParaRPr lang="fr-F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lgn="just">
              <a:lnSpc>
                <a:spcPct val="150000"/>
              </a:lnSpc>
              <a:buNone/>
            </a:pPr>
            <a:r>
              <a:rPr lang="fr-FR" dirty="0"/>
              <a:t>	</a:t>
            </a:r>
          </a:p>
          <a:p>
            <a:pPr marL="514350" indent="-514350" algn="just">
              <a:lnSpc>
                <a:spcPct val="150000"/>
              </a:lnSpc>
              <a:buNone/>
            </a:pPr>
            <a:r>
              <a:rPr lang="fr-FR" dirty="0"/>
              <a:t>	L’autonomie des régions est tellement large qu’elle couvre quasiment tous les domaines à l’exception de: la politique étrangère; la défense; l’immigration; ainsi que certains domaines réservés constitutionnellement à l’État, comme, certaines législations jugées trop importantes pour les laisser aux régions, notamment, celles touchant la religion, la législation de travail… etc.  </a:t>
            </a:r>
          </a:p>
          <a:p>
            <a:pPr marL="514350" indent="-514350" algn="just">
              <a:lnSpc>
                <a:spcPct val="150000"/>
              </a:lnSpc>
              <a:buNone/>
            </a:pPr>
            <a:r>
              <a:rPr lang="fr-FR" dirty="0"/>
              <a:t>	Les exemples les plus connus de cette forme d’État sont: l’Espagne, </a:t>
            </a:r>
            <a:r>
              <a:rPr lang="fr-FR" dirty="0" smtClean="0"/>
              <a:t>l’Italie.</a:t>
            </a:r>
            <a:endParaRPr lang="fr-FR" dirty="0"/>
          </a:p>
          <a:p>
            <a:pPr marL="514350" indent="-514350" algn="just">
              <a:lnSpc>
                <a:spcPct val="150000"/>
              </a:lnSpc>
              <a:buNone/>
            </a:pPr>
            <a:endParaRPr lang="fr-FR" dirty="0"/>
          </a:p>
          <a:p>
            <a:pPr marL="514350" indent="-514350">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40</a:t>
            </a:fld>
            <a:endParaRPr lang="fr-F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r>
              <a:rPr lang="fr-FR" dirty="0"/>
              <a:t>	L’architecture institutionnelle et territoriale du Maroc évolue vers cette forme de État, puisque la nouvelle constitution dispose explicitement dans son article 1</a:t>
            </a:r>
            <a:r>
              <a:rPr lang="fr-FR" sz="2200" dirty="0"/>
              <a:t>er</a:t>
            </a:r>
            <a:r>
              <a:rPr lang="fr-FR" dirty="0"/>
              <a:t> que : « </a:t>
            </a:r>
            <a:r>
              <a:rPr lang="fr-FR" i="1" dirty="0">
                <a:solidFill>
                  <a:srgbClr val="FFFF00"/>
                </a:solidFill>
              </a:rPr>
              <a:t>L'organisation territoriale du Royaume est décentralisée</a:t>
            </a:r>
            <a:r>
              <a:rPr lang="fr-FR" i="1" dirty="0"/>
              <a:t>, </a:t>
            </a:r>
            <a:r>
              <a:rPr lang="fr-FR" i="1" dirty="0">
                <a:solidFill>
                  <a:srgbClr val="FFFF00"/>
                </a:solidFill>
              </a:rPr>
              <a:t>fondée sur une régionalisation avancée</a:t>
            </a:r>
            <a:r>
              <a:rPr lang="fr-FR" dirty="0"/>
              <a:t> ». Cette affirmation solennelle du caractère régionalisé de l’Etat écarte toute possibilité pour les régions de légiférer (sauf pour la région saharienne, en cas de règlement du conflit et de l’adoption de la proposition marocaine d’autonomie ainsi que la révision de l’actuelle constitution pour y introduire des dispositions garantissant cette autonomie).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41</a:t>
            </a:fld>
            <a:endParaRPr lang="fr-F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24744"/>
          </a:xfrm>
        </p:spPr>
        <p:txBody>
          <a:bodyPr>
            <a:normAutofit/>
          </a:bodyPr>
          <a:lstStyle/>
          <a:p>
            <a:pPr marL="914400" lvl="0" indent="-914400" algn="ctr">
              <a:buFont typeface="+mj-lt"/>
              <a:buAutoNum type="alphaUcPeriod" startAt="2"/>
            </a:pPr>
            <a:r>
              <a:rPr lang="fr-CA" b="1" i="1" dirty="0">
                <a:solidFill>
                  <a:srgbClr val="FFFF00"/>
                </a:solidFill>
              </a:rPr>
              <a:t>L’État </a:t>
            </a:r>
            <a:r>
              <a:rPr lang="fr-CA" b="1" i="1" dirty="0" smtClean="0">
                <a:solidFill>
                  <a:srgbClr val="FFFF00"/>
                </a:solidFill>
              </a:rPr>
              <a:t>composé</a:t>
            </a:r>
            <a:endParaRPr lang="fr-FR" dirty="0"/>
          </a:p>
        </p:txBody>
      </p:sp>
      <p:sp>
        <p:nvSpPr>
          <p:cNvPr id="3" name="Espace réservé du contenu 2"/>
          <p:cNvSpPr>
            <a:spLocks noGrp="1"/>
          </p:cNvSpPr>
          <p:nvPr>
            <p:ph idx="1"/>
          </p:nvPr>
        </p:nvSpPr>
        <p:spPr>
          <a:xfrm>
            <a:off x="0" y="1142984"/>
            <a:ext cx="9144000" cy="5715016"/>
          </a:xfrm>
        </p:spPr>
        <p:txBody>
          <a:bodyPr/>
          <a:lstStyle/>
          <a:p>
            <a:pPr algn="just">
              <a:lnSpc>
                <a:spcPct val="150000"/>
              </a:lnSpc>
              <a:buNone/>
            </a:pPr>
            <a:r>
              <a:rPr lang="fr-FR" dirty="0"/>
              <a:t>	L’État composé est la forme de l’État ou le pouvoir politique est partagé entre plusieurs entités politiques ou États. On peut distinguer deux types d’États composés:</a:t>
            </a:r>
          </a:p>
          <a:p>
            <a:pPr marL="514350" lvl="0" indent="-514350" algn="just">
              <a:buFont typeface="+mj-lt"/>
              <a:buAutoNum type="alphaLcPeriod"/>
            </a:pPr>
            <a:r>
              <a:rPr lang="fr-CA" b="1" i="1" dirty="0">
                <a:solidFill>
                  <a:srgbClr val="FFFF00"/>
                </a:solidFill>
              </a:rPr>
              <a:t>L’État fédéral</a:t>
            </a:r>
            <a:endParaRPr lang="fr-FR" b="1" i="1" dirty="0">
              <a:solidFill>
                <a:srgbClr val="FFFF00"/>
              </a:solidFill>
            </a:endParaRPr>
          </a:p>
          <a:p>
            <a:pPr algn="just">
              <a:buNone/>
            </a:pPr>
            <a:r>
              <a:rPr lang="fr-FR" dirty="0"/>
              <a:t>	Il est une union ou association </a:t>
            </a:r>
            <a:r>
              <a:rPr lang="fr-FR" dirty="0" smtClean="0"/>
              <a:t>entre plusieurs </a:t>
            </a:r>
            <a:r>
              <a:rPr lang="fr-FR" dirty="0"/>
              <a:t>États qui se forme sur la base d’une constitution. Les États fédérés disposent d’une grande autonomie dans plusieurs domaines comme: la justice, les impôts la sécurité …etc. Mais les compétences en matière de relations internationales (représentation diplomatique), de sécurité extérieure (Armée) ou de législation monétaire, restent concentrées </a:t>
            </a:r>
            <a:r>
              <a:rPr lang="fr-FR" dirty="0" smtClean="0"/>
              <a:t>entre </a:t>
            </a:r>
            <a:r>
              <a:rPr lang="fr-FR" dirty="0"/>
              <a:t>les mains du gouvernement central.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42</a:t>
            </a:fld>
            <a:endParaRPr lang="fr-F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MA" dirty="0"/>
          </a:p>
          <a:p>
            <a:pPr algn="just">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43</a:t>
            </a:fld>
            <a:endParaRPr lang="fr-FR"/>
          </a:p>
        </p:txBody>
      </p:sp>
      <p:pic>
        <p:nvPicPr>
          <p:cNvPr id="2050" name="Picture 2" descr="C:\Users\HP\Desktop\image2 (2).png"/>
          <p:cNvPicPr>
            <a:picLocks noChangeAspect="1" noChangeArrowheads="1"/>
          </p:cNvPicPr>
          <p:nvPr/>
        </p:nvPicPr>
        <p:blipFill>
          <a:blip r:embed="rId2"/>
          <a:srcRect/>
          <a:stretch>
            <a:fillRect/>
          </a:stretch>
        </p:blipFill>
        <p:spPr bwMode="auto">
          <a:xfrm>
            <a:off x="0" y="285728"/>
            <a:ext cx="9144000" cy="5795440"/>
          </a:xfrm>
          <a:prstGeom prst="rect">
            <a:avLst/>
          </a:prstGeom>
          <a:noFill/>
        </p:spPr>
      </p:pic>
      <p:sp>
        <p:nvSpPr>
          <p:cNvPr id="6" name="ZoneTexte 5"/>
          <p:cNvSpPr txBox="1"/>
          <p:nvPr/>
        </p:nvSpPr>
        <p:spPr>
          <a:xfrm>
            <a:off x="142844" y="6143644"/>
            <a:ext cx="9715568" cy="369332"/>
          </a:xfrm>
          <a:prstGeom prst="rect">
            <a:avLst/>
          </a:prstGeom>
          <a:noFill/>
        </p:spPr>
        <p:txBody>
          <a:bodyPr wrap="square" rtlCol="0">
            <a:spAutoFit/>
          </a:bodyPr>
          <a:lstStyle/>
          <a:p>
            <a:r>
              <a:rPr lang="fr-FR" b="1" dirty="0">
                <a:hlinkClick r:id="rId3"/>
              </a:rPr>
              <a:t>https://www.oecd-ilibrary.org/sites/25464790-</a:t>
            </a:r>
            <a:r>
              <a:rPr lang="fr-FR" b="1" dirty="0"/>
              <a:t> </a:t>
            </a:r>
            <a:endParaRPr lang="fr-FR"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55000" lnSpcReduction="20000"/>
          </a:bodyPr>
          <a:lstStyle/>
          <a:p>
            <a:pPr lvl="0"/>
            <a:endParaRPr lang="fr-FR" dirty="0"/>
          </a:p>
          <a:p>
            <a:pPr lvl="0">
              <a:buNone/>
            </a:pPr>
            <a:endParaRPr lang="fr-MA" dirty="0"/>
          </a:p>
          <a:p>
            <a:pPr algn="just">
              <a:lnSpc>
                <a:spcPct val="170000"/>
              </a:lnSpc>
              <a:buNone/>
            </a:pPr>
            <a:r>
              <a:rPr lang="fr-FR" dirty="0"/>
              <a:t>	</a:t>
            </a:r>
            <a:r>
              <a:rPr lang="fr-FR" sz="3600" dirty="0"/>
              <a:t>Le fédéralisme se base alors sur les principes suivants:</a:t>
            </a:r>
          </a:p>
          <a:p>
            <a:pPr marL="514350" lvl="0" indent="-514350" algn="just">
              <a:lnSpc>
                <a:spcPct val="170000"/>
              </a:lnSpc>
              <a:buFont typeface="+mj-lt"/>
              <a:buAutoNum type="arabicPeriod"/>
            </a:pPr>
            <a:r>
              <a:rPr lang="fr-FR" sz="3600" dirty="0"/>
              <a:t>L’autonomie des entités Étatiques; ( législative, exécutive et budgétaire)</a:t>
            </a:r>
          </a:p>
          <a:p>
            <a:pPr marL="514350" lvl="0" indent="-514350" algn="just">
              <a:lnSpc>
                <a:spcPct val="170000"/>
              </a:lnSpc>
              <a:buFont typeface="+mj-lt"/>
              <a:buAutoNum type="arabicPeriod"/>
            </a:pPr>
            <a:r>
              <a:rPr lang="fr-FR" sz="3600" dirty="0"/>
              <a:t>La participation des États fédérés dans les affaires de l’État fédéral;</a:t>
            </a:r>
          </a:p>
          <a:p>
            <a:pPr marL="514350" lvl="0" indent="-514350" algn="just">
              <a:lnSpc>
                <a:spcPct val="170000"/>
              </a:lnSpc>
              <a:buFont typeface="+mj-lt"/>
              <a:buAutoNum type="arabicPeriod"/>
            </a:pPr>
            <a:r>
              <a:rPr lang="fr-FR" sz="3600" dirty="0"/>
              <a:t>La solidarité absolue entre les États fédérés;</a:t>
            </a:r>
          </a:p>
          <a:p>
            <a:pPr marL="514350" lvl="0" indent="-514350" algn="just">
              <a:lnSpc>
                <a:spcPct val="170000"/>
              </a:lnSpc>
              <a:buFont typeface="+mj-lt"/>
              <a:buAutoNum type="arabicPeriod"/>
            </a:pPr>
            <a:r>
              <a:rPr lang="fr-FR" sz="3600" dirty="0"/>
              <a:t>La primauté du droit fédéral sur le droit fédéré.</a:t>
            </a:r>
          </a:p>
          <a:p>
            <a:pPr marL="514350" lvl="0" indent="-514350" algn="just">
              <a:lnSpc>
                <a:spcPct val="170000"/>
              </a:lnSpc>
              <a:buNone/>
            </a:pPr>
            <a:r>
              <a:rPr lang="fr-MA" sz="3600" dirty="0"/>
              <a:t>	 Il faut noter que </a:t>
            </a:r>
            <a:r>
              <a:rPr lang="fr-FR" sz="3600" dirty="0"/>
              <a:t>le fédéralisme est aujourd'hui la forme étatique la plus répandue parmi les grands États, où il s'est avéré relativement efficace. </a:t>
            </a:r>
          </a:p>
          <a:p>
            <a:pPr marL="514350" lvl="0" indent="-514350" algn="just">
              <a:lnSpc>
                <a:spcPct val="170000"/>
              </a:lnSpc>
              <a:buNone/>
            </a:pPr>
            <a:r>
              <a:rPr lang="fr-FR" sz="3600" dirty="0"/>
              <a:t>	</a:t>
            </a:r>
            <a:r>
              <a:rPr lang="fr-FR" sz="3600" b="1" dirty="0">
                <a:solidFill>
                  <a:srgbClr val="FFFF00"/>
                </a:solidFill>
              </a:rPr>
              <a:t>Exemple</a:t>
            </a:r>
            <a:r>
              <a:rPr lang="fr-FR" sz="3600" dirty="0"/>
              <a:t>: États-Unis, Canada, Mexique, Brésil, Argentine, Allemagne, Inde, Australie, Nigeria…</a:t>
            </a:r>
          </a:p>
          <a:p>
            <a:pPr marL="514350" lvl="0" indent="-514350" algn="just">
              <a:lnSpc>
                <a:spcPct val="170000"/>
              </a:lnSpc>
              <a:buNone/>
            </a:pPr>
            <a:r>
              <a:rPr lang="fr-MA" sz="3600" dirty="0"/>
              <a:t>	Seule la chine fait exception en adoptant le modèle unitaire malgré sa  grande  superficie et le nombre de ses habitants.</a:t>
            </a:r>
            <a:r>
              <a:rPr lang="fr-MA" dirty="0"/>
              <a:t>  </a:t>
            </a:r>
            <a:endParaRPr lang="fr-FR" dirty="0"/>
          </a:p>
          <a:p>
            <a:pPr algn="just">
              <a:lnSpc>
                <a:spcPct val="160000"/>
              </a:lnSpc>
              <a:buNone/>
            </a:pPr>
            <a:r>
              <a:rPr lang="fr-FR" dirty="0"/>
              <a:t>		</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marL="514350" indent="-514350" algn="just">
              <a:buFont typeface="+mj-lt"/>
              <a:buAutoNum type="alphaLcPeriod" startAt="2"/>
            </a:pPr>
            <a:endParaRPr lang="fr-MA" dirty="0"/>
          </a:p>
          <a:p>
            <a:pPr marL="514350" lvl="0" indent="-514350" algn="just">
              <a:buFont typeface="+mj-lt"/>
              <a:buAutoNum type="alphaLcPeriod" startAt="2"/>
            </a:pPr>
            <a:r>
              <a:rPr lang="fr-CA" b="1" i="1" dirty="0">
                <a:solidFill>
                  <a:srgbClr val="FFFF00"/>
                </a:solidFill>
              </a:rPr>
              <a:t>La confédération d’États </a:t>
            </a:r>
            <a:r>
              <a:rPr lang="fr-CA" dirty="0">
                <a:solidFill>
                  <a:srgbClr val="FFFF00"/>
                </a:solidFill>
              </a:rPr>
              <a:t>(l’État confédéré)</a:t>
            </a:r>
            <a:endParaRPr lang="fr-FR" dirty="0">
              <a:solidFill>
                <a:srgbClr val="FFFF00"/>
              </a:solidFill>
            </a:endParaRPr>
          </a:p>
          <a:p>
            <a:pPr marL="514350" indent="-514350" algn="just">
              <a:lnSpc>
                <a:spcPct val="150000"/>
              </a:lnSpc>
              <a:buNone/>
            </a:pPr>
            <a:r>
              <a:rPr lang="fr-FR" dirty="0"/>
              <a:t>	La confédération d’États est une forme d’union entre plusieurs États qui ne crée pas un nouvel État, comme  c’est le cas pour la fédération. Cette union se fait sur la base d’un accord mutuel adopté à l’unanimité par les États confédérés.</a:t>
            </a:r>
          </a:p>
          <a:p>
            <a:pPr marL="514350" indent="-514350" algn="just">
              <a:lnSpc>
                <a:spcPct val="150000"/>
              </a:lnSpc>
              <a:buNone/>
            </a:pPr>
            <a:r>
              <a:rPr lang="fr-MA" dirty="0"/>
              <a:t>	Contrairement à l’Etat fédéral qui né à partir d’une constitution   </a:t>
            </a:r>
            <a:r>
              <a:rPr lang="fr-MA" dirty="0" smtClean="0"/>
              <a:t>(droit </a:t>
            </a:r>
            <a:r>
              <a:rPr lang="fr-MA" dirty="0"/>
              <a:t>interne) niant toute souveraineté aux Etats fédérés; la confédération née à partir d’un traité ou accord a caractère international, reliant plusieurs Etats souverains qui gardent leur indépendance et peuvent à tout moment se retirer de la confédération. </a:t>
            </a:r>
            <a:endParaRPr lang="fr-FR" dirty="0"/>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45</a:t>
            </a:fld>
            <a:endParaRPr lang="fr-F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buNone/>
            </a:pPr>
            <a:endParaRPr lang="fr-MA" dirty="0"/>
          </a:p>
          <a:p>
            <a:pPr algn="just">
              <a:lnSpc>
                <a:spcPct val="150000"/>
              </a:lnSpc>
              <a:buNone/>
            </a:pPr>
            <a:r>
              <a:rPr lang="fr-MA" dirty="0"/>
              <a:t>	En règle générale, les confédérations peuvent évoluer vers la </a:t>
            </a:r>
            <a:r>
              <a:rPr lang="fr-MA" dirty="0" smtClean="0"/>
              <a:t>dissolution, </a:t>
            </a:r>
            <a:r>
              <a:rPr lang="fr-MA" dirty="0"/>
              <a:t>lorsque les Etats confédérés refusent de coopérer et de se délaisser de leur souveraineté au profit de la confédération. </a:t>
            </a:r>
          </a:p>
          <a:p>
            <a:pPr algn="just">
              <a:lnSpc>
                <a:spcPct val="150000"/>
              </a:lnSpc>
              <a:buNone/>
            </a:pPr>
            <a:r>
              <a:rPr lang="fr-MA" dirty="0"/>
              <a:t>	 Elle peuvent également évoluer et se transformer vers un Etat fédéral, lorsque les Etats confédérés acceptent d’abandonner leur souveraineté au profit d’un nouvel super Etat fédéral. </a:t>
            </a:r>
            <a:r>
              <a:rPr lang="fr-MA" dirty="0" err="1"/>
              <a:t>Exp</a:t>
            </a:r>
            <a:r>
              <a:rPr lang="fr-MA" dirty="0"/>
              <a:t>: la confédération des 13 anciennes colonies Britanniques d’Amérique du Nord; la confédération Helvétique (la Suisse) créée par la ligue des Cantons en 1291 s’est transformée en un Etat fédéral en 1787; La confédération Germanique créée en 1815.</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46</a:t>
            </a:fld>
            <a:endParaRPr lang="fr-F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endParaRPr lang="fr-MA" dirty="0"/>
          </a:p>
          <a:p>
            <a:pPr algn="just">
              <a:buNone/>
            </a:pPr>
            <a:r>
              <a:rPr lang="fr-MA" dirty="0"/>
              <a:t>NB. Dans beaucoup d’Etat les textes juridiques fondamentaux, ne donnent pas assez d’information sur le type d’Etat qui est mis en place. </a:t>
            </a:r>
          </a:p>
          <a:p>
            <a:pPr algn="just">
              <a:buNone/>
            </a:pPr>
            <a:r>
              <a:rPr lang="fr-MA" dirty="0"/>
              <a:t>	Exemple: l’Union Européenne fonctionne comme une confédération d’Etats qui évoluent difficilement vers une forme fédérale. Alors même que les textes constitutifs de l’Union n’en dit pas long.</a:t>
            </a:r>
          </a:p>
          <a:p>
            <a:pPr algn="just">
              <a:buFontTx/>
              <a:buChar char="-"/>
            </a:pPr>
            <a:r>
              <a:rPr lang="fr-MA" dirty="0"/>
              <a:t>La Belgique fonctionne comme une confédération d’Etats alors que sa constitution parle de fédéralisme entre trois régions autonomes la Flandre, la Wallonie et Bruxelles. Les régions fonctionnent de manière fortement concurrentielle.</a:t>
            </a:r>
          </a:p>
          <a:p>
            <a:pPr algn="just">
              <a:buFontTx/>
              <a:buChar char="-"/>
            </a:pPr>
            <a:r>
              <a:rPr lang="fr-MA" dirty="0"/>
              <a:t>Le régionalisme espagnole qui évolue vers une forme de fédéralisme. </a:t>
            </a:r>
          </a:p>
          <a:p>
            <a:pPr algn="just">
              <a:buFontTx/>
              <a:buChar char="-"/>
            </a:pPr>
            <a:r>
              <a:rPr lang="fr-MA" dirty="0"/>
              <a:t>La Grande Bretagne, est un Etat unitaire qui fonctionne comme une fédération.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47</a:t>
            </a:fld>
            <a:endParaRPr lang="fr-F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428736"/>
          </a:xfrm>
        </p:spPr>
        <p:txBody>
          <a:bodyPr>
            <a:normAutofit fontScale="90000"/>
          </a:bodyPr>
          <a:lstStyle/>
          <a:p>
            <a:pPr algn="ctr"/>
            <a:r>
              <a:rPr lang="fr-CA" b="1" i="1" dirty="0">
                <a:solidFill>
                  <a:srgbClr val="FFFF00"/>
                </a:solidFill>
              </a:rPr>
              <a:t>Chapitre 2 : La Constitution</a:t>
            </a:r>
            <a:r>
              <a:rPr lang="fr-FR" dirty="0">
                <a:solidFill>
                  <a:srgbClr val="FFFF00"/>
                </a:solidFill>
              </a:rPr>
              <a:t/>
            </a:r>
            <a:br>
              <a:rPr lang="fr-FR" dirty="0">
                <a:solidFill>
                  <a:srgbClr val="FFFF00"/>
                </a:solidFill>
              </a:rPr>
            </a:br>
            <a:endParaRPr lang="fr-FR" dirty="0">
              <a:solidFill>
                <a:srgbClr val="FFFF00"/>
              </a:solidFill>
            </a:endParaRPr>
          </a:p>
        </p:txBody>
      </p:sp>
      <p:sp>
        <p:nvSpPr>
          <p:cNvPr id="3" name="Espace réservé du contenu 2"/>
          <p:cNvSpPr>
            <a:spLocks noGrp="1"/>
          </p:cNvSpPr>
          <p:nvPr>
            <p:ph idx="1"/>
          </p:nvPr>
        </p:nvSpPr>
        <p:spPr>
          <a:xfrm>
            <a:off x="0" y="1142984"/>
            <a:ext cx="9144000" cy="5715016"/>
          </a:xfrm>
        </p:spPr>
        <p:txBody>
          <a:bodyPr>
            <a:normAutofit fontScale="92500"/>
          </a:bodyPr>
          <a:lstStyle/>
          <a:p>
            <a:pPr algn="just">
              <a:lnSpc>
                <a:spcPct val="150000"/>
              </a:lnSpc>
              <a:buNone/>
            </a:pPr>
            <a:r>
              <a:rPr lang="fr-FR" dirty="0"/>
              <a:t>	avant le 18</a:t>
            </a:r>
            <a:r>
              <a:rPr lang="fr-FR" baseline="30000" dirty="0"/>
              <a:t>ème</a:t>
            </a:r>
            <a:r>
              <a:rPr lang="fr-FR" dirty="0"/>
              <a:t> siècle la constitution désignait le fait de constituer ou de former quelque chose (une maison; une loi; un institution…), ou même la manière dont celle-ci est faite.  Juridiquement la Constitution est synonyme de la loi.</a:t>
            </a:r>
          </a:p>
          <a:p>
            <a:pPr algn="just">
              <a:lnSpc>
                <a:spcPct val="150000"/>
              </a:lnSpc>
              <a:buNone/>
            </a:pPr>
            <a:r>
              <a:rPr lang="fr-FR" dirty="0"/>
              <a:t>  	Depuis, la Constitution se définit, comme la Loi ou la règle ou la norme juridique fondamentale, qui détermine la manière dont le pouvoir politique au sein de l’Etat s’acquière, s’exerce et se transmet. Elle est de ce fait la norme suprême qui est adoptée et modifiée dans des conditions et selon des procédures spéciales, en vu d’organiser et de limiter le pouvoir dans l’État.</a:t>
            </a:r>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48</a:t>
            </a:fld>
            <a:endParaRPr lang="fr-F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MA" dirty="0"/>
          </a:p>
          <a:p>
            <a:pPr algn="just">
              <a:buNone/>
            </a:pPr>
            <a:endParaRPr lang="fr-MA" dirty="0"/>
          </a:p>
          <a:p>
            <a:pPr algn="just">
              <a:buNone/>
            </a:pPr>
            <a:r>
              <a:rPr lang="fr-MA" dirty="0"/>
              <a:t>	La constitution peut ainsi se définir selon deux critères essentiels : </a:t>
            </a:r>
          </a:p>
          <a:p>
            <a:pPr marL="514350" indent="-514350" algn="just">
              <a:buFont typeface="Wingdings" pitchFamily="2" charset="2"/>
              <a:buChar char="v"/>
            </a:pPr>
            <a:r>
              <a:rPr lang="fr-MA" dirty="0"/>
              <a:t> Un critère matériel qui insiste davantage sur le contenu de la constitution. (Constitution matérielle)</a:t>
            </a:r>
          </a:p>
          <a:p>
            <a:pPr marL="514350" indent="-514350" algn="just">
              <a:buFont typeface="Wingdings" pitchFamily="2" charset="2"/>
              <a:buChar char="v"/>
            </a:pPr>
            <a:r>
              <a:rPr lang="fr-MA" dirty="0"/>
              <a:t>Un critère formel qui s’intéresse plutôt à la procédure spéciale selon laquelle la Constitution est produite.              ( Constitution formelle).</a:t>
            </a:r>
          </a:p>
          <a:p>
            <a:pPr marL="880110" lvl="1" indent="-514350" algn="just">
              <a:buNone/>
            </a:pPr>
            <a:r>
              <a:rPr lang="fr-MA" sz="2600" dirty="0"/>
              <a:t>En fait, ces deux critères se complètent en ce sens que la Constitution est à la fois un texte chargé d’un contenu spécifique (constitutionnel) et adopté selon une procédure institutionnelle particulière.   </a:t>
            </a:r>
          </a:p>
          <a:p>
            <a:pPr marL="514350" indent="-514350" algn="just">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49</a:t>
            </a:fld>
            <a:endParaRPr lang="fr-F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lgn="just">
              <a:buNone/>
            </a:pPr>
            <a:endParaRPr lang="fr-FR" b="1" i="1" dirty="0"/>
          </a:p>
          <a:p>
            <a:pPr lvl="0" algn="ctr">
              <a:buNone/>
            </a:pPr>
            <a:r>
              <a:rPr lang="fr-FR" b="1" i="1" dirty="0"/>
              <a:t>	Section I. D’un point de vue matériel</a:t>
            </a:r>
            <a:r>
              <a:rPr lang="fr-FR" dirty="0"/>
              <a:t>:</a:t>
            </a:r>
            <a:r>
              <a:rPr lang="fr-CA" dirty="0"/>
              <a:t> </a:t>
            </a:r>
            <a:r>
              <a:rPr lang="fr-CA" b="1" i="1" dirty="0"/>
              <a:t>la constitution est une norme juridique suprême</a:t>
            </a:r>
            <a:r>
              <a:rPr lang="fr-FR" b="1" i="1" dirty="0"/>
              <a:t> </a:t>
            </a:r>
          </a:p>
          <a:p>
            <a:pPr lvl="0" algn="just">
              <a:lnSpc>
                <a:spcPct val="150000"/>
              </a:lnSpc>
              <a:buNone/>
            </a:pPr>
            <a:r>
              <a:rPr lang="fr-FR" dirty="0"/>
              <a:t>	La Constitution peut se définir comme étant un ensemble de règles, écrites ou coutumières, régissant l’ordre politique et institutionnel au sein de l’État. Autrement dit, elle est l’ensemble des normes visant à déterminer l’organisation et le fonctionnement des pouvoirs publics, ainsi que les droits et libertés des citoyens, abstraction faite de l’organe qui l’a adoptée (Hamon et </a:t>
            </a:r>
            <a:r>
              <a:rPr lang="fr-FR" dirty="0" err="1"/>
              <a:t>Troper</a:t>
            </a:r>
            <a:r>
              <a:rPr lang="fr-FR" dirty="0"/>
              <a:t>,  2014, p.26).</a:t>
            </a:r>
          </a:p>
          <a:p>
            <a:pPr algn="just">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50</a:t>
            </a:fld>
            <a:endParaRPr lang="fr-F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buNone/>
            </a:pPr>
            <a:endParaRPr lang="fr-FR" dirty="0"/>
          </a:p>
          <a:p>
            <a:pPr algn="just">
              <a:buNone/>
            </a:pPr>
            <a:r>
              <a:rPr lang="fr-FR" dirty="0"/>
              <a:t>Cette  définition  souffre de certaines lacunes :</a:t>
            </a:r>
          </a:p>
          <a:p>
            <a:pPr algn="just">
              <a:lnSpc>
                <a:spcPct val="150000"/>
              </a:lnSpc>
              <a:buFontTx/>
              <a:buChar char="-"/>
            </a:pPr>
            <a:r>
              <a:rPr lang="fr-FR" dirty="0"/>
              <a:t>Elle est très extensive, en ce sens qu’elle peut englober des domaines qu’elle qualifie de constitutionnels alors mêmes qu’ils n’ont aucun rapport avec lui. Exemple: la constitution Brésilienne  de 1988 se constitue de 246 articles dont des certains ne déterminent pas le fonctionnement et l’organisation de l’Etat comme: le sport, la recherche scientifique, la promotion de l’environnement…); La constitution suisse qui interdit l’abattage des animaux selon le rituel juif et islamique. </a:t>
            </a:r>
          </a:p>
          <a:p>
            <a:pPr algn="just">
              <a:lnSpc>
                <a:spcPct val="150000"/>
              </a:lnSpc>
              <a:buFontTx/>
              <a:buChar char="-"/>
            </a:pPr>
            <a:r>
              <a:rPr lang="fr-FR" dirty="0"/>
              <a:t>De ce fait, le contenu du droit constitutionnel n’est pas toujours  identique a la constitution (droit électoral, coutumes  constitutionnelles,…)</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51</a:t>
            </a:fld>
            <a:endParaRPr lang="fr-F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normAutofit fontScale="92500" lnSpcReduction="10000"/>
          </a:bodyPr>
          <a:lstStyle/>
          <a:p>
            <a:pPr algn="just">
              <a:lnSpc>
                <a:spcPct val="150000"/>
              </a:lnSpc>
              <a:buNone/>
            </a:pPr>
            <a:endParaRPr lang="ar-MA" dirty="0"/>
          </a:p>
          <a:p>
            <a:pPr algn="just">
              <a:lnSpc>
                <a:spcPct val="150000"/>
              </a:lnSpc>
              <a:buNone/>
            </a:pPr>
            <a:r>
              <a:rPr lang="fr-FR" dirty="0"/>
              <a:t>	Cela implique une imprécision du contenu de la constitution, puisque tout peut devenir constitutionnel à partir du moment ou il est contenu dans la constitution. </a:t>
            </a:r>
          </a:p>
          <a:p>
            <a:pPr algn="just">
              <a:lnSpc>
                <a:spcPct val="150000"/>
              </a:lnSpc>
              <a:buNone/>
            </a:pPr>
            <a:r>
              <a:rPr lang="fr-FR" dirty="0"/>
              <a:t>	Mais son intérêt provient du fait qu’elle fait de la constitution une norme juridique suprême dont découle tout l’ordre juridique national. </a:t>
            </a:r>
            <a:r>
              <a:rPr lang="fr-FR" dirty="0" err="1"/>
              <a:t>C.a.d</a:t>
            </a:r>
            <a:r>
              <a:rPr lang="fr-FR" dirty="0"/>
              <a:t>. Elle est une norme juridique placée au sommet de la hiérarchie des normes qui autorisent la création d’autres normes et lois inférieures (lois organiques, lois ordinaires, règlements intérieurs des chambres du parlement…), sous peine d’être déclarées invalides ou inconstitutionnelles. ( </a:t>
            </a:r>
            <a:r>
              <a:rPr lang="fr-FR" dirty="0" err="1"/>
              <a:t>Favoreux</a:t>
            </a:r>
            <a:r>
              <a:rPr lang="fr-FR" dirty="0"/>
              <a:t>, p. 85)</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52</a:t>
            </a:fld>
            <a:endParaRPr lang="fr-F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ctr">
              <a:lnSpc>
                <a:spcPct val="150000"/>
              </a:lnSpc>
              <a:buNone/>
            </a:pPr>
            <a:r>
              <a:rPr lang="fr-FR" b="1" dirty="0"/>
              <a:t>	</a:t>
            </a:r>
            <a:r>
              <a:rPr lang="fr-FR" b="1" i="1" dirty="0">
                <a:solidFill>
                  <a:srgbClr val="FFFF00"/>
                </a:solidFill>
              </a:rPr>
              <a:t>section II.  D’un point de vu formel</a:t>
            </a:r>
            <a:r>
              <a:rPr lang="fr-FR" i="1" dirty="0">
                <a:solidFill>
                  <a:srgbClr val="FFFF00"/>
                </a:solidFill>
              </a:rPr>
              <a:t>, </a:t>
            </a:r>
            <a:r>
              <a:rPr lang="fr-CA" b="1" i="1" dirty="0">
                <a:solidFill>
                  <a:srgbClr val="FFFF00"/>
                </a:solidFill>
              </a:rPr>
              <a:t>la constitution est une norme exceptionnelle avec une procédure d’adoption et de révision exceptionnelle  (la rigidité) </a:t>
            </a:r>
            <a:endParaRPr lang="fr-FR" b="1" i="1" dirty="0">
              <a:solidFill>
                <a:srgbClr val="FFFF00"/>
              </a:solidFill>
            </a:endParaRPr>
          </a:p>
          <a:p>
            <a:pPr lvl="0" algn="just">
              <a:lnSpc>
                <a:spcPct val="150000"/>
              </a:lnSpc>
              <a:buNone/>
            </a:pPr>
            <a:r>
              <a:rPr lang="fr-FR" dirty="0"/>
              <a:t>	Abstraction faite de sa dénomination (loi fondamentale, charte …),  la Constitution se définit au sens formel, comme, l’ensemble des règles juridiques, ayant reçu une forme distincte, qui détermine l’ordre politique et institutionnel au sein de l’État et qui obéit à une procédure exceptionnelle (très restrictive) lors de son élaboration comme: l’élection ou la désignation d’une assemblée ou d’une commission constituante, l’organisation d’un référendum d’adoption ou de révision de la constitution.</a:t>
            </a:r>
          </a:p>
          <a:p>
            <a:pPr algn="just">
              <a:lnSpc>
                <a:spcPct val="150000"/>
              </a:lnSpc>
              <a:buNone/>
            </a:pPr>
            <a:endParaRPr lang="fr-FR" dirty="0"/>
          </a:p>
        </p:txBody>
      </p:sp>
      <p:sp>
        <p:nvSpPr>
          <p:cNvPr id="5" name="Espace réservé du numéro de diapositive 4"/>
          <p:cNvSpPr>
            <a:spLocks noGrp="1"/>
          </p:cNvSpPr>
          <p:nvPr>
            <p:ph type="sldNum" sz="quarter" idx="12"/>
          </p:nvPr>
        </p:nvSpPr>
        <p:spPr/>
        <p:txBody>
          <a:bodyPr/>
          <a:lstStyle/>
          <a:p>
            <a:fld id="{0B4B166F-A3A3-4DE9-809D-A8E7BD5C3246}" type="slidenum">
              <a:rPr lang="fr-FR" smtClean="0"/>
              <a:pPr/>
              <a:t>53</a:t>
            </a:fld>
            <a:endParaRPr lang="fr-F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FR" dirty="0"/>
          </a:p>
          <a:p>
            <a:pPr algn="just">
              <a:lnSpc>
                <a:spcPct val="150000"/>
              </a:lnSpc>
              <a:buNone/>
            </a:pPr>
            <a:r>
              <a:rPr lang="fr-FR" dirty="0"/>
              <a:t>	Ainsi, est constitutionnel </a:t>
            </a:r>
            <a:r>
              <a:rPr lang="fr-FR"/>
              <a:t>tout </a:t>
            </a:r>
            <a:r>
              <a:rPr lang="fr-FR" smtClean="0"/>
              <a:t>doucement </a:t>
            </a:r>
            <a:r>
              <a:rPr lang="fr-FR" dirty="0"/>
              <a:t>ayant été adopté selon une procédure exceptionnelle et lourde à celle suivie pour l’adoption des lois ordinaires, qui traduit sa supériorité normative . Cela implique la qualification de constitutionnel des textes juridiques qui ne portent pas ce nom et la disqualification des textes qui portent ce nom en raison de leur procédure d’adoption. (</a:t>
            </a:r>
            <a:r>
              <a:rPr lang="fr-FR" i="1" dirty="0"/>
              <a:t>ibid</a:t>
            </a:r>
            <a:r>
              <a:rPr lang="fr-FR" dirty="0"/>
              <a:t>., p.87)</a:t>
            </a:r>
          </a:p>
          <a:p>
            <a:pPr algn="just">
              <a:lnSpc>
                <a:spcPct val="150000"/>
              </a:lnSpc>
              <a:buNone/>
            </a:pPr>
            <a:r>
              <a:rPr lang="fr-FR" dirty="0"/>
              <a:t>	Le principe est que au sommet de la hiérarchie des normes se trouve une norme juridique dont la procédure  d’adoption et de révision est assez lourde et restrictive .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54</a:t>
            </a:fld>
            <a:endParaRPr lang="fr-F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fontScale="92500" lnSpcReduction="10000"/>
          </a:bodyPr>
          <a:lstStyle/>
          <a:p>
            <a:pPr lvl="0" algn="just"/>
            <a:endParaRPr lang="fr-FR" dirty="0"/>
          </a:p>
          <a:p>
            <a:pPr algn="just">
              <a:lnSpc>
                <a:spcPct val="150000"/>
              </a:lnSpc>
              <a:buNone/>
            </a:pPr>
            <a:r>
              <a:rPr lang="fr-FR" dirty="0"/>
              <a:t> Exemple : l’élection ou la désignation d’une assemblée ou d’une commission constituante, l’organisation d’un référendum d’adoption ou de révision de la constitution.</a:t>
            </a:r>
          </a:p>
          <a:p>
            <a:pPr algn="just">
              <a:lnSpc>
                <a:spcPct val="150000"/>
              </a:lnSpc>
              <a:buNone/>
            </a:pPr>
            <a:r>
              <a:rPr lang="fr-FR" dirty="0"/>
              <a:t>Exemple : selon l’art 172 de la constitution marocaine de 2011, « </a:t>
            </a:r>
            <a:r>
              <a:rPr lang="fr-FR" i="1" dirty="0"/>
              <a:t>L’initiative de la révision de la Constitution appartient exclusivement au Roi, au Chef du Gouvernement, à la Chambre des Représentants et à la Chambre des Conseillers. »</a:t>
            </a:r>
          </a:p>
          <a:p>
            <a:pPr algn="just">
              <a:lnSpc>
                <a:spcPct val="150000"/>
              </a:lnSpc>
              <a:buNone/>
            </a:pPr>
            <a:r>
              <a:rPr lang="fr-FR" i="1" dirty="0"/>
              <a:t>«  Les propositions de révision émanant du parlement ne sont admises que si elles sont votées par les deux tiers des membres des deux chambres »</a:t>
            </a:r>
            <a:r>
              <a:rPr lang="fr-FR" dirty="0"/>
              <a:t> (art 173).   « </a:t>
            </a:r>
            <a:r>
              <a:rPr lang="fr-FR" i="1" dirty="0"/>
              <a:t>La révision constitutionnelle ne devient définitive que si elles adoptée par voie de référendum populaire »</a:t>
            </a:r>
            <a:r>
              <a:rPr lang="fr-FR" dirty="0"/>
              <a:t> (artt174).</a:t>
            </a:r>
          </a:p>
          <a:p>
            <a:pPr algn="just">
              <a:buNone/>
            </a:pPr>
            <a:endParaRPr lang="fr-FR" dirty="0"/>
          </a:p>
          <a:p>
            <a:pPr algn="just">
              <a:lnSpc>
                <a:spcPct val="150000"/>
              </a:lnSpc>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55</a:t>
            </a:fld>
            <a:endParaRPr lang="fr-F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p>
          <a:p>
            <a:pPr algn="just">
              <a:lnSpc>
                <a:spcPct val="150000"/>
              </a:lnSpc>
              <a:buNone/>
            </a:pPr>
            <a:r>
              <a:rPr lang="fr-FR" dirty="0"/>
              <a:t>	La constitution Française, quant à elle, précise dans son art 89 que «</a:t>
            </a:r>
            <a:r>
              <a:rPr lang="fr-FR" i="1" dirty="0"/>
              <a:t>L’initiative de la révision de la Constitution appartient concurremment au Président de la République sur proposition du Premier ministre et aux membres du Parlement… le projet de révision n’est approuvé que s’il réunit la majorité des trois cinquièmes des suffrages exprimés »</a:t>
            </a:r>
          </a:p>
          <a:p>
            <a:pPr algn="just">
              <a:lnSpc>
                <a:spcPct val="150000"/>
              </a:lnSpc>
              <a:buNone/>
            </a:pPr>
            <a:r>
              <a:rPr lang="fr-FR" dirty="0"/>
              <a:t>	De ce fait, la coutume constitutionnelle ne peut pas faire partie du droit constitutionnel formel en ce sens qu’elle ne peut être invoquée devant le juge qui doit appliquer le droit.</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56</a:t>
            </a:fld>
            <a:endParaRPr lang="fr-F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FR" dirty="0"/>
          </a:p>
          <a:p>
            <a:pPr algn="just">
              <a:lnSpc>
                <a:spcPct val="150000"/>
              </a:lnSpc>
              <a:buNone/>
            </a:pPr>
            <a:r>
              <a:rPr lang="fr-FR" dirty="0"/>
              <a:t>	De surcroit, les décisions de la justice constitutionnelle, ne peuvent faire parti du droit constitutionnel formel étant donné qu’elles résultent de l’application de la constitution, et de là elles ne relèvent pas de la constitution elle-même. De ce fait, elles ne peuvent nullement modifier le texte constitutionnel (</a:t>
            </a:r>
            <a:r>
              <a:rPr lang="fr-FR" i="1" dirty="0"/>
              <a:t>Ibid., 91</a:t>
            </a:r>
            <a:r>
              <a:rPr lang="fr-FR" dirty="0"/>
              <a:t>). Cela n’est possible que si la constitution elle-même l’autorise expressément, comme c’est le cas pour la constitution autrichienne, qui considère les décisions de la cours constitutionnelle concernant le caractère fédéral ou provincial des lois comme des textes complétant la constitution.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57</a:t>
            </a:fld>
            <a:endParaRPr lang="fr-F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ctr">
              <a:lnSpc>
                <a:spcPct val="150000"/>
              </a:lnSpc>
              <a:buNone/>
            </a:pPr>
            <a:r>
              <a:rPr lang="fr-MA" b="1" i="1" dirty="0">
                <a:solidFill>
                  <a:srgbClr val="FFFF00"/>
                </a:solidFill>
              </a:rPr>
              <a:t>Section 3: </a:t>
            </a:r>
            <a:r>
              <a:rPr lang="fr-MA" b="1" i="1" smtClean="0">
                <a:solidFill>
                  <a:srgbClr val="FFFF00"/>
                </a:solidFill>
              </a:rPr>
              <a:t>la rédaction </a:t>
            </a:r>
            <a:r>
              <a:rPr lang="fr-MA" b="1" i="1" dirty="0">
                <a:solidFill>
                  <a:srgbClr val="FFFF00"/>
                </a:solidFill>
              </a:rPr>
              <a:t>et la révision de la Constitution</a:t>
            </a:r>
          </a:p>
          <a:p>
            <a:pPr algn="just">
              <a:lnSpc>
                <a:spcPct val="150000"/>
              </a:lnSpc>
              <a:buNone/>
            </a:pPr>
            <a:r>
              <a:rPr lang="fr-MA" sz="2400" dirty="0"/>
              <a:t>A l’exception des constitutions coutumières ( GB, Israël, NZ)  qui  ne sont pas écrites, les constitutions formelles  sont  rédigées  par une autorité (Assemblée, conseil, commission) appelée « </a:t>
            </a:r>
            <a:r>
              <a:rPr lang="fr-MA" sz="2400" i="1" dirty="0"/>
              <a:t>le pouvoir constituant</a:t>
            </a:r>
            <a:r>
              <a:rPr lang="fr-MA" sz="2400" dirty="0"/>
              <a:t> originaire». Sa révision suit une procédure spéciale prévue dans le texte constitutionnel lui-même. </a:t>
            </a:r>
          </a:p>
          <a:p>
            <a:pPr algn="just">
              <a:lnSpc>
                <a:spcPct val="150000"/>
              </a:lnSpc>
              <a:buNone/>
            </a:pPr>
            <a:r>
              <a:rPr lang="fr-MA" sz="2400" dirty="0"/>
              <a:t>La procédure de rédaction de la constitution n’est pas la même dans tous les Etats et l’écriture de la constitution reste toujours inachevée et laisse la voie ouverte (mais limitée )à la possibilité de sa révision. </a:t>
            </a:r>
          </a:p>
          <a:p>
            <a:pPr algn="just">
              <a:lnSpc>
                <a:spcPct val="150000"/>
              </a:lnSpc>
              <a:buNone/>
            </a:pPr>
            <a:r>
              <a:rPr lang="fr-MA" sz="2400" dirty="0"/>
              <a:t>Généralement l’écriture d’une constitution se fait dans les circonstances suivantes: la création d’un Etat; la révolution; le changement du régime politique…</a:t>
            </a:r>
            <a:endParaRPr lang="fr-FR" sz="24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58</a:t>
            </a:fld>
            <a:endParaRPr lang="fr-F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EAA8F450-D194-4D47-BCCB-D7DBA7CB4364}"/>
              </a:ext>
            </a:extLst>
          </p:cNvPr>
          <p:cNvSpPr>
            <a:spLocks noGrp="1"/>
          </p:cNvSpPr>
          <p:nvPr>
            <p:ph idx="1"/>
          </p:nvPr>
        </p:nvSpPr>
        <p:spPr>
          <a:xfrm>
            <a:off x="35496" y="136525"/>
            <a:ext cx="8928992" cy="6676851"/>
          </a:xfrm>
        </p:spPr>
        <p:txBody>
          <a:bodyPr>
            <a:normAutofit fontScale="92500"/>
          </a:bodyPr>
          <a:lstStyle/>
          <a:p>
            <a:pPr marL="0" indent="0" algn="ctr">
              <a:buNone/>
            </a:pPr>
            <a:r>
              <a:rPr lang="fr-FR" b="1" dirty="0">
                <a:solidFill>
                  <a:srgbClr val="FFFF00"/>
                </a:solidFill>
              </a:rPr>
              <a:t>quand une constitution est à faire? </a:t>
            </a:r>
          </a:p>
          <a:p>
            <a:pPr marL="0" indent="0" algn="just">
              <a:buNone/>
            </a:pPr>
            <a:r>
              <a:rPr lang="fr-FR" dirty="0"/>
              <a:t>- D'abord lorsqu’une « nouvelle » nation, voit le jour suite à son   indépendance d’une autre nation </a:t>
            </a:r>
            <a:r>
              <a:rPr lang="fr-FR" dirty="0" err="1"/>
              <a:t>exp</a:t>
            </a:r>
            <a:r>
              <a:rPr lang="fr-FR" dirty="0"/>
              <a:t>: Maroc 1956, </a:t>
            </a:r>
          </a:p>
          <a:p>
            <a:pPr algn="just">
              <a:buFontTx/>
              <a:buChar char="-"/>
            </a:pPr>
            <a:r>
              <a:rPr lang="fr-FR" dirty="0"/>
              <a:t>lorsqu’une nation apparais suite à un profond conflit interne.</a:t>
            </a:r>
          </a:p>
          <a:p>
            <a:pPr algn="just">
              <a:buFontTx/>
              <a:buChar char="-"/>
            </a:pPr>
            <a:r>
              <a:rPr lang="fr-FR" dirty="0"/>
              <a:t>Lorsqu’une révolution réussit et opère un changement radical de régime politique</a:t>
            </a:r>
          </a:p>
          <a:p>
            <a:pPr marL="0" indent="0" algn="just">
              <a:buNone/>
            </a:pPr>
            <a:r>
              <a:rPr lang="fr-FR" dirty="0"/>
              <a:t>  Ces nations ont besoin d'une constitution pour plusieurs raisons:</a:t>
            </a:r>
          </a:p>
          <a:p>
            <a:pPr algn="just">
              <a:buFont typeface="Wingdings" panose="05000000000000000000" pitchFamily="2" charset="2"/>
              <a:buChar char="v"/>
            </a:pPr>
            <a:r>
              <a:rPr lang="fr-FR" dirty="0"/>
              <a:t>Une constitution est souvent considérée par la communauté internationale comme une condition nécessaire à la création d'un État,</a:t>
            </a:r>
          </a:p>
          <a:p>
            <a:pPr algn="just">
              <a:buFont typeface="Wingdings" panose="05000000000000000000" pitchFamily="2" charset="2"/>
              <a:buChar char="v"/>
            </a:pPr>
            <a:r>
              <a:rPr lang="fr-FR" dirty="0"/>
              <a:t>les acteurs politiques internes considèrent la constitution comme un élément  fondateur de l’Etat nation. </a:t>
            </a:r>
          </a:p>
          <a:p>
            <a:pPr algn="just">
              <a:buFont typeface="Wingdings" panose="05000000000000000000" pitchFamily="2" charset="2"/>
              <a:buChar char="v"/>
            </a:pPr>
            <a:r>
              <a:rPr lang="fr-FR" dirty="0"/>
              <a:t>les constitutions sont des moyens pratiques pour délimiter formellement l'exercice du pouvoir politique</a:t>
            </a:r>
          </a:p>
          <a:p>
            <a:pPr algn="just">
              <a:buFont typeface="Wingdings" panose="05000000000000000000" pitchFamily="2" charset="2"/>
              <a:buChar char="v"/>
            </a:pPr>
            <a:r>
              <a:rPr lang="fr-FR" dirty="0"/>
              <a:t>Dans les pays ayant populations hétérogènes la constitution permet d'exprimer, l’unité de la nation et de l’Etat.</a:t>
            </a:r>
          </a:p>
        </p:txBody>
      </p:sp>
      <p:sp>
        <p:nvSpPr>
          <p:cNvPr id="4" name="Espace réservé du numéro de diapositive 3">
            <a:extLst>
              <a:ext uri="{FF2B5EF4-FFF2-40B4-BE49-F238E27FC236}">
                <a16:creationId xmlns:a16="http://schemas.microsoft.com/office/drawing/2014/main" xmlns="" id="{42FB85FC-F27A-4BC0-9B14-FB24BCC39A25}"/>
              </a:ext>
            </a:extLst>
          </p:cNvPr>
          <p:cNvSpPr>
            <a:spLocks noGrp="1"/>
          </p:cNvSpPr>
          <p:nvPr>
            <p:ph type="sldNum" sz="quarter" idx="12"/>
          </p:nvPr>
        </p:nvSpPr>
        <p:spPr/>
        <p:txBody>
          <a:bodyPr/>
          <a:lstStyle/>
          <a:p>
            <a:fld id="{0B4B166F-A3A3-4DE9-809D-A8E7BD5C3246}" type="slidenum">
              <a:rPr lang="fr-FR" smtClean="0"/>
              <a:pPr/>
              <a:t>59</a:t>
            </a:fld>
            <a:endParaRPr lang="fr-FR"/>
          </a:p>
        </p:txBody>
      </p:sp>
    </p:spTree>
    <p:extLst>
      <p:ext uri="{BB962C8B-B14F-4D97-AF65-F5344CB8AC3E}">
        <p14:creationId xmlns:p14="http://schemas.microsoft.com/office/powerpoint/2010/main" val="6169672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buNone/>
            </a:pPr>
            <a:endParaRPr lang="fr-MA" dirty="0"/>
          </a:p>
          <a:p>
            <a:pPr algn="just">
              <a:lnSpc>
                <a:spcPct val="150000"/>
              </a:lnSpc>
              <a:buNone/>
            </a:pPr>
            <a:r>
              <a:rPr lang="fr-MA" dirty="0"/>
              <a:t>En règle générale, il existe deux types de constitutions: les constitutions rigides et les constitutions souples.</a:t>
            </a:r>
          </a:p>
          <a:p>
            <a:pPr algn="just">
              <a:lnSpc>
                <a:spcPct val="150000"/>
              </a:lnSpc>
              <a:buFont typeface="Wingdings" pitchFamily="2" charset="2"/>
              <a:buChar char="v"/>
            </a:pPr>
            <a:r>
              <a:rPr lang="fr-MA" dirty="0"/>
              <a:t> </a:t>
            </a:r>
            <a:r>
              <a:rPr lang="fr-MA" b="1" i="1" u="sng" dirty="0">
                <a:solidFill>
                  <a:srgbClr val="FFFF00"/>
                </a:solidFill>
              </a:rPr>
              <a:t>Les constitutions rigides </a:t>
            </a:r>
            <a:r>
              <a:rPr lang="fr-MA" b="1" i="1" dirty="0"/>
              <a:t>: </a:t>
            </a:r>
            <a:r>
              <a:rPr lang="fr-MA" dirty="0"/>
              <a:t>sont</a:t>
            </a:r>
            <a:r>
              <a:rPr lang="fr-MA" b="1" i="1" dirty="0"/>
              <a:t> </a:t>
            </a:r>
            <a:r>
              <a:rPr lang="fr-MA" dirty="0"/>
              <a:t>celles qui ne peuvent être modifiées ou révisées que selon les conditions, la procédure et les organes (</a:t>
            </a:r>
            <a:r>
              <a:rPr lang="fr-MA" i="1" dirty="0"/>
              <a:t>pouvoir constituant dérivé</a:t>
            </a:r>
            <a:r>
              <a:rPr lang="fr-MA" dirty="0"/>
              <a:t>) ( au Maroc : Le Roi; le chef du Gouvernement et 2/3 des membres des deux chambres du parlement; en France: le président, le 1</a:t>
            </a:r>
            <a:r>
              <a:rPr lang="fr-MA" baseline="30000" dirty="0"/>
              <a:t>er</a:t>
            </a:r>
            <a:r>
              <a:rPr lang="fr-MA" dirty="0"/>
              <a:t> ministre et les 3/5 des voix des députés) qu’elles fixent et encadrent préalablement dans leur texte. Cela implique que les pouvoirs de l’organe de révision de la constitution sont strictement limités aussi bien par la procédure  ( forme) que par leur fond ( articles  non révisables) . </a:t>
            </a:r>
          </a:p>
          <a:p>
            <a:pPr algn="just">
              <a:lnSpc>
                <a:spcPct val="150000"/>
              </a:lnSpc>
              <a:buFont typeface="Wingdings" pitchFamily="2" charset="2"/>
              <a:buChar char="v"/>
            </a:pPr>
            <a:endParaRPr lang="fr-FR" b="1"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60</a:t>
            </a:fld>
            <a:endParaRPr lang="fr-F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Font typeface="Wingdings" pitchFamily="2" charset="2"/>
              <a:buChar char="v"/>
            </a:pPr>
            <a:endParaRPr lang="fr-MA" b="1" i="1" dirty="0"/>
          </a:p>
          <a:p>
            <a:pPr algn="just">
              <a:lnSpc>
                <a:spcPct val="150000"/>
              </a:lnSpc>
              <a:buFont typeface="Wingdings" pitchFamily="2" charset="2"/>
              <a:buChar char="v"/>
            </a:pPr>
            <a:r>
              <a:rPr lang="fr-MA" b="1" i="1" dirty="0">
                <a:solidFill>
                  <a:srgbClr val="FFFF00"/>
                </a:solidFill>
              </a:rPr>
              <a:t>Les constitutions souples</a:t>
            </a:r>
            <a:r>
              <a:rPr lang="fr-MA" b="1" i="1" dirty="0"/>
              <a:t>: </a:t>
            </a:r>
            <a:r>
              <a:rPr lang="fr-MA" dirty="0"/>
              <a:t>sont celles qui peuvent être facilement modifiées par le pouvoir constituant dérivé et révisées selon une procédure législative ordinaire. Cela correspond aux constitutions coutumières comme celles de la GB et d’Israël…)</a:t>
            </a:r>
          </a:p>
          <a:p>
            <a:pPr algn="just">
              <a:lnSpc>
                <a:spcPct val="150000"/>
              </a:lnSpc>
              <a:buNone/>
            </a:pPr>
            <a:r>
              <a:rPr lang="fr-MA" dirty="0"/>
              <a:t>NB. </a:t>
            </a:r>
            <a:r>
              <a:rPr lang="fr-MA" i="1" dirty="0"/>
              <a:t>Le pouvoir Constituant est un organe politique dont la mission consiste à élaborer la constitution;</a:t>
            </a:r>
          </a:p>
          <a:p>
            <a:pPr algn="just">
              <a:lnSpc>
                <a:spcPct val="150000"/>
              </a:lnSpc>
              <a:buNone/>
            </a:pPr>
            <a:r>
              <a:rPr lang="fr-MA" i="1" dirty="0"/>
              <a:t>Le pouvoir Constituant dérivé  sont les organes de l’Etat chargés exclusivement par la constitution pour modifier ou réviser la constitution. </a:t>
            </a:r>
            <a:endParaRPr lang="fr-FR"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61</a:t>
            </a:fld>
            <a:endParaRPr lang="fr-F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000108"/>
          </a:xfrm>
        </p:spPr>
        <p:txBody>
          <a:bodyPr>
            <a:normAutofit/>
          </a:bodyPr>
          <a:lstStyle/>
          <a:p>
            <a:r>
              <a:rPr lang="fr-CA" sz="4400" b="1" i="1" dirty="0">
                <a:solidFill>
                  <a:srgbClr val="FFFF00"/>
                </a:solidFill>
              </a:rPr>
              <a:t>Section III : la justice constitutionnelle </a:t>
            </a:r>
            <a:endParaRPr lang="fr-FR" sz="4400" b="1" i="1" dirty="0">
              <a:solidFill>
                <a:srgbClr val="FFFF00"/>
              </a:solidFill>
            </a:endParaRPr>
          </a:p>
        </p:txBody>
      </p:sp>
      <p:sp>
        <p:nvSpPr>
          <p:cNvPr id="3" name="Espace réservé du contenu 2"/>
          <p:cNvSpPr>
            <a:spLocks noGrp="1"/>
          </p:cNvSpPr>
          <p:nvPr>
            <p:ph idx="1"/>
          </p:nvPr>
        </p:nvSpPr>
        <p:spPr>
          <a:xfrm>
            <a:off x="0" y="1071546"/>
            <a:ext cx="9144000" cy="5786454"/>
          </a:xfrm>
        </p:spPr>
        <p:txBody>
          <a:bodyPr>
            <a:normAutofit fontScale="85000" lnSpcReduction="20000"/>
          </a:bodyPr>
          <a:lstStyle/>
          <a:p>
            <a:pPr algn="just">
              <a:buNone/>
            </a:pPr>
            <a:endParaRPr lang="fr-MA" dirty="0"/>
          </a:p>
          <a:p>
            <a:pPr algn="just">
              <a:lnSpc>
                <a:spcPct val="150000"/>
              </a:lnSpc>
              <a:buNone/>
            </a:pPr>
            <a:r>
              <a:rPr lang="fr-MA" sz="3000" dirty="0"/>
              <a:t>La justice constitutionnelle est une fonction juridique ayant pour objectif de contrôler la conformité des lois à la norme supérieure (constitution) qualifiée de </a:t>
            </a:r>
            <a:r>
              <a:rPr lang="fr-MA" sz="3000" i="1" dirty="0"/>
              <a:t>contrôle de la constitutionnalité des lois. </a:t>
            </a:r>
          </a:p>
          <a:p>
            <a:pPr algn="just">
              <a:lnSpc>
                <a:spcPct val="150000"/>
              </a:lnSpc>
              <a:buNone/>
            </a:pPr>
            <a:r>
              <a:rPr lang="fr-FR" sz="3000" dirty="0"/>
              <a:t>La Cour constitutionnelle (ou Conseil constitutionnel) est une instance juridictionnelle à caractère politique. C’est une institution indépendante qui a pour mission de prononcer le droit.  Ses décisions se caractérisent par l’autorité de la chose jugée qui  les rendent exécutoires et définitives </a:t>
            </a:r>
            <a:r>
              <a:rPr lang="fr-FR" dirty="0"/>
              <a:t>.</a:t>
            </a:r>
          </a:p>
          <a:p>
            <a:pPr algn="just">
              <a:lnSpc>
                <a:spcPct val="150000"/>
              </a:lnSpc>
              <a:buNone/>
            </a:pPr>
            <a:r>
              <a:rPr lang="fr-MA"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62</a:t>
            </a:fld>
            <a:endParaRPr lang="fr-F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77500" lnSpcReduction="20000"/>
          </a:bodyPr>
          <a:lstStyle/>
          <a:p>
            <a:pPr algn="just">
              <a:lnSpc>
                <a:spcPct val="150000"/>
              </a:lnSpc>
              <a:buNone/>
            </a:pPr>
            <a:endParaRPr lang="fr-MA" dirty="0"/>
          </a:p>
          <a:p>
            <a:pPr marL="514350" lvl="0" indent="-514350" algn="just">
              <a:lnSpc>
                <a:spcPct val="150000"/>
              </a:lnSpc>
              <a:buAutoNum type="alphaUcPeriod"/>
            </a:pPr>
            <a:r>
              <a:rPr lang="fr-CA" sz="3100" b="1" i="1" dirty="0">
                <a:solidFill>
                  <a:srgbClr val="FFFF00"/>
                </a:solidFill>
              </a:rPr>
              <a:t>Les types de contrôle de la constitutionnalité des lois</a:t>
            </a:r>
            <a:endParaRPr lang="fr-FR" sz="3100" b="1" i="1" dirty="0">
              <a:solidFill>
                <a:srgbClr val="FFFF00"/>
              </a:solidFill>
            </a:endParaRPr>
          </a:p>
          <a:p>
            <a:pPr marL="514350" indent="-514350" algn="just">
              <a:lnSpc>
                <a:spcPct val="150000"/>
              </a:lnSpc>
              <a:buNone/>
            </a:pPr>
            <a:endParaRPr lang="fr-MA" dirty="0"/>
          </a:p>
          <a:p>
            <a:pPr marL="514350" indent="-514350" algn="just">
              <a:lnSpc>
                <a:spcPct val="150000"/>
              </a:lnSpc>
              <a:buNone/>
            </a:pPr>
            <a:r>
              <a:rPr lang="fr-MA" dirty="0"/>
              <a:t>La justice constitutionnelle est une fonction juridique  exceptionnelle assurée par un organe à caractère politique, en raison de la nature politique de la nomination des juges/conseillers constitutionnels et de leur profil professionnel ( professeurs universitaires, avocats politiciens…). </a:t>
            </a:r>
          </a:p>
          <a:p>
            <a:pPr algn="just">
              <a:lnSpc>
                <a:spcPct val="150000"/>
              </a:lnSpc>
              <a:buNone/>
            </a:pPr>
            <a:r>
              <a:rPr lang="fr-MA" dirty="0"/>
              <a:t>Compte tenue de la procédure juridique qui régie sa saisine et ses décisions, notamment suite à l’introduction du recours pour inconstitutionnalité des lois en 2008 en France et en 2011 au Maroc, le caractère juridictionnel de cet organe est définitivement affirmé.</a:t>
            </a:r>
          </a:p>
          <a:p>
            <a:pPr algn="just">
              <a:lnSpc>
                <a:spcPct val="150000"/>
              </a:lnSpc>
              <a:buNone/>
            </a:pPr>
            <a:r>
              <a:rPr lang="fr-MA" dirty="0"/>
              <a:t>La juridisation de cet organe, se manifeste aussi bien par la procédure que par  la logique juridique des décisions prises. Au Maroc, la question est résolue puisque la constitution parle d’une cour et non d’un conseil, comme dans le passé. </a:t>
            </a:r>
          </a:p>
          <a:p>
            <a:pPr algn="just">
              <a:lnSpc>
                <a:spcPct val="150000"/>
              </a:lnSpc>
              <a:buNone/>
            </a:pPr>
            <a:endParaRPr lang="fr-MA"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63</a:t>
            </a:fld>
            <a:endParaRPr lang="fr-F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MA" dirty="0"/>
          </a:p>
          <a:p>
            <a:pPr algn="just">
              <a:lnSpc>
                <a:spcPct val="150000"/>
              </a:lnSpc>
              <a:buNone/>
            </a:pPr>
            <a:r>
              <a:rPr lang="fr-MA" dirty="0"/>
              <a:t>En dehors des compétences qui lui sont expressément dévolues par l’art 132 de la constitution de 2011, le juge constitutionnel ne peut pas intervenir. </a:t>
            </a:r>
            <a:r>
              <a:rPr lang="fr-FR" dirty="0"/>
              <a:t>Pour toutes les autres matières, le président de la République et le Roi disposent d’une compétence générale pour veiller au respect de la Constitution. Cette compétence générale s’exerce discrétionnairement </a:t>
            </a:r>
            <a:r>
              <a:rPr lang="fr-FR" dirty="0" smtClean="0"/>
              <a:t>sur </a:t>
            </a:r>
            <a:r>
              <a:rPr lang="fr-FR" dirty="0"/>
              <a:t>les problèmes constitutionnels que le chef de l’État entend régler ou, en cas de crise, doit régler. </a:t>
            </a:r>
          </a:p>
          <a:p>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64</a:t>
            </a:fld>
            <a:endParaRPr lang="fr-F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buNone/>
            </a:pPr>
            <a:endParaRPr lang="fr-FR" b="1" i="1" dirty="0"/>
          </a:p>
          <a:p>
            <a:pPr algn="just">
              <a:buNone/>
            </a:pPr>
            <a:r>
              <a:rPr lang="fr-FR" b="1" i="1" dirty="0"/>
              <a:t>1. </a:t>
            </a:r>
            <a:r>
              <a:rPr lang="fr-FR" b="1" i="1" dirty="0">
                <a:solidFill>
                  <a:srgbClr val="FFFF00"/>
                </a:solidFill>
              </a:rPr>
              <a:t>L’objet du contrôle de la constitutionnalité</a:t>
            </a:r>
            <a:r>
              <a:rPr lang="fr-FR" b="1" i="1" dirty="0"/>
              <a:t>. </a:t>
            </a:r>
          </a:p>
          <a:p>
            <a:pPr algn="just">
              <a:lnSpc>
                <a:spcPct val="150000"/>
              </a:lnSpc>
              <a:buNone/>
            </a:pPr>
            <a:r>
              <a:rPr lang="fr-FR" dirty="0"/>
              <a:t>C’est la conformité des lois aux normes du degré supérieur  (constitution) qui doit être vérifiée. </a:t>
            </a:r>
          </a:p>
          <a:p>
            <a:pPr algn="just">
              <a:lnSpc>
                <a:spcPct val="150000"/>
              </a:lnSpc>
              <a:buNone/>
            </a:pPr>
            <a:r>
              <a:rPr lang="fr-FR" dirty="0"/>
              <a:t>Ce sont les lois (actes du parlement) tachées d’inconstitutionnalité qui forment le principal objet de la justice constitutionnelle. </a:t>
            </a:r>
          </a:p>
          <a:p>
            <a:pPr algn="just">
              <a:lnSpc>
                <a:spcPct val="150000"/>
              </a:lnSpc>
              <a:buNone/>
            </a:pPr>
            <a:r>
              <a:rPr lang="fr-FR" dirty="0"/>
              <a:t>De ce fait, sont soumis au contrôle de la juridiction constitutionnelle tous les actes qui prennent la forme des lois. Le contrôle de la régularité juridique des lois  est confiée exclusivement juridiction constitutionnelle. </a:t>
            </a:r>
          </a:p>
          <a:p>
            <a:pPr algn="just">
              <a:lnSpc>
                <a:spcPct val="150000"/>
              </a:lnSpc>
              <a:buNone/>
            </a:pPr>
            <a:r>
              <a:rPr lang="fr-MA" dirty="0"/>
              <a:t>Il existe certes une autre forme, politique, de contrôle de constitutionnalité qui est confiée au chef de l’Etat.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65</a:t>
            </a:fld>
            <a:endParaRPr lang="fr-F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normAutofit fontScale="47500" lnSpcReduction="20000"/>
          </a:bodyPr>
          <a:lstStyle/>
          <a:p>
            <a:pPr algn="just">
              <a:lnSpc>
                <a:spcPct val="150000"/>
              </a:lnSpc>
              <a:buNone/>
            </a:pPr>
            <a:endParaRPr lang="fr-FR" dirty="0"/>
          </a:p>
          <a:p>
            <a:pPr algn="just">
              <a:lnSpc>
                <a:spcPct val="170000"/>
              </a:lnSpc>
              <a:buNone/>
            </a:pPr>
            <a:endParaRPr lang="fr-FR" sz="4500" dirty="0"/>
          </a:p>
          <a:p>
            <a:pPr algn="just">
              <a:lnSpc>
                <a:spcPct val="170000"/>
              </a:lnSpc>
              <a:buNone/>
            </a:pPr>
            <a:r>
              <a:rPr lang="fr-FR" sz="5100" dirty="0"/>
              <a:t>Les décisions rendues par la cour/ Conseil constitutionnel sont obligatoires pour l’ensemble des pouvoirs publics. </a:t>
            </a:r>
          </a:p>
          <a:p>
            <a:pPr algn="just">
              <a:lnSpc>
                <a:spcPct val="170000"/>
              </a:lnSpc>
              <a:buNone/>
            </a:pPr>
            <a:r>
              <a:rPr lang="fr-MA" sz="5100" dirty="0"/>
              <a:t>Le juge constitutionnel peut ainsi prendre trois types de décisions: </a:t>
            </a:r>
          </a:p>
          <a:p>
            <a:pPr algn="just">
              <a:lnSpc>
                <a:spcPct val="170000"/>
              </a:lnSpc>
              <a:buFont typeface="Wingdings" pitchFamily="2" charset="2"/>
              <a:buChar char="Ø"/>
            </a:pPr>
            <a:r>
              <a:rPr lang="fr-FR" sz="5100" dirty="0"/>
              <a:t>Il déclare la loi conforme à la Constitution: la loi est promulguée par le roi ou le président de la République ; </a:t>
            </a:r>
          </a:p>
          <a:p>
            <a:pPr algn="just">
              <a:lnSpc>
                <a:spcPct val="170000"/>
              </a:lnSpc>
              <a:buFont typeface="Wingdings" pitchFamily="2" charset="2"/>
              <a:buChar char="Ø"/>
            </a:pPr>
            <a:r>
              <a:rPr lang="fr-FR" sz="5100" dirty="0"/>
              <a:t> il déclare que la loi contient une disposition inconstitutionnelle qui reste inséparable de l’ensemble de </a:t>
            </a:r>
            <a:r>
              <a:rPr lang="fr-FR" sz="5900" dirty="0"/>
              <a:t>cette </a:t>
            </a:r>
            <a:r>
              <a:rPr lang="fr-FR" sz="5100" dirty="0"/>
              <a:t>loi : la promulgation de la loi est bloquée; </a:t>
            </a:r>
            <a:endParaRPr lang="fr-FR" sz="4500" dirty="0"/>
          </a:p>
          <a:p>
            <a:pPr algn="just">
              <a:lnSpc>
                <a:spcPct val="170000"/>
              </a:lnSpc>
              <a:buNone/>
            </a:pPr>
            <a:endParaRPr lang="fr-FR" sz="2900" dirty="0"/>
          </a:p>
          <a:p>
            <a:pPr algn="just">
              <a:lnSpc>
                <a:spcPct val="170000"/>
              </a:lnSpc>
              <a:buNone/>
            </a:pPr>
            <a:r>
              <a:rPr lang="fr-FR" sz="2900"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66</a:t>
            </a:fld>
            <a:endParaRPr lang="fr-F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lnSpc>
                <a:spcPct val="150000"/>
              </a:lnSpc>
              <a:buNone/>
            </a:pPr>
            <a:endParaRPr lang="fr-FR" dirty="0"/>
          </a:p>
          <a:p>
            <a:pPr algn="just">
              <a:lnSpc>
                <a:spcPct val="170000"/>
              </a:lnSpc>
              <a:buFont typeface="Wingdings" pitchFamily="2" charset="2"/>
              <a:buChar char="Ø"/>
            </a:pPr>
            <a:r>
              <a:rPr lang="fr-FR" dirty="0"/>
              <a:t>Il déclare que la loi contient une disposition inconstitutionnelle séparable des autres dispositions législatives : Dans ce cas, ladite loi peut être promulguée sans la disposition censurée; Sinon le roi ou la président de la République peut solliciter une nouvelle lecture de l’ensemble de la loi afin de la conformer avec la </a:t>
            </a:r>
            <a:r>
              <a:rPr lang="fr-FR" dirty="0" smtClean="0"/>
              <a:t>constitution.</a:t>
            </a:r>
            <a:endParaRPr lang="fr-FR" dirty="0"/>
          </a:p>
          <a:p>
            <a:pPr algn="just">
              <a:lnSpc>
                <a:spcPct val="170000"/>
              </a:lnSpc>
              <a:buNone/>
            </a:pPr>
            <a:r>
              <a:rPr lang="fr-FR" dirty="0"/>
              <a:t>Le contrôle de constitutionnalité peut donc empêcher une loi votée d’entrer en application (la promulgation de la loi) ou annuler une disposition législative en vigueur dans le cadre du recours pour exception d’inconstitutionnalité (art. 62 France et 133 Maroc).</a:t>
            </a:r>
          </a:p>
          <a:p>
            <a:pPr algn="just">
              <a:lnSpc>
                <a:spcPct val="170000"/>
              </a:lnSpc>
              <a:buNone/>
            </a:pPr>
            <a:endParaRPr lang="fr-FR" dirty="0"/>
          </a:p>
          <a:p>
            <a:pPr marL="514350" indent="-514350" algn="just">
              <a:lnSpc>
                <a:spcPct val="170000"/>
              </a:lnSpc>
              <a:buNone/>
            </a:pPr>
            <a:endParaRPr lang="fr-FR" dirty="0"/>
          </a:p>
          <a:p>
            <a:pPr algn="just">
              <a:lnSpc>
                <a:spcPct val="150000"/>
              </a:lnSpc>
              <a:buFont typeface="Wingdings" pitchFamily="2" charset="2"/>
              <a:buChar char="v"/>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67</a:t>
            </a:fld>
            <a:endParaRPr lang="fr-F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70000"/>
              </a:lnSpc>
              <a:buNone/>
            </a:pPr>
            <a:endParaRPr lang="fr-MA" b="1" dirty="0"/>
          </a:p>
          <a:p>
            <a:pPr algn="ctr">
              <a:lnSpc>
                <a:spcPct val="170000"/>
              </a:lnSpc>
              <a:buNone/>
            </a:pPr>
            <a:r>
              <a:rPr lang="fr-MA" b="1" dirty="0"/>
              <a:t>2. </a:t>
            </a:r>
            <a:r>
              <a:rPr lang="fr-MA" b="1" dirty="0">
                <a:solidFill>
                  <a:srgbClr val="FFFF00"/>
                </a:solidFill>
              </a:rPr>
              <a:t>Les prérogatives du juge constitutionnel </a:t>
            </a:r>
          </a:p>
          <a:p>
            <a:pPr algn="just">
              <a:lnSpc>
                <a:spcPct val="170000"/>
              </a:lnSpc>
              <a:buNone/>
            </a:pPr>
            <a:r>
              <a:rPr lang="fr-FR" dirty="0"/>
              <a:t>Le juge constitutionnel au Maroc, comme en France est habilité, selon les art 132 de la Constitution marocaine et les articles 57- 60 de la Constitution française de 2008, a statuer dans les domaines suivants: </a:t>
            </a:r>
          </a:p>
          <a:p>
            <a:pPr marL="514350" indent="-514350" algn="just">
              <a:lnSpc>
                <a:spcPct val="170000"/>
              </a:lnSpc>
              <a:buFont typeface="+mj-lt"/>
              <a:buAutoNum type="arabicPeriod"/>
            </a:pPr>
            <a:r>
              <a:rPr lang="fr-FR" dirty="0"/>
              <a:t>la régularité de l'élection des membres du Parlement et des opérations de référendum.</a:t>
            </a:r>
          </a:p>
          <a:p>
            <a:pPr algn="just">
              <a:lnSpc>
                <a:spcPct val="170000"/>
              </a:lnSpc>
              <a:buNone/>
            </a:pP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68</a:t>
            </a:fld>
            <a:endParaRPr lang="fr-F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20000"/>
          </a:bodyPr>
          <a:lstStyle/>
          <a:p>
            <a:pPr marL="514350" indent="-514350" algn="just">
              <a:lnSpc>
                <a:spcPct val="170000"/>
              </a:lnSpc>
              <a:buFont typeface="+mj-lt"/>
              <a:buAutoNum type="arabicPeriod"/>
            </a:pPr>
            <a:endParaRPr lang="fr-FR" dirty="0"/>
          </a:p>
          <a:p>
            <a:pPr marL="514350" indent="-514350" algn="just">
              <a:lnSpc>
                <a:spcPct val="170000"/>
              </a:lnSpc>
              <a:buFont typeface="+mj-lt"/>
              <a:buAutoNum type="arabicPeriod" startAt="2"/>
            </a:pPr>
            <a:r>
              <a:rPr lang="fr-FR" dirty="0"/>
              <a:t>Les lois organiques définitivement votées par le parlement, (art 132 de la C.M et  21 LO de la CC 2014) préalablement avant leur promulgation et 61 (C. F)</a:t>
            </a:r>
          </a:p>
          <a:p>
            <a:pPr marL="514350" indent="-514350" algn="just">
              <a:lnSpc>
                <a:spcPct val="170000"/>
              </a:lnSpc>
              <a:buFont typeface="+mj-lt"/>
              <a:buAutoNum type="arabicPeriod" startAt="2"/>
            </a:pPr>
            <a:r>
              <a:rPr lang="fr-FR" dirty="0"/>
              <a:t>les lois </a:t>
            </a:r>
            <a:r>
              <a:rPr lang="fr-FR" dirty="0" smtClean="0"/>
              <a:t>ordinaires </a:t>
            </a:r>
            <a:r>
              <a:rPr lang="fr-FR" dirty="0"/>
              <a:t>suite à la demande du Roi, du Chef de Gouvernement, du Président de la Chambre des Représentants, du Président de la Chambre des Conseillers, ou </a:t>
            </a:r>
            <a:r>
              <a:rPr lang="fr-FR" b="1" dirty="0"/>
              <a:t>par le cinquième des membres </a:t>
            </a:r>
            <a:r>
              <a:rPr lang="fr-FR" dirty="0"/>
              <a:t>de la Chambre des Représentants ou quarante membres de la Chambre des Conseillers. </a:t>
            </a:r>
          </a:p>
          <a:p>
            <a:pPr marL="514350" indent="-514350" algn="just">
              <a:lnSpc>
                <a:spcPct val="170000"/>
              </a:lnSpc>
              <a:buFont typeface="+mj-lt"/>
              <a:buAutoNum type="arabicPeriod" startAt="2"/>
            </a:pPr>
            <a:r>
              <a:rPr lang="fr-FR" dirty="0"/>
              <a:t>Le règlement intérieur de la Chambre des représentants et celui de la Chambre des conseillers, ainsi que les modifications auxdits règlements, adoptées par chacune des deux chambres, avant leur application ( art 22 LO).</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69</a:t>
            </a:fld>
            <a:endParaRPr lang="fr-F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Mais l’innovation majeur dans le droit constitutionnel Français et Marocain demeure l’introduction d’un contrôle a posteriori, par le recours à la procédure de l’exception d’inconstitutionnalité des lois (art 132 M) et de la question prioritaire de  constitutionnalité  la QPC( art 61-1 F) . </a:t>
            </a:r>
          </a:p>
          <a:p>
            <a:pPr algn="just">
              <a:lnSpc>
                <a:spcPct val="150000"/>
              </a:lnSpc>
              <a:buNone/>
            </a:pPr>
            <a:r>
              <a:rPr lang="fr-MA" dirty="0"/>
              <a:t>C’est un contrôle qui se base sur </a:t>
            </a:r>
            <a:r>
              <a:rPr lang="fr-FR" dirty="0"/>
              <a:t>le droit dont dispose tout justiciable à obtenir l’annulation d’une loi qui porte atteinte à ses droits et libertés garantis par la Constitution.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70</a:t>
            </a:fld>
            <a:endParaRPr lang="fr-F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Dans cette perspective l’article 133 de la Constitution de 2011 déclare que: </a:t>
            </a:r>
          </a:p>
          <a:p>
            <a:pPr algn="just">
              <a:lnSpc>
                <a:spcPct val="150000"/>
              </a:lnSpc>
              <a:buNone/>
            </a:pPr>
            <a:r>
              <a:rPr lang="fr-MA" dirty="0"/>
              <a:t> «</a:t>
            </a:r>
            <a:r>
              <a:rPr lang="fr-FR" i="1" dirty="0"/>
              <a:t>La Cour Constitutionnelle est compétente pour connaître d'une exception d'inconstitutionnalité soulevée au cours d'un procès, lorsqu'il est soutenu par l'une des parties que la loi dont dépend l'issue du litige, porte atteinte aux droits et libertés garantis par la Constitution.</a:t>
            </a:r>
          </a:p>
          <a:p>
            <a:pPr algn="just">
              <a:lnSpc>
                <a:spcPct val="150000"/>
              </a:lnSpc>
              <a:buNone/>
            </a:pPr>
            <a:r>
              <a:rPr lang="fr-FR" i="1" dirty="0"/>
              <a:t>	Une loi organique fixe les conditions et modalités d'application du présent article.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71</a:t>
            </a:fld>
            <a:endParaRPr lang="fr-F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FR" dirty="0"/>
              <a:t>Tandis que l’article 61-1  de la constitution Française du 23 juillet 2008 dispose  que: </a:t>
            </a:r>
          </a:p>
          <a:p>
            <a:pPr algn="just">
              <a:lnSpc>
                <a:spcPct val="150000"/>
              </a:lnSpc>
              <a:buNone/>
            </a:pPr>
            <a:r>
              <a:rPr lang="fr-FR" dirty="0"/>
              <a:t>« </a:t>
            </a:r>
            <a:r>
              <a:rPr lang="fr-FR" i="1" dirty="0"/>
              <a:t>Lorsque, à l’occasion d’une instance en cours devant une juridiction, il est soutenu qu’une disposition législative porte atteinte aux droits et libertés que la Constitution garantit, le Conseil constitutionnel peut être saisi de cette question sur renvoi du Conseil d’État ou de la Cour de cassation qui se prononce dans un délai déterminé </a:t>
            </a:r>
            <a:r>
              <a:rPr lang="fr-FR" dirty="0"/>
              <a:t>».</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72</a:t>
            </a:fld>
            <a:endParaRPr lang="fr-F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buNone/>
            </a:pPr>
            <a:endParaRPr lang="fr-FR" dirty="0"/>
          </a:p>
          <a:p>
            <a:pPr algn="just">
              <a:lnSpc>
                <a:spcPct val="150000"/>
              </a:lnSpc>
              <a:buNone/>
            </a:pPr>
            <a:r>
              <a:rPr lang="fr-FR" dirty="0"/>
              <a:t>Le déclenchement de la procédure d’exception d’inconstitutionnalité  repose ainsi sur un certain nombres de </a:t>
            </a:r>
            <a:r>
              <a:rPr lang="fr-FR" dirty="0" smtClean="0"/>
              <a:t>conditions comme:</a:t>
            </a:r>
            <a:endParaRPr lang="fr-FR" dirty="0"/>
          </a:p>
          <a:p>
            <a:pPr algn="just">
              <a:lnSpc>
                <a:spcPct val="150000"/>
              </a:lnSpc>
              <a:buFont typeface="Wingdings" pitchFamily="2" charset="2"/>
              <a:buChar char="Ø"/>
            </a:pPr>
            <a:r>
              <a:rPr lang="fr-FR" dirty="0"/>
              <a:t>La volonté expresse de l’une des parties lors d’un procès au tribunal;</a:t>
            </a:r>
          </a:p>
          <a:p>
            <a:pPr algn="just">
              <a:lnSpc>
                <a:spcPct val="150000"/>
              </a:lnSpc>
              <a:buFont typeface="Wingdings" pitchFamily="2" charset="2"/>
              <a:buChar char="Ø"/>
            </a:pPr>
            <a:r>
              <a:rPr lang="fr-MA" dirty="0"/>
              <a:t>La loi qui est appliquée par le juge est considérée comme </a:t>
            </a:r>
            <a:r>
              <a:rPr lang="fr-MA" dirty="0" smtClean="0"/>
              <a:t>préjudiciable </a:t>
            </a:r>
            <a:r>
              <a:rPr lang="fr-MA" dirty="0"/>
              <a:t>aux droits et libertés fondamentaux garantis par la constitution;</a:t>
            </a:r>
          </a:p>
          <a:p>
            <a:pPr algn="just">
              <a:lnSpc>
                <a:spcPct val="150000"/>
              </a:lnSpc>
              <a:buFont typeface="Wingdings" pitchFamily="2" charset="2"/>
              <a:buChar char="Ø"/>
            </a:pPr>
            <a:r>
              <a:rPr lang="fr-MA" dirty="0"/>
              <a:t> le respect d’une procédure judicaire de saisine, d’évaluation et de filtration opérées, en France par le Conseil d’Etat ou la cour de cassation. (Au Maroc la loi organique n’est pas encore </a:t>
            </a:r>
            <a:r>
              <a:rPr lang="fr-MA" dirty="0" smtClean="0"/>
              <a:t>promulguée, mais il semble que le projet de loi organique a opté pour l’examen des demandes par tous les tribunaux).</a:t>
            </a:r>
            <a:endParaRPr lang="fr-MA" dirty="0"/>
          </a:p>
          <a:p>
            <a:pPr algn="just">
              <a:lnSpc>
                <a:spcPct val="150000"/>
              </a:lnSpc>
              <a:buFont typeface="Wingdings" pitchFamily="2" charset="2"/>
              <a:buChar char="Ø"/>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73</a:t>
            </a:fld>
            <a:endParaRPr lang="fr-FR"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algn="just">
              <a:lnSpc>
                <a:spcPct val="150000"/>
              </a:lnSpc>
              <a:buNone/>
            </a:pPr>
            <a:endParaRPr lang="fr-MA" dirty="0"/>
          </a:p>
          <a:p>
            <a:pPr algn="just">
              <a:lnSpc>
                <a:spcPct val="150000"/>
              </a:lnSpc>
              <a:buNone/>
            </a:pPr>
            <a:r>
              <a:rPr lang="fr-MA" b="1" dirty="0"/>
              <a:t>3. </a:t>
            </a:r>
            <a:r>
              <a:rPr lang="fr-MA" b="1" dirty="0">
                <a:solidFill>
                  <a:srgbClr val="FFFF00"/>
                </a:solidFill>
              </a:rPr>
              <a:t>La saisine de la justice constitutionnelle</a:t>
            </a:r>
          </a:p>
          <a:p>
            <a:pPr algn="just">
              <a:lnSpc>
                <a:spcPct val="150000"/>
              </a:lnSpc>
              <a:buNone/>
            </a:pPr>
            <a:r>
              <a:rPr lang="fr-MA" dirty="0"/>
              <a:t> Dans les pays qui adoptent le modèle Européen de justice constitutionnelle, le mode de saisine du juge constitutionnel est strictement réglementé par la constitution.</a:t>
            </a:r>
          </a:p>
          <a:p>
            <a:pPr algn="just">
              <a:lnSpc>
                <a:spcPct val="150000"/>
              </a:lnSpc>
              <a:buNone/>
            </a:pPr>
            <a:r>
              <a:rPr lang="fr-MA" dirty="0"/>
              <a:t> Il existe trois types saisine du juge constitutionnel:  à l’initiative des autorités publiques, sur renvoie des juridictions ordinaires et à l’initiative des individus.  </a:t>
            </a:r>
          </a:p>
          <a:p>
            <a:pPr marL="514350" indent="-514350" algn="just">
              <a:lnSpc>
                <a:spcPct val="150000"/>
              </a:lnSpc>
              <a:buFont typeface="+mj-lt"/>
              <a:buAutoNum type="alphaLcParenR"/>
            </a:pPr>
            <a:r>
              <a:rPr lang="fr-MA" b="1" dirty="0"/>
              <a:t>La saisine à l’initiative des autorités publiques</a:t>
            </a:r>
          </a:p>
          <a:p>
            <a:pPr algn="just">
              <a:lnSpc>
                <a:spcPct val="150000"/>
              </a:lnSpc>
              <a:buNone/>
            </a:pPr>
            <a:r>
              <a:rPr lang="fr-MA" dirty="0"/>
              <a:t>A l’exception de la justice constitutionnelle américaine, qui est diffuse entre toutes les juridictions, l’accès à la justice constitutionnelle demeure strictement limité, tant par le nombre limité de personnes habilités à le faire que par la pesanteur de la procédure de saisine.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74</a:t>
            </a:fld>
            <a:endParaRPr lang="fr-FR"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buNone/>
            </a:pPr>
            <a:endParaRPr lang="fr-MA" dirty="0"/>
          </a:p>
          <a:p>
            <a:pPr algn="just">
              <a:buNone/>
            </a:pPr>
            <a:endParaRPr lang="fr-MA" dirty="0"/>
          </a:p>
          <a:p>
            <a:pPr algn="just">
              <a:lnSpc>
                <a:spcPct val="150000"/>
              </a:lnSpc>
              <a:buNone/>
            </a:pPr>
            <a:r>
              <a:rPr lang="fr-MA" dirty="0"/>
              <a:t>Généralement, les autorités habilitées à saisir le juge constitutionnel sont : le chef de l’Etat; le chef du gouvernement; </a:t>
            </a:r>
            <a:r>
              <a:rPr lang="fr-FR" dirty="0"/>
              <a:t>le Président de la Chambre des Représentants; le Président de la Chambre des Conseillers; ou par le cinquième des membres de la Chambre des Représentants ou quarante membres de la Chambre des Conseillers (art 23 LO de la CC</a:t>
            </a:r>
            <a:r>
              <a:rPr lang="fr-FR" dirty="0" smtClean="0"/>
              <a:t>). Ou par 6o </a:t>
            </a:r>
            <a:r>
              <a:rPr lang="fr-FR" dirty="0"/>
              <a:t>député en France et 50 en Espagne </a:t>
            </a:r>
            <a:r>
              <a:rPr lang="fr-FR" dirty="0" smtClean="0"/>
              <a:t>; 1/3 </a:t>
            </a:r>
            <a:r>
              <a:rPr lang="fr-FR" dirty="0"/>
              <a:t>en Allemagne et en Autriche, 1/5  au Portugal.</a:t>
            </a:r>
          </a:p>
          <a:p>
            <a:pPr algn="just">
              <a:lnSpc>
                <a:spcPct val="150000"/>
              </a:lnSpc>
              <a:buNone/>
            </a:pPr>
            <a:r>
              <a:rPr lang="fr-MA" dirty="0"/>
              <a:t>En Allemagne et en Autriche, les autorités locales (gouvernement local) peuvent aussi saisir le juge constitutionnel.  </a:t>
            </a:r>
          </a:p>
          <a:p>
            <a:pPr algn="just">
              <a:lnSpc>
                <a:spcPct val="150000"/>
              </a:lnSpc>
              <a:buNone/>
            </a:pPr>
            <a:r>
              <a:rPr lang="fr-MA" dirty="0"/>
              <a:t>En Espagne et au Portugal le défenseur du peuple, Ombudsman peut  lui aussi saisir le juge constitutionnel </a:t>
            </a: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75</a:t>
            </a:fld>
            <a:endParaRPr lang="fr-F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62500" lnSpcReduction="20000"/>
          </a:bodyPr>
          <a:lstStyle/>
          <a:p>
            <a:pPr marL="514350" indent="-514350" algn="just">
              <a:buFont typeface="+mj-lt"/>
              <a:buAutoNum type="alphaLcParenR" startAt="2"/>
            </a:pPr>
            <a:endParaRPr lang="fr-MA" b="1" i="1" dirty="0"/>
          </a:p>
          <a:p>
            <a:pPr marL="514350" indent="-514350" algn="ctr">
              <a:buFont typeface="+mj-lt"/>
              <a:buAutoNum type="alphaLcParenR" startAt="2"/>
            </a:pPr>
            <a:r>
              <a:rPr lang="fr-MA" sz="3200" b="1" i="1" dirty="0">
                <a:solidFill>
                  <a:srgbClr val="FFFF00"/>
                </a:solidFill>
              </a:rPr>
              <a:t>La saisine par l’intermédiaire des </a:t>
            </a:r>
            <a:r>
              <a:rPr lang="fr-MA" sz="3200" b="1" i="1" dirty="0" smtClean="0">
                <a:solidFill>
                  <a:srgbClr val="FFFF00"/>
                </a:solidFill>
              </a:rPr>
              <a:t>tribunaux: </a:t>
            </a:r>
            <a:r>
              <a:rPr lang="fr-MA" sz="3200" b="1" i="1" dirty="0">
                <a:solidFill>
                  <a:srgbClr val="FFFF00"/>
                </a:solidFill>
              </a:rPr>
              <a:t>la question prioritaire de constitutionnalité ( La QPC) Ou l’exception d’inconstitutionnalité</a:t>
            </a:r>
            <a:r>
              <a:rPr lang="fr-MA" sz="3200" b="1" i="1" dirty="0"/>
              <a:t>. </a:t>
            </a:r>
          </a:p>
          <a:p>
            <a:pPr marL="514350" indent="-514350" algn="just">
              <a:lnSpc>
                <a:spcPct val="150000"/>
              </a:lnSpc>
              <a:buNone/>
            </a:pPr>
            <a:endParaRPr lang="fr-MA" dirty="0"/>
          </a:p>
          <a:p>
            <a:pPr marL="514350" indent="-514350" algn="just">
              <a:lnSpc>
                <a:spcPct val="170000"/>
              </a:lnSpc>
              <a:buNone/>
            </a:pPr>
            <a:r>
              <a:rPr lang="fr-MA" sz="3200" dirty="0"/>
              <a:t>En fait, il existe une différence entre la QPC et l’exception d’inconstitutionnalité,  en ce sens que dans le cadre de cette dernière, la question d’inconstitutionnalité est soulevée directement devant le juge ordinaire (1</a:t>
            </a:r>
            <a:r>
              <a:rPr lang="fr-MA" sz="3200" baseline="30000" dirty="0"/>
              <a:t>ère</a:t>
            </a:r>
            <a:r>
              <a:rPr lang="fr-MA" sz="3200" dirty="0"/>
              <a:t> instance, cassation, Administratif, commercial..) par le justiciable lors d’un procès. Alors que dans le cadre de la QPC le juge ne tranche pas lui-même dans question d’inconstitutionnalité, mais la renvoie au juge constitutionnel qui va statuer et en décider le sort. </a:t>
            </a:r>
          </a:p>
          <a:p>
            <a:pPr marL="514350" indent="-514350" algn="just">
              <a:lnSpc>
                <a:spcPct val="170000"/>
              </a:lnSpc>
              <a:buNone/>
            </a:pPr>
            <a:r>
              <a:rPr lang="fr-MA" sz="3200" dirty="0"/>
              <a:t>De plus la décision rendu à l’occasion de la QPC a un effet exécutoire pour tous les litiges identiques, alors ce celle rendue à l’occasion d’exception d’inconstitutionnalité n’a d’effet que sur les justiciable en procès. ( Favreau, 291</a:t>
            </a:r>
            <a:r>
              <a:rPr lang="fr-MA" sz="2900" dirty="0"/>
              <a:t>)</a:t>
            </a:r>
          </a:p>
          <a:p>
            <a:pPr marL="514350" indent="-514350" algn="just">
              <a:lnSpc>
                <a:spcPct val="150000"/>
              </a:lnSpc>
              <a:buNone/>
            </a:pPr>
            <a:r>
              <a:rPr lang="fr-MA" sz="2900" dirty="0"/>
              <a:t> </a:t>
            </a:r>
            <a:endParaRPr lang="fr-FR" sz="29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76</a:t>
            </a:fld>
            <a:endParaRPr lang="fr-F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marL="514350" indent="-514350" algn="just">
              <a:buFont typeface="+mj-lt"/>
              <a:buAutoNum type="alphaLcParenR" startAt="3"/>
            </a:pPr>
            <a:r>
              <a:rPr lang="fr-MA" b="1" i="1" dirty="0">
                <a:solidFill>
                  <a:srgbClr val="FFFF00"/>
                </a:solidFill>
              </a:rPr>
              <a:t>La saisine par les individus ( voie d’action et voie d’exception) </a:t>
            </a:r>
          </a:p>
          <a:p>
            <a:pPr marL="514350" indent="-514350" algn="just">
              <a:lnSpc>
                <a:spcPct val="150000"/>
              </a:lnSpc>
              <a:buNone/>
            </a:pPr>
            <a:r>
              <a:rPr lang="fr-MA" dirty="0"/>
              <a:t>Les voies d’accès au juge constitutionnel sont limitées en deux pour les individus: directement par voie d’action et par voie d’exception, comme c’est le cas dans le modèle Américain.</a:t>
            </a:r>
          </a:p>
          <a:p>
            <a:pPr marL="514350" indent="-514350" algn="just">
              <a:lnSpc>
                <a:spcPct val="150000"/>
              </a:lnSpc>
              <a:buFont typeface="+mj-lt"/>
              <a:buAutoNum type="arabicPeriod"/>
            </a:pPr>
            <a:r>
              <a:rPr lang="fr-MA" b="1" i="1" dirty="0"/>
              <a:t>La saisine directe par voie d’action </a:t>
            </a:r>
          </a:p>
          <a:p>
            <a:pPr marL="514350" indent="-514350" algn="just">
              <a:lnSpc>
                <a:spcPct val="150000"/>
              </a:lnSpc>
              <a:buNone/>
            </a:pPr>
            <a:r>
              <a:rPr lang="fr-FR" dirty="0"/>
              <a:t>La caractéristique essentielle de ces recours est leur objet qui porte principalement sur la protection des droits fondamentaux des individus.</a:t>
            </a:r>
          </a:p>
          <a:p>
            <a:pPr marL="514350" indent="-514350" algn="just">
              <a:lnSpc>
                <a:spcPct val="150000"/>
              </a:lnSpc>
              <a:buFont typeface="+mj-lt"/>
              <a:buAutoNum type="arabicPeriod" startAt="2"/>
            </a:pPr>
            <a:r>
              <a:rPr lang="fr-MA" b="1" i="1" dirty="0"/>
              <a:t>La saisine indirecte par voie d’exception</a:t>
            </a:r>
          </a:p>
          <a:p>
            <a:pPr marL="514350" indent="-514350" algn="just">
              <a:lnSpc>
                <a:spcPct val="150000"/>
              </a:lnSpc>
              <a:buNone/>
            </a:pPr>
            <a:r>
              <a:rPr lang="fr-MA" dirty="0"/>
              <a:t>La question d’inconstitutionnalité d’une loi, acte administratif ou législatif peut être soulevée devant tous les tribunaux pou y statuer directement. </a:t>
            </a:r>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77</a:t>
            </a:fld>
            <a:endParaRPr lang="fr-F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lgn="just">
              <a:buNone/>
            </a:pPr>
            <a:endParaRPr lang="fr-MA" dirty="0"/>
          </a:p>
          <a:p>
            <a:pPr lvl="0" algn="just">
              <a:buNone/>
            </a:pPr>
            <a:r>
              <a:rPr lang="fr-MA" dirty="0"/>
              <a:t>B. </a:t>
            </a:r>
            <a:r>
              <a:rPr lang="fr-CA" b="1" i="1" dirty="0">
                <a:solidFill>
                  <a:srgbClr val="FFFF00"/>
                </a:solidFill>
              </a:rPr>
              <a:t>Les types de justice constitutionnelle</a:t>
            </a:r>
            <a:endParaRPr lang="fr-FR" b="1" i="1" dirty="0">
              <a:solidFill>
                <a:srgbClr val="FFFF00"/>
              </a:solidFill>
            </a:endParaRPr>
          </a:p>
          <a:p>
            <a:pPr algn="just">
              <a:lnSpc>
                <a:spcPct val="150000"/>
              </a:lnSpc>
              <a:buNone/>
            </a:pPr>
            <a:r>
              <a:rPr lang="fr-FR" sz="2800" dirty="0"/>
              <a:t>les systèmes de justice constitutionnelle présentent des caractéristiques propres qui permettent de distinguer chaque modèle, en fonction des critères retenus (procédure de saisine, objet du contrôle, normes de référence du contrôle, etc.). Ainsi, deux grands modèles peuvent être observés. Le modèle américain de justice constitutionnelle et le modèle européen </a:t>
            </a:r>
            <a:r>
              <a:rPr lang="fr-FR" dirty="0"/>
              <a: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78</a:t>
            </a:fld>
            <a:endParaRPr lang="fr-F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marL="514350" indent="-514350" algn="ctr">
              <a:buFont typeface="+mj-lt"/>
              <a:buAutoNum type="arabicPeriod"/>
            </a:pPr>
            <a:r>
              <a:rPr lang="fr-MA" b="1" i="1" dirty="0">
                <a:solidFill>
                  <a:srgbClr val="FFFF00"/>
                </a:solidFill>
              </a:rPr>
              <a:t>Le modèle américain</a:t>
            </a:r>
          </a:p>
          <a:p>
            <a:pPr marL="514350" indent="-514350">
              <a:buNone/>
            </a:pPr>
            <a:endParaRPr lang="fr-MA" dirty="0"/>
          </a:p>
          <a:p>
            <a:pPr marL="514350" indent="-514350" algn="just">
              <a:lnSpc>
                <a:spcPct val="150000"/>
              </a:lnSpc>
              <a:buNone/>
            </a:pPr>
            <a:r>
              <a:rPr lang="fr-FR" dirty="0"/>
              <a:t>Le modèle américain date depuis le début du XIXe  siècle. </a:t>
            </a:r>
          </a:p>
          <a:p>
            <a:pPr marL="514350" indent="-514350" algn="just">
              <a:lnSpc>
                <a:spcPct val="150000"/>
              </a:lnSpc>
              <a:buNone/>
            </a:pPr>
            <a:r>
              <a:rPr lang="fr-FR" dirty="0"/>
              <a:t>Ce modèle permet à toutes les juridictions ordinaires d’ exercer la justice constitutionnelle. On l’appelle le modèle de juridiction constitutionnelle diffus. La Cour suprême, chapote l'ensemble des juridictions et fait partie intégrante du troisième pouvoir, le pouvoir judiciaire. </a:t>
            </a:r>
          </a:p>
          <a:p>
            <a:pPr marL="514350" indent="-514350" algn="just">
              <a:lnSpc>
                <a:spcPct val="150000"/>
              </a:lnSpc>
              <a:buNone/>
            </a:pPr>
            <a:r>
              <a:rPr lang="fr-MA" dirty="0"/>
              <a:t>Du coup, </a:t>
            </a:r>
            <a:r>
              <a:rPr lang="fr-FR" dirty="0"/>
              <a:t>c’est la Cour suprême qui assure l’interprétation qui s’impose à l’ensemble des tribunaux.</a:t>
            </a:r>
          </a:p>
          <a:p>
            <a:pPr marL="514350" indent="-514350" algn="just">
              <a:lnSpc>
                <a:spcPct val="150000"/>
              </a:lnSpc>
              <a:buNone/>
            </a:pPr>
            <a:r>
              <a:rPr lang="fr-MA" dirty="0"/>
              <a:t>Ce modèle diffus s’explique par la méfiance des américains à l’égard du parlement anglais qui protégeait davantage les colons sur les natifs. Ce modèle leur permettait alors d’attaquer en justice toute loi votée par le parlement Britannique qui ne respectait les droits des citoyens.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79</a:t>
            </a:fld>
            <a:endParaRPr lang="fr-FR"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endParaRPr lang="fr-FR" dirty="0"/>
          </a:p>
          <a:p>
            <a:pPr algn="just">
              <a:lnSpc>
                <a:spcPct val="150000"/>
              </a:lnSpc>
              <a:buNone/>
            </a:pPr>
            <a:endParaRPr lang="fr-FR" dirty="0"/>
          </a:p>
          <a:p>
            <a:pPr algn="just">
              <a:lnSpc>
                <a:spcPct val="150000"/>
              </a:lnSpc>
              <a:buNone/>
            </a:pPr>
            <a:r>
              <a:rPr lang="fr-FR" dirty="0"/>
              <a:t>Le fondement de ce modèle de justice constitutionnelle repose sur l’idée que la Constitution doit être préférée à la loi, et que la volonté du peuple doit primer sur la volonté agents de l’Etat.</a:t>
            </a:r>
          </a:p>
          <a:p>
            <a:pPr algn="just">
              <a:lnSpc>
                <a:spcPct val="150000"/>
              </a:lnSpc>
              <a:buNone/>
            </a:pPr>
            <a:r>
              <a:rPr lang="fr-FR" dirty="0"/>
              <a:t>De ce fait, ce modèle se caractérise par l'exercice d'un contrôle diffus, effectué généralement a posteriori par voie d’exception.</a:t>
            </a:r>
          </a:p>
          <a:p>
            <a:pPr algn="just">
              <a:lnSpc>
                <a:spcPct val="150000"/>
              </a:lnSpc>
              <a:buNone/>
            </a:pPr>
            <a:r>
              <a:rPr lang="fr-FR" dirty="0"/>
              <a:t> Il est déclenché le plus souvent par tout justiciable qui, à l’occasion d’un procès ordinaire civil ou administratif, peut soulever, pour sa défense, une exception d’inconstitutionnalité.</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80</a:t>
            </a:fld>
            <a:endParaRPr lang="fr-F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lnSpc>
                <a:spcPct val="150000"/>
              </a:lnSpc>
              <a:buNone/>
            </a:pPr>
            <a:endParaRPr lang="fr-FR" dirty="0"/>
          </a:p>
          <a:p>
            <a:pPr algn="just">
              <a:lnSpc>
                <a:spcPct val="150000"/>
              </a:lnSpc>
              <a:buNone/>
            </a:pPr>
            <a:r>
              <a:rPr lang="fr-FR" dirty="0"/>
              <a:t>Le jugement d’inconstitutionnalité n’est applicable que pour les parties en litige. La variation des jugements entre les Etats et les juridictions est souvent corrigée,  en cas d’appel auprès de la Cour suprême, grâce au principe de la règle du jugement précédant. De cette manière elle bloque l’application de la loi en question sur tout le territoire Américain, sans pour autant l’annuler .</a:t>
            </a:r>
          </a:p>
          <a:p>
            <a:pPr algn="just">
              <a:lnSpc>
                <a:spcPct val="150000"/>
              </a:lnSpc>
              <a:buNone/>
            </a:pPr>
            <a:r>
              <a:rPr lang="fr-FR" dirty="0"/>
              <a:t>Ainsi, le juge peut être saisi de questions sociales et politiques qui ne sont pas encore tranchées par la loi fédérale. Cela fait que la cour suprême jouit d’une grande influence politique aux Etats Unis. </a:t>
            </a:r>
          </a:p>
          <a:p>
            <a:pPr algn="just">
              <a:lnSpc>
                <a:spcPct val="150000"/>
              </a:lnSpc>
              <a:buNone/>
            </a:pPr>
            <a:r>
              <a:rPr lang="fr-MA" dirty="0"/>
              <a:t>Malgré sa pertinence le modèle américain reste exceptionnel et n’a pas d’équivalent dans le monde. </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81</a:t>
            </a:fld>
            <a:endParaRPr lang="fr-F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514350" indent="-514350" algn="just">
              <a:buFont typeface="+mj-lt"/>
              <a:buAutoNum type="arabicPeriod" startAt="2"/>
            </a:pPr>
            <a:endParaRPr lang="fr-FR" b="1" i="1" dirty="0"/>
          </a:p>
          <a:p>
            <a:pPr marL="514350" indent="-514350" algn="just">
              <a:buFont typeface="+mj-lt"/>
              <a:buAutoNum type="arabicPeriod" startAt="2"/>
            </a:pPr>
            <a:r>
              <a:rPr lang="fr-FR" b="1" i="1" dirty="0">
                <a:solidFill>
                  <a:srgbClr val="FFFF00"/>
                </a:solidFill>
              </a:rPr>
              <a:t>Le modèle Européen</a:t>
            </a:r>
          </a:p>
          <a:p>
            <a:pPr marL="514350" indent="-514350" algn="just">
              <a:lnSpc>
                <a:spcPct val="150000"/>
              </a:lnSpc>
              <a:buNone/>
            </a:pPr>
            <a:r>
              <a:rPr lang="fr-MA" dirty="0"/>
              <a:t>Ce modèle de justice constitutionnel est né suite à l’ expérience autrichienne introduite, sur instigation du célèbre théoricien de droit Hans Kelsen, en 1920. cette expérience sera reproduite partout en Europe, depuis la deuxième guerre mondiale. </a:t>
            </a:r>
          </a:p>
          <a:p>
            <a:pPr marL="514350" indent="-514350" algn="just">
              <a:lnSpc>
                <a:spcPct val="150000"/>
              </a:lnSpc>
              <a:buNone/>
            </a:pPr>
            <a:r>
              <a:rPr lang="fr-MA" dirty="0"/>
              <a:t>Ce modèle repose sur le principe de la suprématie formelle de la constitution dans la hiérarchie des normes, qui implique la nécessité d’une juridiction spéciale et unique qui veille au respect de la norme suprême et de tout l’ordre juridique. </a:t>
            </a:r>
          </a:p>
          <a:p>
            <a:pPr marL="514350" indent="-514350" algn="just">
              <a:lnSpc>
                <a:spcPct val="150000"/>
              </a:lnSpc>
              <a:buNone/>
            </a:pPr>
            <a:endParaRPr lang="fr-FR" dirty="0"/>
          </a:p>
          <a:p>
            <a:pPr marL="514350" indent="-514350" algn="just">
              <a:buNone/>
            </a:pPr>
            <a:endParaRPr lang="fr-FR" b="1"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82</a:t>
            </a:fld>
            <a:endParaRPr lang="fr-F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dirty="0"/>
          </a:p>
          <a:p>
            <a:pPr algn="just">
              <a:lnSpc>
                <a:spcPct val="150000"/>
              </a:lnSpc>
              <a:buNone/>
            </a:pPr>
            <a:r>
              <a:rPr lang="fr-MA" dirty="0"/>
              <a:t>Le juge constitutionnel se prononce ainsi sur la conformité des lois a la constitution sans pour autant s’intéresser à la pertinence de son contenu. </a:t>
            </a:r>
          </a:p>
          <a:p>
            <a:pPr algn="just">
              <a:lnSpc>
                <a:spcPct val="150000"/>
              </a:lnSpc>
              <a:buNone/>
            </a:pPr>
            <a:r>
              <a:rPr lang="fr-MA" dirty="0"/>
              <a:t>Cette fonction vitale pour l’ordre juridique national est assurée exclusivement par une cour constitutionnelle qui centralise tous les recours d’inconstitutionnalité des lois. </a:t>
            </a:r>
          </a:p>
          <a:p>
            <a:pPr algn="just">
              <a:lnSpc>
                <a:spcPct val="150000"/>
              </a:lnSpc>
              <a:buNone/>
            </a:pPr>
            <a:r>
              <a:rPr lang="fr-MA" dirty="0"/>
              <a:t>Ce modèle de contrôle de la constitutionnalité des lois repose sur une série de principes fondateurs qui sont: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83</a:t>
            </a:fld>
            <a:endParaRPr lang="fr-F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lnSpc>
                <a:spcPct val="150000"/>
              </a:lnSpc>
              <a:buNone/>
            </a:pPr>
            <a:endParaRPr lang="fr-MA" dirty="0"/>
          </a:p>
          <a:p>
            <a:pPr algn="just">
              <a:lnSpc>
                <a:spcPct val="150000"/>
              </a:lnSpc>
              <a:buFont typeface="Wingdings" pitchFamily="2" charset="2"/>
              <a:buChar char="Ø"/>
            </a:pPr>
            <a:r>
              <a:rPr lang="fr-MA" dirty="0"/>
              <a:t>Le contrôle centralisé de la constitutionnalité des lois par une juridiction suprême de nature différente des juridictions ordinaires.</a:t>
            </a:r>
          </a:p>
          <a:p>
            <a:pPr algn="just">
              <a:lnSpc>
                <a:spcPct val="150000"/>
              </a:lnSpc>
              <a:buFont typeface="Wingdings" pitchFamily="2" charset="2"/>
              <a:buChar char="Ø"/>
            </a:pPr>
            <a:r>
              <a:rPr lang="fr-MA" dirty="0"/>
              <a:t> l’application d’un contrôle abstrait des lois qui est déclenché chaque fois que ces dernières sont jugées non conformes à la constitution, abstraction faite de l’existence d’un litige juridique entre des parties.</a:t>
            </a:r>
          </a:p>
          <a:p>
            <a:pPr algn="just">
              <a:lnSpc>
                <a:spcPct val="150000"/>
              </a:lnSpc>
              <a:buFont typeface="Wingdings" pitchFamily="2" charset="2"/>
              <a:buChar char="Ø"/>
            </a:pPr>
            <a:r>
              <a:rPr lang="fr-MA" dirty="0"/>
              <a:t> le contrôle par voie d’action soumis par les autorités politiques a priori avant la promulgation de la loi ou a posteriori après sa promulgation </a:t>
            </a:r>
            <a:r>
              <a:rPr lang="fr-FR" dirty="0"/>
              <a:t>(Autriche, Allemagne, Italie, Portugal, Espagne, Belgique)</a:t>
            </a:r>
            <a:endParaRPr lang="fr-MA" dirty="0"/>
          </a:p>
          <a:p>
            <a:pPr algn="just">
              <a:lnSpc>
                <a:spcPct val="150000"/>
              </a:lnSpc>
              <a:buFont typeface="Wingdings" pitchFamily="2" charset="2"/>
              <a:buChar char="Ø"/>
            </a:pPr>
            <a:endParaRPr lang="fr-MA" dirty="0"/>
          </a:p>
          <a:p>
            <a:pPr algn="just">
              <a:lnSpc>
                <a:spcPct val="150000"/>
              </a:lnSpc>
              <a:buFont typeface="Wingdings" pitchFamily="2" charset="2"/>
              <a:buChar char="Ø"/>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84</a:t>
            </a:fld>
            <a:endParaRPr lang="fr-F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Font typeface="Wingdings" pitchFamily="2" charset="2"/>
              <a:buChar char="Ø"/>
            </a:pPr>
            <a:r>
              <a:rPr lang="fr-MA" dirty="0"/>
              <a:t>L’autorité absolue de la chose jugée. Une fois rendue, la décision du juge constitutionnel s’applique, immédiatement et sans possibilité de recours, </a:t>
            </a:r>
            <a:r>
              <a:rPr lang="fr-FR" dirty="0"/>
              <a:t>à tous les litiges concrets soumis aux juridictions ordinaires. </a:t>
            </a:r>
          </a:p>
          <a:p>
            <a:pPr algn="just">
              <a:lnSpc>
                <a:spcPct val="150000"/>
              </a:lnSpc>
              <a:buNone/>
            </a:pPr>
            <a:r>
              <a:rPr lang="fr-MA" dirty="0"/>
              <a:t> Ce modèle de contrôle de la constitutionnalité des lois semble être plus rapide et assure plus de cohérence dans l’ordre juridique entre les différentes normes. Il semble aussi qu’il est devenu un modèle universel adopté partout dans le monde ( Maroc, France, Italie, ….)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85</a:t>
            </a:fld>
            <a:endParaRPr lang="fr-F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571612"/>
          </a:xfrm>
        </p:spPr>
        <p:txBody>
          <a:bodyPr>
            <a:normAutofit/>
          </a:bodyPr>
          <a:lstStyle/>
          <a:p>
            <a:pPr algn="ctr"/>
            <a:r>
              <a:rPr lang="fr-FR" sz="4800" b="1" i="1" dirty="0">
                <a:solidFill>
                  <a:srgbClr val="FFFF00"/>
                </a:solidFill>
              </a:rPr>
              <a:t>Chapitre I. Le modèle constitutionnel parlementaire</a:t>
            </a:r>
            <a:endParaRPr lang="fr-FR" sz="4400" dirty="0">
              <a:solidFill>
                <a:srgbClr val="FFFF00"/>
              </a:solidFill>
            </a:endParaRPr>
          </a:p>
        </p:txBody>
      </p:sp>
      <p:sp>
        <p:nvSpPr>
          <p:cNvPr id="3" name="Espace réservé du contenu 2"/>
          <p:cNvSpPr>
            <a:spLocks noGrp="1"/>
          </p:cNvSpPr>
          <p:nvPr>
            <p:ph idx="1"/>
          </p:nvPr>
        </p:nvSpPr>
        <p:spPr>
          <a:xfrm>
            <a:off x="0" y="1714488"/>
            <a:ext cx="9144000" cy="5143512"/>
          </a:xfrm>
        </p:spPr>
        <p:txBody>
          <a:bodyPr>
            <a:normAutofit/>
          </a:bodyPr>
          <a:lstStyle/>
          <a:p>
            <a:pPr algn="just">
              <a:lnSpc>
                <a:spcPct val="150000"/>
              </a:lnSpc>
              <a:buNone/>
            </a:pPr>
            <a:r>
              <a:rPr lang="fr-FR" dirty="0"/>
              <a:t>La théorie de séparation des pouvoirs a servi de base pour la classification des régimes politiques. Elle distingue les régimes pratiquant la confusion des pouvoirs, (les régimes dictatoriaux, présidentialistes et les régimes d’assemblée) de ceux qui pratiquent la séparation des pouvoirs. Parmi ces derniers, cette théorie distingue ceux qui pratiquent une séparation souple (régimes parlementaires), de ceux qui pratiquent une séparation rigide (régimes présidentiels) .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86</a:t>
            </a:fld>
            <a:endParaRPr lang="fr-F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buNone/>
            </a:pPr>
            <a:endParaRPr lang="fr-MA" dirty="0"/>
          </a:p>
          <a:p>
            <a:pPr algn="just">
              <a:lnSpc>
                <a:spcPct val="150000"/>
              </a:lnSpc>
              <a:buNone/>
            </a:pPr>
            <a:endParaRPr lang="fr-MA" dirty="0"/>
          </a:p>
          <a:p>
            <a:pPr algn="just">
              <a:lnSpc>
                <a:spcPct val="150000"/>
              </a:lnSpc>
              <a:buNone/>
            </a:pPr>
            <a:r>
              <a:rPr lang="fr-MA" dirty="0"/>
              <a:t>Les régimes parlementaires se ressemblent en deux caractéristiques majeures : </a:t>
            </a:r>
          </a:p>
          <a:p>
            <a:pPr algn="just">
              <a:lnSpc>
                <a:spcPct val="150000"/>
              </a:lnSpc>
              <a:buFont typeface="Wingdings" pitchFamily="2" charset="2"/>
              <a:buChar char="v"/>
            </a:pPr>
            <a:r>
              <a:rPr lang="fr-MA" dirty="0"/>
              <a:t> La responsabilité exclusive du gouvernement devant le parlement;</a:t>
            </a:r>
          </a:p>
          <a:p>
            <a:pPr algn="just">
              <a:lnSpc>
                <a:spcPct val="150000"/>
              </a:lnSpc>
              <a:buFont typeface="Wingdings" pitchFamily="2" charset="2"/>
              <a:buChar char="v"/>
            </a:pPr>
            <a:r>
              <a:rPr lang="fr-MA" dirty="0"/>
              <a:t> La fonction honorifique du chef de l’Etat, qu’il soit monarque ou président, en ce sens qu’il n’est pas élu au suffrage universel et qu’il n’est pas responsable politiquement.</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87</a:t>
            </a:fld>
            <a:endParaRPr lang="fr-F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2984"/>
          </a:xfrm>
        </p:spPr>
        <p:txBody>
          <a:bodyPr>
            <a:normAutofit fontScale="90000"/>
          </a:bodyPr>
          <a:lstStyle/>
          <a:p>
            <a:pPr algn="ct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r>
              <a:rPr lang="fr-FR" i="1" dirty="0"/>
              <a:t/>
            </a:r>
            <a:br>
              <a:rPr lang="fr-FR" i="1" dirty="0"/>
            </a:br>
            <a:endParaRPr lang="fr-FR" b="1" dirty="0"/>
          </a:p>
        </p:txBody>
      </p:sp>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dirty="0"/>
          </a:p>
          <a:p>
            <a:pPr algn="just">
              <a:lnSpc>
                <a:spcPct val="150000"/>
              </a:lnSpc>
              <a:buNone/>
            </a:pPr>
            <a:r>
              <a:rPr lang="fr-FR" dirty="0"/>
              <a:t>Le régime parlementaire se confond généralement avec le régime politique démocratique où la souveraineté appartient au peuple et où le </a:t>
            </a:r>
            <a:r>
              <a:rPr lang="fr-FR" dirty="0" smtClean="0"/>
              <a:t>parlement constitue l’organe </a:t>
            </a:r>
            <a:r>
              <a:rPr lang="fr-FR" dirty="0"/>
              <a:t>politique représentatif de la volonté suprême du </a:t>
            </a:r>
            <a:r>
              <a:rPr lang="fr-FR" dirty="0" smtClean="0"/>
              <a:t>peuple, </a:t>
            </a:r>
            <a:r>
              <a:rPr lang="fr-FR" dirty="0"/>
              <a:t>en raison de son élection au suffrage universel direct. </a:t>
            </a:r>
            <a:endParaRPr lang="fr-FR" dirty="0" smtClean="0"/>
          </a:p>
          <a:p>
            <a:pPr algn="just">
              <a:lnSpc>
                <a:spcPct val="150000"/>
              </a:lnSpc>
              <a:buNone/>
            </a:pPr>
            <a:r>
              <a:rPr lang="fr-FR" dirty="0" smtClean="0"/>
              <a:t>Le </a:t>
            </a:r>
            <a:r>
              <a:rPr lang="fr-FR" dirty="0"/>
              <a:t>parlementarisme désigne ainsi un type de régime politique démocratique, né en Grande Bretagne, dès le 18ème siècle, dans lequel il est établit une nette et effective distinction entre les trois pouvoirs, législatif, exécutif et judicaire. </a:t>
            </a:r>
            <a:endParaRPr lang="fr-FR" b="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88</a:t>
            </a:fld>
            <a:endParaRPr lang="fr-F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42852"/>
            <a:ext cx="9144000" cy="6858000"/>
          </a:xfrm>
        </p:spPr>
        <p:txBody>
          <a:bodyPr>
            <a:normAutofit fontScale="92500"/>
          </a:bodyPr>
          <a:lstStyle/>
          <a:p>
            <a:pPr algn="just">
              <a:buNone/>
            </a:pPr>
            <a:endParaRPr lang="fr-FR" dirty="0"/>
          </a:p>
          <a:p>
            <a:pPr algn="just">
              <a:buNone/>
            </a:pPr>
            <a:endParaRPr lang="fr-FR" dirty="0"/>
          </a:p>
          <a:p>
            <a:pPr algn="just">
              <a:lnSpc>
                <a:spcPct val="150000"/>
              </a:lnSpc>
              <a:buNone/>
            </a:pPr>
            <a:r>
              <a:rPr lang="fr-FR" dirty="0"/>
              <a:t>Cette distinction entre les pouvoirs ne signifie pas une indépendance totale entre eux, mais une simple différenciation institutionnelle et fonctionnelle de l’un par rapport à l’autre. </a:t>
            </a:r>
            <a:endParaRPr lang="fr-FR" dirty="0" smtClean="0"/>
          </a:p>
          <a:p>
            <a:pPr algn="just">
              <a:lnSpc>
                <a:spcPct val="150000"/>
              </a:lnSpc>
              <a:buNone/>
            </a:pPr>
            <a:r>
              <a:rPr lang="fr-FR" dirty="0" smtClean="0"/>
              <a:t>Ces </a:t>
            </a:r>
            <a:r>
              <a:rPr lang="fr-FR" dirty="0"/>
              <a:t>organes sont </a:t>
            </a:r>
            <a:r>
              <a:rPr lang="fr-FR" dirty="0" smtClean="0"/>
              <a:t>tenus </a:t>
            </a:r>
            <a:r>
              <a:rPr lang="fr-FR" dirty="0"/>
              <a:t>de collaborer en permanence les uns avec les autres, dans le cadre </a:t>
            </a:r>
            <a:r>
              <a:rPr lang="fr-FR" dirty="0" smtClean="0"/>
              <a:t>de </a:t>
            </a:r>
            <a:r>
              <a:rPr lang="fr-FR" dirty="0"/>
              <a:t>l’unité du pouvoir étatique (Malberg, 347). L’État est de ce fait, une personne morale ayant une existence </a:t>
            </a:r>
            <a:r>
              <a:rPr lang="fr-FR" dirty="0" smtClean="0"/>
              <a:t>juridique, </a:t>
            </a:r>
            <a:r>
              <a:rPr lang="fr-FR" dirty="0"/>
              <a:t>en tant qu’une et indivisible </a:t>
            </a:r>
            <a:r>
              <a:rPr lang="fr-FR" dirty="0" smtClean="0"/>
              <a:t>institution, </a:t>
            </a:r>
            <a:r>
              <a:rPr lang="fr-FR" dirty="0"/>
              <a:t>et il ne serait possible en conséquence de le diviser en organes ayant chacun une portion des pouvoirs distinctes de l’autre.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89</a:t>
            </a:fld>
            <a:endParaRPr lang="fr-F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lvl="0" algn="just">
              <a:lnSpc>
                <a:spcPct val="160000"/>
              </a:lnSpc>
              <a:buNone/>
            </a:pPr>
            <a:r>
              <a:rPr lang="fr-FR" b="1" dirty="0"/>
              <a:t>1. </a:t>
            </a:r>
            <a:r>
              <a:rPr lang="fr-FR" b="1" dirty="0">
                <a:solidFill>
                  <a:srgbClr val="FFFF00"/>
                </a:solidFill>
              </a:rPr>
              <a:t>Typologie du parlementarisme</a:t>
            </a:r>
            <a:endParaRPr lang="fr-FR" dirty="0">
              <a:solidFill>
                <a:srgbClr val="FFFF00"/>
              </a:solidFill>
            </a:endParaRPr>
          </a:p>
          <a:p>
            <a:pPr algn="just">
              <a:lnSpc>
                <a:spcPct val="160000"/>
              </a:lnSpc>
              <a:buNone/>
            </a:pPr>
            <a:r>
              <a:rPr lang="fr-FR" dirty="0" smtClean="0"/>
              <a:t>En générale on distingue deux types </a:t>
            </a:r>
            <a:r>
              <a:rPr lang="fr-FR" dirty="0"/>
              <a:t>de régimes parlementaires: le parlementarisme moniste et le parlementarisme </a:t>
            </a:r>
            <a:r>
              <a:rPr lang="fr-FR" dirty="0" smtClean="0"/>
              <a:t>dualiste, on peut ajouter à cette distinction une autre typologie du parlementarisme rationalisé en opposition au parlementarisme classique dit majoritaire,</a:t>
            </a:r>
          </a:p>
          <a:p>
            <a:pPr algn="just">
              <a:lnSpc>
                <a:spcPct val="160000"/>
              </a:lnSpc>
              <a:buNone/>
            </a:pPr>
            <a:r>
              <a:rPr lang="fr-FR" b="1" dirty="0" smtClean="0"/>
              <a:t>a</a:t>
            </a:r>
            <a:r>
              <a:rPr lang="fr-FR" b="1" dirty="0"/>
              <a:t>. </a:t>
            </a:r>
            <a:r>
              <a:rPr lang="fr-FR" b="1" dirty="0">
                <a:solidFill>
                  <a:srgbClr val="FFFF00"/>
                </a:solidFill>
              </a:rPr>
              <a:t>Le parlementarisme moniste</a:t>
            </a:r>
            <a:r>
              <a:rPr lang="fr-FR" dirty="0"/>
              <a:t>, est le régime parlementaire dans lequel le gouvernement est responsable exclusivement devant le parlement, en raison </a:t>
            </a:r>
            <a:r>
              <a:rPr lang="fr-FR" dirty="0" smtClean="0"/>
              <a:t>du </a:t>
            </a:r>
            <a:r>
              <a:rPr lang="fr-FR" dirty="0"/>
              <a:t>cratère purement honorifique et symbolique des fonctions du chef de l’Etat. </a:t>
            </a:r>
            <a:r>
              <a:rPr lang="fr-FR" dirty="0" smtClean="0">
                <a:solidFill>
                  <a:srgbClr val="FFFF00"/>
                </a:solidFill>
              </a:rPr>
              <a:t>Exemple: </a:t>
            </a:r>
            <a:r>
              <a:rPr lang="fr-FR" dirty="0"/>
              <a:t>Grande Bretagne, Suède Danemark, Espagne…etc. ou les rois ne possèdent que des rôles symboliques et honorifiques qui ne leur permettent d’agir sur le parlement. </a:t>
            </a:r>
          </a:p>
          <a:p>
            <a:pPr>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90</a:t>
            </a:fld>
            <a:endParaRPr lang="fr-F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buNone/>
            </a:pPr>
            <a:endParaRPr lang="fr-FR" dirty="0"/>
          </a:p>
          <a:p>
            <a:pPr>
              <a:buNone/>
            </a:pPr>
            <a:endParaRPr lang="fr-FR" dirty="0"/>
          </a:p>
          <a:p>
            <a:pPr algn="just">
              <a:lnSpc>
                <a:spcPct val="150000"/>
              </a:lnSpc>
              <a:buNone/>
            </a:pPr>
            <a:r>
              <a:rPr lang="fr-FR" dirty="0"/>
              <a:t>Dans ce régime, l’essentiel des pouvoirs politiques se trouve concentré </a:t>
            </a:r>
            <a:r>
              <a:rPr lang="fr-FR" dirty="0" smtClean="0"/>
              <a:t>entre les </a:t>
            </a:r>
            <a:r>
              <a:rPr lang="fr-FR" dirty="0"/>
              <a:t>mains du chef du gouvernement, qui est </a:t>
            </a:r>
            <a:r>
              <a:rPr lang="fr-FR" dirty="0" smtClean="0"/>
              <a:t>gouverne grâce à </a:t>
            </a:r>
            <a:r>
              <a:rPr lang="fr-FR" dirty="0"/>
              <a:t>une majorité parlementaire capable de faire voter et de défendre le programme du gouvernement ou de la coalition gouvernementale qu’il représente.</a:t>
            </a:r>
          </a:p>
          <a:p>
            <a:pPr algn="just">
              <a:lnSpc>
                <a:spcPct val="150000"/>
              </a:lnSpc>
              <a:buNone/>
            </a:pPr>
            <a:r>
              <a:rPr lang="fr-FR" dirty="0"/>
              <a:t>Dans ce type de régime, qui est généralement adopté par la plupart des États </a:t>
            </a:r>
            <a:r>
              <a:rPr lang="fr-FR" dirty="0" smtClean="0"/>
              <a:t>démocratiques </a:t>
            </a:r>
            <a:r>
              <a:rPr lang="fr-FR" dirty="0"/>
              <a:t>occidentaux, le parlement est considéré comme l’institution qui représente le mieux la volonté suprême du peuple, et par conséquence, celle qui est censée voter les lois, qui sont la source principale du pouvoir politique dans l’Etat de droit.</a:t>
            </a:r>
          </a:p>
          <a:p>
            <a:pPr>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91</a:t>
            </a:fld>
            <a:endParaRPr lang="fr-F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fontScale="40000" lnSpcReduction="20000"/>
          </a:bodyPr>
          <a:lstStyle/>
          <a:p>
            <a:pPr lvl="0">
              <a:lnSpc>
                <a:spcPct val="170000"/>
              </a:lnSpc>
              <a:buNone/>
            </a:pPr>
            <a:endParaRPr lang="fr-FR" b="1" dirty="0"/>
          </a:p>
          <a:p>
            <a:pPr lvl="0">
              <a:lnSpc>
                <a:spcPct val="170000"/>
              </a:lnSpc>
              <a:buNone/>
            </a:pPr>
            <a:endParaRPr lang="fr-FR" sz="3600" b="1" dirty="0" smtClean="0"/>
          </a:p>
          <a:p>
            <a:pPr lvl="0">
              <a:lnSpc>
                <a:spcPct val="170000"/>
              </a:lnSpc>
              <a:buNone/>
            </a:pPr>
            <a:r>
              <a:rPr lang="fr-FR" sz="5000" b="1" dirty="0" smtClean="0"/>
              <a:t>b</a:t>
            </a:r>
            <a:r>
              <a:rPr lang="fr-FR" sz="3600" b="1" dirty="0"/>
              <a:t>. </a:t>
            </a:r>
            <a:r>
              <a:rPr lang="fr-FR" sz="6000" b="1" dirty="0">
                <a:solidFill>
                  <a:srgbClr val="FFFF00"/>
                </a:solidFill>
              </a:rPr>
              <a:t>Le parlementarisme dualiste (orléaniste)</a:t>
            </a:r>
            <a:endParaRPr lang="fr-FR" sz="4000" b="1" dirty="0">
              <a:solidFill>
                <a:srgbClr val="FFFF00"/>
              </a:solidFill>
            </a:endParaRPr>
          </a:p>
          <a:p>
            <a:pPr lvl="0">
              <a:lnSpc>
                <a:spcPct val="170000"/>
              </a:lnSpc>
              <a:buNone/>
            </a:pPr>
            <a:endParaRPr lang="fr-FR" dirty="0"/>
          </a:p>
          <a:p>
            <a:pPr algn="just">
              <a:lnSpc>
                <a:spcPct val="170000"/>
              </a:lnSpc>
              <a:buNone/>
            </a:pPr>
            <a:r>
              <a:rPr lang="fr-FR" sz="6000" dirty="0"/>
              <a:t>Dans ce type de parlementarisme, le gouvernement est doublement responsable, devant le chef de l’État et devant le parlement. </a:t>
            </a:r>
            <a:endParaRPr lang="fr-FR" sz="6000" dirty="0" smtClean="0"/>
          </a:p>
          <a:p>
            <a:pPr algn="just">
              <a:lnSpc>
                <a:spcPct val="170000"/>
              </a:lnSpc>
              <a:buNone/>
            </a:pPr>
            <a:r>
              <a:rPr lang="fr-FR" sz="6000" dirty="0" smtClean="0"/>
              <a:t>Ce </a:t>
            </a:r>
            <a:r>
              <a:rPr lang="fr-FR" sz="6000" dirty="0"/>
              <a:t>régime suppose l’existence d’une unité physique des organes de l’État. Le chef de l’État </a:t>
            </a:r>
            <a:r>
              <a:rPr lang="fr-FR" sz="6000" dirty="0" smtClean="0"/>
              <a:t>constitue le véritable chef de l’exécutif </a:t>
            </a:r>
            <a:r>
              <a:rPr lang="fr-FR" sz="6000" dirty="0"/>
              <a:t>et dispose, de ce fait, des prérogatives constitutionnelles importantes qui </a:t>
            </a:r>
            <a:r>
              <a:rPr lang="fr-FR" sz="6000" dirty="0" smtClean="0"/>
              <a:t>imposent</a:t>
            </a:r>
            <a:r>
              <a:rPr lang="fr-FR" sz="6000" dirty="0"/>
              <a:t>, aussi bien au gouvernement qu’au parlement, une collaboration étroite avec lui. </a:t>
            </a:r>
          </a:p>
          <a:p>
            <a:pPr algn="just">
              <a:lnSpc>
                <a:spcPct val="170000"/>
              </a:lnSpc>
              <a:buNone/>
            </a:pPr>
            <a:endParaRPr lang="fr-FR" sz="3500" dirty="0"/>
          </a:p>
          <a:p>
            <a:pPr>
              <a:lnSpc>
                <a:spcPct val="170000"/>
              </a:lnSpc>
              <a:buNone/>
            </a:pPr>
            <a:r>
              <a:rPr lang="fr-FR" dirty="0"/>
              <a: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92</a:t>
            </a:fld>
            <a:endParaRPr lang="fr-F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FR" dirty="0"/>
          </a:p>
          <a:p>
            <a:pPr algn="just">
              <a:lnSpc>
                <a:spcPct val="150000"/>
              </a:lnSpc>
              <a:buNone/>
            </a:pPr>
            <a:endParaRPr lang="fr-FR" dirty="0"/>
          </a:p>
          <a:p>
            <a:pPr algn="just">
              <a:lnSpc>
                <a:spcPct val="150000"/>
              </a:lnSpc>
              <a:buNone/>
            </a:pPr>
            <a:r>
              <a:rPr lang="fr-FR" dirty="0" smtClean="0"/>
              <a:t>Ce statut constitutionnel donne </a:t>
            </a:r>
            <a:r>
              <a:rPr lang="fr-FR" dirty="0"/>
              <a:t>au chef de l’État le droit d’agir à la fois sur le parlement et le gouvernement. Sa supériorité vis-à-vis d’eux est consolidée juridiquement par son irresponsabilité politique et institutionnelle. </a:t>
            </a:r>
            <a:endParaRPr lang="fr-FR" dirty="0" smtClean="0"/>
          </a:p>
          <a:p>
            <a:pPr algn="just">
              <a:lnSpc>
                <a:spcPct val="150000"/>
              </a:lnSpc>
              <a:buNone/>
            </a:pPr>
            <a:r>
              <a:rPr lang="fr-FR" dirty="0" smtClean="0"/>
              <a:t>De </a:t>
            </a:r>
            <a:r>
              <a:rPr lang="fr-FR" dirty="0"/>
              <a:t>ce fait, il peut dissoudre le parlement et mettre fin </a:t>
            </a:r>
            <a:r>
              <a:rPr lang="fr-FR" dirty="0" smtClean="0"/>
              <a:t>aux </a:t>
            </a:r>
            <a:r>
              <a:rPr lang="fr-FR" dirty="0"/>
              <a:t>fonctions du gouvernement. Ce type de régime à été instauré en France, en 1830; lorsque le parlement français avait fait appel à Louis-Philippe d'Orléans pour remplacer le roi Charles X.</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93</a:t>
            </a:fld>
            <a:endParaRPr lang="fr-F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lvl="0" algn="just">
              <a:buNone/>
            </a:pPr>
            <a:endParaRPr lang="fr-FR" b="1" dirty="0"/>
          </a:p>
          <a:p>
            <a:pPr lvl="0" algn="just">
              <a:lnSpc>
                <a:spcPct val="150000"/>
              </a:lnSpc>
              <a:buNone/>
            </a:pPr>
            <a:r>
              <a:rPr lang="fr-FR" b="1" dirty="0"/>
              <a:t>C. </a:t>
            </a:r>
            <a:r>
              <a:rPr lang="fr-FR" b="1" dirty="0">
                <a:solidFill>
                  <a:srgbClr val="FFFF00"/>
                </a:solidFill>
              </a:rPr>
              <a:t>Le parlementarisme </a:t>
            </a:r>
            <a:r>
              <a:rPr lang="fr-FR" b="1" dirty="0" smtClean="0">
                <a:solidFill>
                  <a:srgbClr val="FFFF00"/>
                </a:solidFill>
              </a:rPr>
              <a:t>rationnalisé vs majoritaire</a:t>
            </a:r>
            <a:endParaRPr lang="fr-FR" dirty="0">
              <a:solidFill>
                <a:srgbClr val="FFFF00"/>
              </a:solidFill>
            </a:endParaRPr>
          </a:p>
          <a:p>
            <a:pPr algn="just">
              <a:lnSpc>
                <a:spcPct val="150000"/>
              </a:lnSpc>
              <a:buNone/>
            </a:pPr>
            <a:r>
              <a:rPr lang="fr-FR" dirty="0"/>
              <a:t>Dans ce type de parlementarisme, les pouvoirs du parlement se retrouvent équilibrés (réajustés) et en parfaite harmonie avec ceux du gouvernement. Il est donc un type de régimes où les pouvoirs du Parlement, et leur modalité d’exercice, sont strictement encadrés par des règles constitutionnelles précises. De plus, les règlements des deux chambres sont soumis au contrôle de la constitutionnalité du Conseil constitutionnel avant leur application</a:t>
            </a:r>
            <a:r>
              <a:rPr lang="fr-FR" dirty="0" smtClean="0"/>
              <a:t>. Donc nous sommes devant un équilibre dissymétrique ou l’exécutif à toujours le derniers mot face au législatif. Le gouvernement peut être investit sans majorité, et peut se maintenir </a:t>
            </a:r>
            <a:r>
              <a:rPr lang="fr-FR" smtClean="0"/>
              <a:t>au pouvoir sans </a:t>
            </a:r>
            <a:r>
              <a:rPr lang="fr-FR" dirty="0" smtClean="0"/>
              <a:t>celle là. </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94</a:t>
            </a:fld>
            <a:endParaRPr lang="fr-F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algn="just">
              <a:lnSpc>
                <a:spcPct val="170000"/>
              </a:lnSpc>
              <a:buNone/>
            </a:pPr>
            <a:endParaRPr lang="fr-FR" dirty="0"/>
          </a:p>
          <a:p>
            <a:pPr algn="just">
              <a:lnSpc>
                <a:spcPct val="170000"/>
              </a:lnSpc>
              <a:buNone/>
            </a:pPr>
            <a:r>
              <a:rPr lang="fr-FR" dirty="0" smtClean="0"/>
              <a:t>Le </a:t>
            </a:r>
            <a:r>
              <a:rPr lang="fr-FR" dirty="0"/>
              <a:t>dispositif constitutionnel de rationalisation du travail parlementaire touche plusieurs  niveaux :</a:t>
            </a:r>
          </a:p>
          <a:p>
            <a:pPr marL="514350" lvl="0" indent="-514350" algn="just">
              <a:lnSpc>
                <a:spcPct val="170000"/>
              </a:lnSpc>
              <a:buFont typeface="+mj-lt"/>
              <a:buAutoNum type="arabicPeriod"/>
            </a:pPr>
            <a:r>
              <a:rPr lang="fr-FR" dirty="0"/>
              <a:t>La limitation de la durée des sessions parlementaires (deux fois trois mois par an). Voir art 65. Le Parlement siège pendant deux sessions par an… </a:t>
            </a:r>
          </a:p>
          <a:p>
            <a:pPr marL="514350" lvl="0" indent="-514350" algn="just">
              <a:lnSpc>
                <a:spcPct val="170000"/>
              </a:lnSpc>
              <a:buFont typeface="+mj-lt"/>
              <a:buAutoNum type="arabicPeriod"/>
            </a:pPr>
            <a:r>
              <a:rPr lang="fr-FR" dirty="0"/>
              <a:t>La limitation du domaine de la </a:t>
            </a:r>
            <a:r>
              <a:rPr lang="fr-FR" dirty="0" smtClean="0"/>
              <a:t>loi ( parlement) qui </a:t>
            </a:r>
            <a:r>
              <a:rPr lang="fr-FR" dirty="0"/>
              <a:t>est parallèle à une illimitation du domaine du </a:t>
            </a:r>
            <a:r>
              <a:rPr lang="fr-FR" dirty="0" smtClean="0"/>
              <a:t>règlement ( gouvernement).</a:t>
            </a:r>
            <a:endParaRPr lang="fr-FR" dirty="0"/>
          </a:p>
          <a:p>
            <a:pPr marL="514350" lvl="0" indent="-514350" algn="just">
              <a:lnSpc>
                <a:spcPct val="170000"/>
              </a:lnSpc>
              <a:buFont typeface="+mj-lt"/>
              <a:buAutoNum type="arabicPeriod"/>
            </a:pPr>
            <a:r>
              <a:rPr lang="fr-FR" dirty="0"/>
              <a:t>La limitation de l’initiative législative (propositions des lois) des  parlementaires et de leur droit d’amendement en fonction du domaine de la loi. Voir art 79. « </a:t>
            </a:r>
            <a:r>
              <a:rPr lang="fr-FR" i="1" dirty="0"/>
              <a:t>Le gouvernement peut opposer l'irrecevabilité à toute proposition ou amendement qui n'est pas du domaine de la loi</a:t>
            </a:r>
            <a:r>
              <a:rPr lang="fr-FR"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95</a:t>
            </a:fld>
            <a:endParaRPr lang="fr-F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marL="514350" lvl="0" indent="-514350" algn="just">
              <a:lnSpc>
                <a:spcPct val="170000"/>
              </a:lnSpc>
              <a:buFont typeface="+mj-lt"/>
              <a:buAutoNum type="arabicPeriod" startAt="3"/>
            </a:pPr>
            <a:r>
              <a:rPr lang="fr-FR" dirty="0"/>
              <a:t>La maitrise de l’ordre du jour des deux chambres du parlement. </a:t>
            </a:r>
            <a:endParaRPr lang="fr-FR" dirty="0" smtClean="0"/>
          </a:p>
          <a:p>
            <a:pPr marL="0" lvl="0" indent="0" algn="just">
              <a:lnSpc>
                <a:spcPct val="170000"/>
              </a:lnSpc>
              <a:buNone/>
            </a:pPr>
            <a:r>
              <a:rPr lang="fr-FR" dirty="0" smtClean="0"/>
              <a:t>art </a:t>
            </a:r>
            <a:r>
              <a:rPr lang="fr-FR" dirty="0"/>
              <a:t>82. « </a:t>
            </a:r>
            <a:r>
              <a:rPr lang="fr-FR" i="1" dirty="0"/>
              <a:t>L'ordre du jour de chaque Chambre est établi par son Bureau. Il comporte les projets de loi et les propositions de loi, par priorité, et dans l'ordre que le gouvernement a fixé. Une journée par mois au moins est réservée à l'examen des propositions de loi dont celles de l'Opposition. </a:t>
            </a:r>
            <a:r>
              <a:rPr lang="fr-FR" dirty="0"/>
              <a:t>»</a:t>
            </a:r>
          </a:p>
          <a:p>
            <a:pPr marL="514350" lvl="0" indent="-514350" algn="just">
              <a:lnSpc>
                <a:spcPct val="170000"/>
              </a:lnSpc>
              <a:buFont typeface="+mj-lt"/>
              <a:buAutoNum type="arabicPeriod" startAt="3"/>
            </a:pPr>
            <a:r>
              <a:rPr lang="fr-FR" dirty="0"/>
              <a:t>La limitation de la possibilité pour le parlement de renverser le gouvernement par une motion de censure (voir art 105).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96</a:t>
            </a:fld>
            <a:endParaRPr lang="fr-F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lstStyle/>
          <a:p>
            <a:pPr>
              <a:buNone/>
            </a:pPr>
            <a:endParaRPr lang="fr-FR" dirty="0"/>
          </a:p>
          <a:p>
            <a:pPr>
              <a:buNone/>
            </a:pPr>
            <a:endParaRPr lang="fr-FR" dirty="0"/>
          </a:p>
          <a:p>
            <a:pPr algn="just">
              <a:lnSpc>
                <a:spcPct val="150000"/>
              </a:lnSpc>
              <a:buNone/>
            </a:pPr>
            <a:r>
              <a:rPr lang="fr-FR" dirty="0"/>
              <a:t>Il faut préciser que l’article 1er de la constitution souligne </a:t>
            </a:r>
            <a:r>
              <a:rPr lang="fr-FR" dirty="0" smtClean="0"/>
              <a:t>que </a:t>
            </a:r>
            <a:r>
              <a:rPr lang="fr-FR" dirty="0"/>
              <a:t>« … </a:t>
            </a:r>
            <a:r>
              <a:rPr lang="fr-FR" i="1" dirty="0"/>
              <a:t>Le régime constitutionnel du Royaume est fondé sur la séparation, l'équilibre et la collaboration des pouvoirs</a:t>
            </a:r>
            <a:r>
              <a:rPr lang="fr-FR" dirty="0"/>
              <a:t>…». Cette disposition implique que la séparation des pouvoirs s’inscrit dans la logique de l’unité et de l’indivisibilité des pouvoirs de l’État. Elle signifie que l’importance et l’omniprésence de l’organe exécutif ne fait que contribuer à l’équilibre du régime politique.</a:t>
            </a:r>
          </a:p>
          <a:p>
            <a:pPr>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97</a:t>
            </a:fld>
            <a:endParaRPr lang="fr-F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3000"/>
          </a:xfrm>
        </p:spPr>
        <p:txBody>
          <a:bodyPr>
            <a:noAutofit/>
          </a:bodyPr>
          <a:lstStyle/>
          <a:p>
            <a:pPr algn="ctr"/>
            <a:r>
              <a:rPr lang="fr-MA" sz="4000" b="1" i="1" dirty="0">
                <a:latin typeface="Times New Roman" pitchFamily="18" charset="0"/>
                <a:cs typeface="Times New Roman" pitchFamily="18" charset="0"/>
              </a:rPr>
              <a:t>D. </a:t>
            </a:r>
            <a:r>
              <a:rPr lang="fr-MA" sz="4000" b="1" i="1" dirty="0">
                <a:solidFill>
                  <a:srgbClr val="FFFF00"/>
                </a:solidFill>
                <a:latin typeface="Times New Roman" pitchFamily="18" charset="0"/>
                <a:cs typeface="Times New Roman" pitchFamily="18" charset="0"/>
              </a:rPr>
              <a:t>Le régime parlementaire Britannique</a:t>
            </a:r>
            <a:endParaRPr lang="fr-FR" sz="4000" b="1" i="1" dirty="0">
              <a:solidFill>
                <a:srgbClr val="FFFF00"/>
              </a:solidFill>
              <a:latin typeface="Times New Roman" pitchFamily="18" charset="0"/>
              <a:cs typeface="Times New Roman" pitchFamily="18" charset="0"/>
            </a:endParaRPr>
          </a:p>
        </p:txBody>
      </p:sp>
      <p:sp>
        <p:nvSpPr>
          <p:cNvPr id="3" name="Espace réservé du contenu 2"/>
          <p:cNvSpPr>
            <a:spLocks noGrp="1"/>
          </p:cNvSpPr>
          <p:nvPr>
            <p:ph idx="1"/>
          </p:nvPr>
        </p:nvSpPr>
        <p:spPr>
          <a:xfrm>
            <a:off x="0" y="1214422"/>
            <a:ext cx="9144000" cy="5643578"/>
          </a:xfrm>
        </p:spPr>
        <p:txBody>
          <a:bodyPr>
            <a:normAutofit/>
          </a:bodyPr>
          <a:lstStyle/>
          <a:p>
            <a:pPr algn="just">
              <a:lnSpc>
                <a:spcPct val="150000"/>
              </a:lnSpc>
              <a:buNone/>
            </a:pPr>
            <a:r>
              <a:rPr lang="fr-FR" dirty="0" smtClean="0"/>
              <a:t>La </a:t>
            </a:r>
            <a:r>
              <a:rPr lang="fr-FR" dirty="0"/>
              <a:t>Grande Bretagne possède une des rares constitutions coutumières dans le </a:t>
            </a:r>
            <a:r>
              <a:rPr lang="fr-FR" dirty="0" smtClean="0"/>
              <a:t>monde qui instaure le régime parlementaire le plus ancien dans le monde. </a:t>
            </a:r>
            <a:endParaRPr lang="fr-FR" dirty="0"/>
          </a:p>
          <a:p>
            <a:pPr algn="just">
              <a:lnSpc>
                <a:spcPct val="150000"/>
              </a:lnSpc>
              <a:buNone/>
            </a:pPr>
            <a:r>
              <a:rPr lang="fr-FR" dirty="0"/>
              <a:t>Néanmoins, </a:t>
            </a:r>
            <a:r>
              <a:rPr lang="fr-FR" dirty="0" smtClean="0"/>
              <a:t>celui </a:t>
            </a:r>
            <a:r>
              <a:rPr lang="fr-FR" dirty="0"/>
              <a:t>ci demeure le résultat historique d’un long processus d’usages, de précédents et de coutumes forgés au fil des siècles. </a:t>
            </a:r>
            <a:endParaRPr lang="fr-FR" dirty="0" smtClean="0"/>
          </a:p>
          <a:p>
            <a:pPr algn="just">
              <a:lnSpc>
                <a:spcPct val="150000"/>
              </a:lnSpc>
              <a:buNone/>
            </a:pPr>
            <a:r>
              <a:rPr lang="fr-FR" dirty="0" smtClean="0"/>
              <a:t>Ainsi</a:t>
            </a:r>
            <a:r>
              <a:rPr lang="fr-FR" dirty="0"/>
              <a:t>, la GB possède une multitude de textes fondamentaux ayant un caractère constitutionnel qui remonte au moyen âge.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98</a:t>
            </a:fld>
            <a:endParaRPr lang="fr-F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5C5D9892-AAC4-3187-549B-0D4828351B63}"/>
              </a:ext>
            </a:extLst>
          </p:cNvPr>
          <p:cNvSpPr>
            <a:spLocks noGrp="1"/>
          </p:cNvSpPr>
          <p:nvPr>
            <p:ph idx="1"/>
          </p:nvPr>
        </p:nvSpPr>
        <p:spPr>
          <a:xfrm>
            <a:off x="0" y="0"/>
            <a:ext cx="9144000" cy="6858000"/>
          </a:xfrm>
        </p:spPr>
        <p:txBody>
          <a:bodyPr/>
          <a:lstStyle/>
          <a:p>
            <a:pPr marL="0" indent="0" algn="just">
              <a:lnSpc>
                <a:spcPct val="150000"/>
              </a:lnSpc>
              <a:buNone/>
            </a:pPr>
            <a:endParaRPr lang="fr-FR" sz="1800" dirty="0">
              <a:latin typeface="Cambria" panose="02040503050406030204" pitchFamily="18" charset="0"/>
              <a:ea typeface="Batang" panose="02030600000101010101" pitchFamily="18" charset="-127"/>
              <a:cs typeface="FrankRuehl" panose="020E0503060101010101" pitchFamily="34" charset="-79"/>
            </a:endParaRPr>
          </a:p>
          <a:p>
            <a:pPr marL="0" indent="0" algn="just">
              <a:lnSpc>
                <a:spcPct val="150000"/>
              </a:lnSpc>
              <a:buNone/>
            </a:pPr>
            <a:endParaRPr lang="fr-FR" sz="1800" dirty="0">
              <a:latin typeface="Cambria" panose="02040503050406030204" pitchFamily="18" charset="0"/>
              <a:ea typeface="Batang" panose="02030600000101010101" pitchFamily="18" charset="-127"/>
              <a:cs typeface="FrankRuehl" panose="020E0503060101010101" pitchFamily="34" charset="-79"/>
            </a:endParaRPr>
          </a:p>
          <a:p>
            <a:pPr marL="0" indent="0" algn="just">
              <a:lnSpc>
                <a:spcPct val="150000"/>
              </a:lnSpc>
              <a:buNone/>
            </a:pPr>
            <a:r>
              <a:rPr lang="fr-FR" sz="2400" dirty="0" smtClean="0">
                <a:latin typeface="Cambria" panose="02040503050406030204" pitchFamily="18" charset="0"/>
                <a:ea typeface="Batang" panose="02030600000101010101" pitchFamily="18" charset="-127"/>
                <a:cs typeface="FrankRuehl" panose="020E0503060101010101" pitchFamily="34" charset="-79"/>
              </a:rPr>
              <a:t>Le </a:t>
            </a:r>
            <a:r>
              <a:rPr lang="fr-FR" sz="2400" dirty="0">
                <a:latin typeface="Cambria" panose="02040503050406030204" pitchFamily="18" charset="0"/>
                <a:ea typeface="Batang" panose="02030600000101010101" pitchFamily="18" charset="-127"/>
                <a:cs typeface="FrankRuehl" panose="020E0503060101010101" pitchFamily="34" charset="-79"/>
              </a:rPr>
              <a:t>parlementarisme britannique demeure exemplaire en ce sens qu’il se caractérise par trois trais essentiels :</a:t>
            </a:r>
          </a:p>
          <a:p>
            <a:pPr algn="just">
              <a:lnSpc>
                <a:spcPct val="150000"/>
              </a:lnSpc>
              <a:buFont typeface="Wingdings" panose="05000000000000000000" pitchFamily="2" charset="2"/>
              <a:buChar char="Ø"/>
              <a:tabLst>
                <a:tab pos="180340" algn="l"/>
              </a:tabLst>
            </a:pPr>
            <a:r>
              <a:rPr lang="fr-FR" sz="2400" b="1" dirty="0">
                <a:solidFill>
                  <a:srgbClr val="FFFF00"/>
                </a:solidFill>
                <a:latin typeface="Cambria" panose="02040503050406030204" pitchFamily="18" charset="0"/>
                <a:ea typeface="Batang" panose="02030600000101010101" pitchFamily="18" charset="-127"/>
                <a:cs typeface="FrankRuehl" panose="020E0503060101010101" pitchFamily="34" charset="-79"/>
              </a:rPr>
              <a:t>Premièrement</a:t>
            </a:r>
            <a:r>
              <a:rPr lang="fr-FR" sz="2400" dirty="0">
                <a:latin typeface="Cambria" panose="02040503050406030204" pitchFamily="18" charset="0"/>
                <a:ea typeface="Batang" panose="02030600000101010101" pitchFamily="18" charset="-127"/>
                <a:cs typeface="FrankRuehl" panose="020E0503060101010101" pitchFamily="34" charset="-79"/>
              </a:rPr>
              <a:t>, le </a:t>
            </a:r>
            <a:r>
              <a:rPr lang="fr-FR" sz="2400" dirty="0" smtClean="0">
                <a:latin typeface="Cambria" panose="02040503050406030204" pitchFamily="18" charset="0"/>
                <a:ea typeface="Batang" panose="02030600000101010101" pitchFamily="18" charset="-127"/>
                <a:cs typeface="FrankRuehl" panose="020E0503060101010101" pitchFamily="34" charset="-79"/>
              </a:rPr>
              <a:t>parlement dispose du pouvoir de </a:t>
            </a:r>
            <a:r>
              <a:rPr lang="fr-FR" sz="2400" dirty="0">
                <a:latin typeface="Cambria" panose="02040503050406030204" pitchFamily="18" charset="0"/>
                <a:ea typeface="Batang" panose="02030600000101010101" pitchFamily="18" charset="-127"/>
                <a:cs typeface="FrankRuehl" panose="020E0503060101010101" pitchFamily="34" charset="-79"/>
              </a:rPr>
              <a:t>modifier librement toute loi, fondamentale ou autre ; </a:t>
            </a:r>
          </a:p>
          <a:p>
            <a:pPr algn="just">
              <a:lnSpc>
                <a:spcPct val="150000"/>
              </a:lnSpc>
              <a:buFont typeface="Wingdings" panose="05000000000000000000" pitchFamily="2" charset="2"/>
              <a:buChar char="Ø"/>
              <a:tabLst>
                <a:tab pos="180340" algn="l"/>
              </a:tabLst>
            </a:pPr>
            <a:r>
              <a:rPr lang="fr-FR" sz="2400" b="1" dirty="0">
                <a:solidFill>
                  <a:srgbClr val="FFFF00"/>
                </a:solidFill>
                <a:latin typeface="Cambria" panose="02040503050406030204" pitchFamily="18" charset="0"/>
                <a:ea typeface="Batang" panose="02030600000101010101" pitchFamily="18" charset="-127"/>
                <a:cs typeface="FrankRuehl" panose="020E0503060101010101" pitchFamily="34" charset="-79"/>
              </a:rPr>
              <a:t>Deuxièmement</a:t>
            </a:r>
            <a:r>
              <a:rPr lang="fr-FR" sz="2400" dirty="0">
                <a:latin typeface="Cambria" panose="02040503050406030204" pitchFamily="18" charset="0"/>
                <a:ea typeface="Batang" panose="02030600000101010101" pitchFamily="18" charset="-127"/>
                <a:cs typeface="FrankRuehl" panose="020E0503060101010101" pitchFamily="34" charset="-79"/>
              </a:rPr>
              <a:t>, l'absence de toute </a:t>
            </a:r>
            <a:r>
              <a:rPr lang="fr-FR" sz="2400" dirty="0" smtClean="0">
                <a:latin typeface="Cambria" panose="02040503050406030204" pitchFamily="18" charset="0"/>
                <a:ea typeface="Batang" panose="02030600000101010101" pitchFamily="18" charset="-127"/>
                <a:cs typeface="FrankRuehl" panose="020E0503060101010101" pitchFamily="34" charset="-79"/>
              </a:rPr>
              <a:t>distinction ou hiérarchie </a:t>
            </a:r>
            <a:r>
              <a:rPr lang="fr-FR" sz="2400" dirty="0">
                <a:latin typeface="Cambria" panose="02040503050406030204" pitchFamily="18" charset="0"/>
                <a:ea typeface="Batang" panose="02030600000101010101" pitchFamily="18" charset="-127"/>
                <a:cs typeface="FrankRuehl" panose="020E0503060101010101" pitchFamily="34" charset="-79"/>
              </a:rPr>
              <a:t>juridique entre les lois constitutionnelles et les autres lois ordinaires ou autres ; </a:t>
            </a:r>
          </a:p>
          <a:p>
            <a:pPr algn="just">
              <a:lnSpc>
                <a:spcPct val="150000"/>
              </a:lnSpc>
              <a:buFont typeface="Wingdings" panose="05000000000000000000" pitchFamily="2" charset="2"/>
              <a:buChar char="Ø"/>
            </a:pPr>
            <a:r>
              <a:rPr lang="fr-FR" sz="2400" b="1" dirty="0">
                <a:solidFill>
                  <a:srgbClr val="FFFF00"/>
                </a:solidFill>
                <a:latin typeface="Cambria" panose="02040503050406030204" pitchFamily="18" charset="0"/>
                <a:ea typeface="Batang" panose="02030600000101010101" pitchFamily="18" charset="-127"/>
                <a:cs typeface="FrankRuehl" panose="020E0503060101010101" pitchFamily="34" charset="-79"/>
              </a:rPr>
              <a:t>Troisièmement</a:t>
            </a:r>
            <a:r>
              <a:rPr lang="fr-FR" sz="2400" dirty="0">
                <a:latin typeface="Cambria" panose="02040503050406030204" pitchFamily="18" charset="0"/>
                <a:ea typeface="Batang" panose="02030600000101010101" pitchFamily="18" charset="-127"/>
                <a:cs typeface="FrankRuehl" panose="020E0503060101010101" pitchFamily="34" charset="-79"/>
              </a:rPr>
              <a:t>, l’absence d’une autorité judiciaire ou autre ayant le droit d'annuler une loi du parlement ou de la considérer comme inconstitutionnelle</a:t>
            </a:r>
          </a:p>
        </p:txBody>
      </p:sp>
      <p:sp>
        <p:nvSpPr>
          <p:cNvPr id="4" name="Espace réservé du numéro de diapositive 3">
            <a:extLst>
              <a:ext uri="{FF2B5EF4-FFF2-40B4-BE49-F238E27FC236}">
                <a16:creationId xmlns:a16="http://schemas.microsoft.com/office/drawing/2014/main" xmlns="" id="{8103345E-D28D-3240-3A57-36A39159145D}"/>
              </a:ext>
            </a:extLst>
          </p:cNvPr>
          <p:cNvSpPr>
            <a:spLocks noGrp="1"/>
          </p:cNvSpPr>
          <p:nvPr>
            <p:ph type="sldNum" sz="quarter" idx="12"/>
          </p:nvPr>
        </p:nvSpPr>
        <p:spPr/>
        <p:txBody>
          <a:bodyPr/>
          <a:lstStyle/>
          <a:p>
            <a:fld id="{0B4B166F-A3A3-4DE9-809D-A8E7BD5C3246}" type="slidenum">
              <a:rPr lang="fr-FR" smtClean="0"/>
              <a:pPr/>
              <a:t>99</a:t>
            </a:fld>
            <a:endParaRPr lang="fr-FR"/>
          </a:p>
        </p:txBody>
      </p:sp>
    </p:spTree>
    <p:extLst>
      <p:ext uri="{BB962C8B-B14F-4D97-AF65-F5344CB8AC3E}">
        <p14:creationId xmlns:p14="http://schemas.microsoft.com/office/powerpoint/2010/main" val="15610111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dirty="0">
              <a:latin typeface="Times New Roman" pitchFamily="18" charset="0"/>
              <a:cs typeface="Times New Roman" pitchFamily="18" charset="0"/>
            </a:endParaRPr>
          </a:p>
          <a:p>
            <a:pPr algn="just">
              <a:lnSpc>
                <a:spcPct val="150000"/>
              </a:lnSpc>
              <a:buNone/>
            </a:pPr>
            <a:endParaRPr lang="fr-FR" dirty="0">
              <a:latin typeface="Times New Roman" pitchFamily="18" charset="0"/>
              <a:cs typeface="Times New Roman" pitchFamily="18" charset="0"/>
            </a:endParaRPr>
          </a:p>
          <a:p>
            <a:pPr algn="just">
              <a:lnSpc>
                <a:spcPct val="150000"/>
              </a:lnSpc>
              <a:buNone/>
            </a:pPr>
            <a:r>
              <a:rPr lang="fr-FR" dirty="0">
                <a:latin typeface="Times New Roman" pitchFamily="18" charset="0"/>
                <a:cs typeface="Times New Roman" pitchFamily="18" charset="0"/>
              </a:rPr>
              <a:t>De plus, il existe une </a:t>
            </a:r>
            <a:r>
              <a:rPr lang="fr-FR" dirty="0" smtClean="0">
                <a:latin typeface="Times New Roman" pitchFamily="18" charset="0"/>
                <a:cs typeface="Times New Roman" pitchFamily="18" charset="0"/>
              </a:rPr>
              <a:t>série </a:t>
            </a:r>
            <a:r>
              <a:rPr lang="fr-FR" dirty="0">
                <a:latin typeface="Times New Roman" pitchFamily="18" charset="0"/>
                <a:cs typeface="Times New Roman" pitchFamily="18" charset="0"/>
              </a:rPr>
              <a:t>de lois qui </a:t>
            </a:r>
            <a:r>
              <a:rPr lang="fr-FR" dirty="0" smtClean="0">
                <a:latin typeface="Times New Roman" pitchFamily="18" charset="0"/>
                <a:cs typeface="Times New Roman" pitchFamily="18" charset="0"/>
              </a:rPr>
              <a:t>encadre </a:t>
            </a:r>
            <a:r>
              <a:rPr lang="fr-FR" dirty="0">
                <a:latin typeface="Times New Roman" pitchFamily="18" charset="0"/>
                <a:cs typeface="Times New Roman" pitchFamily="18" charset="0"/>
              </a:rPr>
              <a:t>les institutions supérieures de l’Etat, qui ont une valeur constitutionnelle comme: les </a:t>
            </a:r>
            <a:r>
              <a:rPr lang="fr-FR" dirty="0" err="1">
                <a:latin typeface="Times New Roman" pitchFamily="18" charset="0"/>
                <a:cs typeface="Times New Roman" pitchFamily="18" charset="0"/>
              </a:rPr>
              <a:t>Parliament</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Acts</a:t>
            </a:r>
            <a:r>
              <a:rPr lang="fr-FR" dirty="0">
                <a:latin typeface="Times New Roman" pitchFamily="18" charset="0"/>
                <a:cs typeface="Times New Roman" pitchFamily="18" charset="0"/>
              </a:rPr>
              <a:t> de 1911, 1949 et 1999, qui limitent les pouvoirs de la Chambre des Lords; le </a:t>
            </a:r>
            <a:r>
              <a:rPr lang="fr-FR" dirty="0" err="1">
                <a:latin typeface="Times New Roman" pitchFamily="18" charset="0"/>
                <a:cs typeface="Times New Roman" pitchFamily="18" charset="0"/>
              </a:rPr>
              <a:t>Constitutional</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Reform</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Act</a:t>
            </a:r>
            <a:r>
              <a:rPr lang="fr-FR" dirty="0">
                <a:latin typeface="Times New Roman" pitchFamily="18" charset="0"/>
                <a:cs typeface="Times New Roman" pitchFamily="18" charset="0"/>
              </a:rPr>
              <a:t> de 2005, qui crée une cour suprême, ou encore le Succession to the </a:t>
            </a:r>
            <a:r>
              <a:rPr lang="fr-FR" dirty="0" err="1" smtClean="0">
                <a:latin typeface="Times New Roman" pitchFamily="18" charset="0"/>
                <a:cs typeface="Times New Roman" pitchFamily="18" charset="0"/>
              </a:rPr>
              <a:t>throne</a:t>
            </a:r>
            <a:r>
              <a:rPr lang="fr-FR" dirty="0" smtClean="0">
                <a:latin typeface="Times New Roman" pitchFamily="18" charset="0"/>
                <a:cs typeface="Times New Roman" pitchFamily="18" charset="0"/>
              </a:rPr>
              <a:t> </a:t>
            </a:r>
            <a:r>
              <a:rPr lang="fr-FR" dirty="0" err="1">
                <a:latin typeface="Times New Roman" pitchFamily="18" charset="0"/>
                <a:cs typeface="Times New Roman" pitchFamily="18" charset="0"/>
              </a:rPr>
              <a:t>Act</a:t>
            </a:r>
            <a:r>
              <a:rPr lang="fr-FR" dirty="0">
                <a:latin typeface="Times New Roman" pitchFamily="18" charset="0"/>
                <a:cs typeface="Times New Roman" pitchFamily="18" charset="0"/>
              </a:rPr>
              <a:t> de 2013, qui modifie les règles de succession au trône britannique.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100</a:t>
            </a:fld>
            <a:endParaRPr lang="fr-FR"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latin typeface="Times New Roman" pitchFamily="18" charset="0"/>
              <a:cs typeface="Times New Roman" pitchFamily="18" charset="0"/>
            </a:endParaRPr>
          </a:p>
          <a:p>
            <a:pPr algn="just">
              <a:lnSpc>
                <a:spcPct val="150000"/>
              </a:lnSpc>
              <a:buNone/>
            </a:pPr>
            <a:endParaRPr lang="fr-FR" dirty="0">
              <a:latin typeface="Times New Roman" pitchFamily="18" charset="0"/>
              <a:cs typeface="Times New Roman" pitchFamily="18" charset="0"/>
            </a:endParaRPr>
          </a:p>
          <a:p>
            <a:pPr algn="just">
              <a:lnSpc>
                <a:spcPct val="150000"/>
              </a:lnSpc>
              <a:buNone/>
            </a:pPr>
            <a:r>
              <a:rPr lang="fr-FR" sz="2800" dirty="0">
                <a:latin typeface="Times New Roman" pitchFamily="18" charset="0"/>
                <a:cs typeface="Times New Roman" pitchFamily="18" charset="0"/>
              </a:rPr>
              <a:t>A celles-ci on peut ajouter certaines conventions liant la GB a l’UE avant le </a:t>
            </a:r>
            <a:r>
              <a:rPr lang="fr-FR" sz="2800" dirty="0" err="1">
                <a:latin typeface="Times New Roman" pitchFamily="18" charset="0"/>
                <a:cs typeface="Times New Roman" pitchFamily="18" charset="0"/>
              </a:rPr>
              <a:t>Brixit</a:t>
            </a:r>
            <a:r>
              <a:rPr lang="fr-FR" sz="2800" dirty="0">
                <a:latin typeface="Times New Roman" pitchFamily="18" charset="0"/>
                <a:cs typeface="Times New Roman" pitchFamily="18" charset="0"/>
              </a:rPr>
              <a:t> comme : l’acte d’adhésion , le </a:t>
            </a:r>
            <a:r>
              <a:rPr lang="fr-FR" sz="2800" dirty="0" err="1">
                <a:latin typeface="Times New Roman" pitchFamily="18" charset="0"/>
                <a:cs typeface="Times New Roman" pitchFamily="18" charset="0"/>
              </a:rPr>
              <a:t>European</a:t>
            </a:r>
            <a:r>
              <a:rPr lang="fr-FR" sz="2800" dirty="0">
                <a:latin typeface="Times New Roman" pitchFamily="18" charset="0"/>
                <a:cs typeface="Times New Roman" pitchFamily="18" charset="0"/>
              </a:rPr>
              <a:t> </a:t>
            </a:r>
            <a:r>
              <a:rPr lang="fr-FR" sz="2800" dirty="0" err="1">
                <a:latin typeface="Times New Roman" pitchFamily="18" charset="0"/>
                <a:cs typeface="Times New Roman" pitchFamily="18" charset="0"/>
              </a:rPr>
              <a:t>Community</a:t>
            </a:r>
            <a:r>
              <a:rPr lang="fr-FR" sz="2800" dirty="0">
                <a:latin typeface="Times New Roman" pitchFamily="18" charset="0"/>
                <a:cs typeface="Times New Roman" pitchFamily="18" charset="0"/>
              </a:rPr>
              <a:t> </a:t>
            </a:r>
            <a:r>
              <a:rPr lang="fr-FR" sz="2800" dirty="0" err="1">
                <a:latin typeface="Times New Roman" pitchFamily="18" charset="0"/>
                <a:cs typeface="Times New Roman" pitchFamily="18" charset="0"/>
              </a:rPr>
              <a:t>Act</a:t>
            </a:r>
            <a:r>
              <a:rPr lang="fr-FR" sz="2800" dirty="0">
                <a:latin typeface="Times New Roman" pitchFamily="18" charset="0"/>
                <a:cs typeface="Times New Roman" pitchFamily="18" charset="0"/>
              </a:rPr>
              <a:t> de 1972, les traités de Maastricht et de Lisbonne, ou le </a:t>
            </a:r>
            <a:r>
              <a:rPr lang="fr-FR" sz="2800" dirty="0" err="1">
                <a:latin typeface="Times New Roman" pitchFamily="18" charset="0"/>
                <a:cs typeface="Times New Roman" pitchFamily="18" charset="0"/>
              </a:rPr>
              <a:t>Human</a:t>
            </a:r>
            <a:r>
              <a:rPr lang="fr-FR" sz="2800" dirty="0">
                <a:latin typeface="Times New Roman" pitchFamily="18" charset="0"/>
                <a:cs typeface="Times New Roman" pitchFamily="18" charset="0"/>
              </a:rPr>
              <a:t> </a:t>
            </a:r>
            <a:r>
              <a:rPr lang="fr-FR" sz="2800" dirty="0" err="1">
                <a:latin typeface="Times New Roman" pitchFamily="18" charset="0"/>
                <a:cs typeface="Times New Roman" pitchFamily="18" charset="0"/>
              </a:rPr>
              <a:t>Rights</a:t>
            </a:r>
            <a:r>
              <a:rPr lang="fr-FR" sz="2800" dirty="0">
                <a:latin typeface="Times New Roman" pitchFamily="18" charset="0"/>
                <a:cs typeface="Times New Roman" pitchFamily="18" charset="0"/>
              </a:rPr>
              <a:t> </a:t>
            </a:r>
            <a:r>
              <a:rPr lang="fr-FR" sz="2800" dirty="0" err="1">
                <a:latin typeface="Times New Roman" pitchFamily="18" charset="0"/>
                <a:cs typeface="Times New Roman" pitchFamily="18" charset="0"/>
              </a:rPr>
              <a:t>Act</a:t>
            </a:r>
            <a:r>
              <a:rPr lang="fr-FR" sz="2800" dirty="0">
                <a:latin typeface="Times New Roman" pitchFamily="18" charset="0"/>
                <a:cs typeface="Times New Roman" pitchFamily="18" charset="0"/>
              </a:rPr>
              <a:t> de 1998, qui reconnait la supériorité de la convention européenne des droits de l’homme sur le droit national.</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101</a:t>
            </a:fld>
            <a:endParaRPr lang="fr-F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B9E340FF-24CD-45D6-BE5E-3769F2F11D9D}"/>
              </a:ext>
            </a:extLst>
          </p:cNvPr>
          <p:cNvSpPr>
            <a:spLocks noGrp="1"/>
          </p:cNvSpPr>
          <p:nvPr>
            <p:ph idx="1"/>
          </p:nvPr>
        </p:nvSpPr>
        <p:spPr>
          <a:xfrm>
            <a:off x="179512" y="136525"/>
            <a:ext cx="8856984" cy="6584950"/>
          </a:xfrm>
        </p:spPr>
        <p:txBody>
          <a:bodyPr>
            <a:normAutofit fontScale="92500" lnSpcReduction="10000"/>
          </a:bodyPr>
          <a:lstStyle/>
          <a:p>
            <a:pPr marL="0" indent="0" algn="just">
              <a:lnSpc>
                <a:spcPct val="150000"/>
              </a:lnSpc>
              <a:buNone/>
            </a:pPr>
            <a:r>
              <a:rPr lang="fr-FR" b="0" i="0" dirty="0">
                <a:effectLst/>
                <a:latin typeface="Baskerville Old Face" panose="02020602080505020303" pitchFamily="18" charset="0"/>
              </a:rPr>
              <a:t>Le Royaume-Uni n'a pas de constitution écrite comme en France, et </a:t>
            </a:r>
            <a:r>
              <a:rPr lang="fr-FR" b="0" i="0" dirty="0" smtClean="0">
                <a:effectLst/>
                <a:latin typeface="Baskerville Old Face" panose="02020602080505020303" pitchFamily="18" charset="0"/>
              </a:rPr>
              <a:t>aucun </a:t>
            </a:r>
            <a:r>
              <a:rPr lang="fr-FR" b="0" i="0" dirty="0">
                <a:effectLst/>
                <a:latin typeface="Baskerville Old Face" panose="02020602080505020303" pitchFamily="18" charset="0"/>
              </a:rPr>
              <a:t>document ne définit formellement les pouvoirs respectifs du parlement et du cabinet. </a:t>
            </a:r>
            <a:endParaRPr lang="fr-FR" b="0" i="0" dirty="0" smtClean="0">
              <a:effectLst/>
              <a:latin typeface="Baskerville Old Face" panose="02020602080505020303" pitchFamily="18" charset="0"/>
            </a:endParaRPr>
          </a:p>
          <a:p>
            <a:pPr marL="0" indent="0" algn="just">
              <a:lnSpc>
                <a:spcPct val="150000"/>
              </a:lnSpc>
              <a:buNone/>
            </a:pPr>
            <a:r>
              <a:rPr lang="fr-FR" b="0" i="0" dirty="0" smtClean="0">
                <a:effectLst/>
                <a:latin typeface="Baskerville Old Face" panose="02020602080505020303" pitchFamily="18" charset="0"/>
              </a:rPr>
              <a:t>Il </a:t>
            </a:r>
            <a:r>
              <a:rPr lang="fr-FR" b="0" i="0" dirty="0">
                <a:effectLst/>
                <a:latin typeface="Baskerville Old Face" panose="02020602080505020303" pitchFamily="18" charset="0"/>
              </a:rPr>
              <a:t>n'existe donc aucune règle constitutionnelle écrite formelle qui précise que l'exercice de certains pouvoirs est exclusivement réservé à l’organe exécutif. Du </a:t>
            </a:r>
            <a:r>
              <a:rPr lang="fr-FR" b="0" i="0" dirty="0" smtClean="0">
                <a:effectLst/>
                <a:latin typeface="Baskerville Old Face" panose="02020602080505020303" pitchFamily="18" charset="0"/>
              </a:rPr>
              <a:t>coup, </a:t>
            </a:r>
            <a:r>
              <a:rPr lang="fr-FR" b="0" i="0" dirty="0">
                <a:effectLst/>
                <a:latin typeface="Baskerville Old Face" panose="02020602080505020303" pitchFamily="18" charset="0"/>
              </a:rPr>
              <a:t>l'exécutif ne peut pas prétendre, par exemple, que le pouvoir législatif empiète sur ses compétences constitutionnelles.</a:t>
            </a:r>
          </a:p>
          <a:p>
            <a:pPr marL="0" indent="0" algn="just">
              <a:lnSpc>
                <a:spcPct val="150000"/>
              </a:lnSpc>
              <a:buNone/>
            </a:pPr>
            <a:r>
              <a:rPr lang="fr-FR" dirty="0">
                <a:latin typeface="Baskerville Old Face" panose="02020602080505020303" pitchFamily="18" charset="0"/>
              </a:rPr>
              <a:t>La répartition réelle des pouvoirs entre l’organe législatif et exécutif en GB s'appuie</a:t>
            </a:r>
            <a:r>
              <a:rPr lang="fr-FR" dirty="0" smtClean="0">
                <a:latin typeface="Baskerville Old Face" panose="02020602080505020303" pitchFamily="18" charset="0"/>
              </a:rPr>
              <a:t>, </a:t>
            </a:r>
            <a:r>
              <a:rPr lang="fr-FR" dirty="0">
                <a:latin typeface="Baskerville Old Face" panose="02020602080505020303" pitchFamily="18" charset="0"/>
              </a:rPr>
              <a:t>essentiellement sur le principe de la souveraineté du </a:t>
            </a:r>
            <a:r>
              <a:rPr lang="fr-FR" dirty="0" smtClean="0">
                <a:latin typeface="Baskerville Old Face" panose="02020602080505020303" pitchFamily="18" charset="0"/>
              </a:rPr>
              <a:t>Parlement, </a:t>
            </a:r>
            <a:r>
              <a:rPr lang="fr-FR" dirty="0">
                <a:latin typeface="Baskerville Old Face" panose="02020602080505020303" pitchFamily="18" charset="0"/>
              </a:rPr>
              <a:t>q</a:t>
            </a:r>
            <a:r>
              <a:rPr lang="fr-FR" b="0" i="0" dirty="0">
                <a:effectLst/>
              </a:rPr>
              <a:t>ui </a:t>
            </a:r>
            <a:r>
              <a:rPr lang="fr-FR" dirty="0">
                <a:latin typeface="Baskerville Old Face" panose="02020602080505020303" pitchFamily="18" charset="0"/>
              </a:rPr>
              <a:t>permet à ce dernier, quand il le souhaite, de réclamer que certains pouvoirs soient exercés uniquement par la voie législative.</a:t>
            </a:r>
          </a:p>
        </p:txBody>
      </p:sp>
      <p:sp>
        <p:nvSpPr>
          <p:cNvPr id="4" name="Espace réservé du numéro de diapositive 3">
            <a:extLst>
              <a:ext uri="{FF2B5EF4-FFF2-40B4-BE49-F238E27FC236}">
                <a16:creationId xmlns:a16="http://schemas.microsoft.com/office/drawing/2014/main" xmlns="" id="{E2567C0D-126C-4834-ADEC-E02C749966EF}"/>
              </a:ext>
            </a:extLst>
          </p:cNvPr>
          <p:cNvSpPr>
            <a:spLocks noGrp="1"/>
          </p:cNvSpPr>
          <p:nvPr>
            <p:ph type="sldNum" sz="quarter" idx="12"/>
          </p:nvPr>
        </p:nvSpPr>
        <p:spPr/>
        <p:txBody>
          <a:bodyPr/>
          <a:lstStyle/>
          <a:p>
            <a:fld id="{0B4B166F-A3A3-4DE9-809D-A8E7BD5C3246}" type="slidenum">
              <a:rPr lang="fr-FR" smtClean="0"/>
              <a:pPr/>
              <a:t>102</a:t>
            </a:fld>
            <a:endParaRPr lang="fr-FR"/>
          </a:p>
        </p:txBody>
      </p:sp>
    </p:spTree>
    <p:extLst>
      <p:ext uri="{BB962C8B-B14F-4D97-AF65-F5344CB8AC3E}">
        <p14:creationId xmlns:p14="http://schemas.microsoft.com/office/powerpoint/2010/main" val="297016165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MA" dirty="0"/>
          </a:p>
          <a:p>
            <a:pPr algn="just">
              <a:lnSpc>
                <a:spcPct val="150000"/>
              </a:lnSpc>
              <a:buNone/>
            </a:pPr>
            <a:endParaRPr lang="fr-MA" dirty="0"/>
          </a:p>
          <a:p>
            <a:pPr algn="just">
              <a:lnSpc>
                <a:spcPct val="150000"/>
              </a:lnSpc>
              <a:buNone/>
            </a:pPr>
            <a:r>
              <a:rPr lang="fr-MA" dirty="0"/>
              <a:t>Le régime constitutionnel Britannique repose dès lors, sur le principe de séparation souple des pouvoirs, en opposition à la séparation rigide des pouvoirs qui sera appliquée par le régime présidentiel Américain. </a:t>
            </a:r>
            <a:endParaRPr lang="fr-MA" dirty="0" smtClean="0"/>
          </a:p>
          <a:p>
            <a:pPr algn="just">
              <a:lnSpc>
                <a:spcPct val="150000"/>
              </a:lnSpc>
              <a:buNone/>
            </a:pPr>
            <a:r>
              <a:rPr lang="fr-MA" dirty="0" smtClean="0"/>
              <a:t>Ce </a:t>
            </a:r>
            <a:r>
              <a:rPr lang="fr-MA" dirty="0"/>
              <a:t>principe suppose l’existence d’une forte interdépendance et collaboration entre les organes, législatif et exécutif, qui se manifeste par la capacité d’action et de contrôle réciproque des deux organes.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103</a:t>
            </a:fld>
            <a:endParaRPr lang="fr-F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normAutofit/>
          </a:bodyPr>
          <a:lstStyle/>
          <a:p>
            <a:pPr algn="just">
              <a:lnSpc>
                <a:spcPct val="150000"/>
              </a:lnSpc>
              <a:buNone/>
            </a:pPr>
            <a:endParaRPr lang="fr-MA" dirty="0"/>
          </a:p>
          <a:p>
            <a:pPr algn="just">
              <a:lnSpc>
                <a:spcPct val="150000"/>
              </a:lnSpc>
              <a:buNone/>
            </a:pPr>
            <a:r>
              <a:rPr lang="fr-MA" dirty="0"/>
              <a:t>Cet équilibre se traduit par la capacité de l’exécutif de dissoudre le parlement, ainsi que par la capacité de ce dernier de retirer sa confiance du gouvernement, grâce au mécanisme de motion de censure. </a:t>
            </a:r>
            <a:endParaRPr lang="fr-MA" dirty="0" smtClean="0"/>
          </a:p>
          <a:p>
            <a:pPr algn="just">
              <a:lnSpc>
                <a:spcPct val="150000"/>
              </a:lnSpc>
              <a:buNone/>
            </a:pPr>
            <a:r>
              <a:rPr lang="fr-MA" dirty="0" smtClean="0"/>
              <a:t>De </a:t>
            </a:r>
            <a:r>
              <a:rPr lang="fr-MA" dirty="0"/>
              <a:t>plus, si le régime constitutionnel Britannique demeure un régime ou l’exécutif est bicéphale </a:t>
            </a:r>
            <a:r>
              <a:rPr lang="fr-MA" dirty="0" smtClean="0"/>
              <a:t>(</a:t>
            </a:r>
            <a:r>
              <a:rPr lang="fr-MA" dirty="0"/>
              <a:t>Roi et cabinet), il est fondé sur le principe de l’irresponsabilité politique du monarque, qui est compensée par la responsabilité politique du gouvernement devant le parlement. </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104</a:t>
            </a:fld>
            <a:endParaRPr lang="fr-F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dirty="0"/>
          </a:p>
          <a:p>
            <a:pPr algn="just">
              <a:lnSpc>
                <a:spcPct val="150000"/>
              </a:lnSpc>
              <a:buNone/>
            </a:pPr>
            <a:r>
              <a:rPr lang="fr-MA" dirty="0"/>
              <a:t>Le premier ministre demeure le chef </a:t>
            </a:r>
            <a:r>
              <a:rPr lang="fr-MA" dirty="0" smtClean="0"/>
              <a:t>réel </a:t>
            </a:r>
            <a:r>
              <a:rPr lang="fr-MA" dirty="0"/>
              <a:t>de l’exécutif et joue un rôle central dans la gestion des affaires de l’Etat. C’est pour cette raison que l’on nomme ce régime de  </a:t>
            </a:r>
            <a:r>
              <a:rPr lang="fr-MA" i="1" dirty="0" err="1"/>
              <a:t>primoministéreil</a:t>
            </a:r>
            <a:r>
              <a:rPr lang="fr-MA" dirty="0"/>
              <a:t>. Le premier ministre est issu de la majorité parlementaire, dont il est le leader.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105</a:t>
            </a:fld>
            <a:endParaRPr lang="fr-F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0B4B166F-A3A3-4DE9-809D-A8E7BD5C3246}" type="slidenum">
              <a:rPr lang="fr-FR" smtClean="0"/>
              <a:pPr/>
              <a:t>106</a:t>
            </a:fld>
            <a:endParaRPr lang="fr-FR"/>
          </a:p>
        </p:txBody>
      </p:sp>
      <p:pic>
        <p:nvPicPr>
          <p:cNvPr id="5" name="Espace réservé du contenu 4" descr="Elizabeth II s'épanche sur sa &quot;très lourde&quot; couronne, au premier degré -  Madame Figaro"/>
          <p:cNvPicPr>
            <a:picLocks noGrp="1"/>
          </p:cNvPicPr>
          <p:nvPr>
            <p:ph idx="1"/>
          </p:nvPr>
        </p:nvPicPr>
        <p:blipFill>
          <a:blip r:embed="rId2"/>
          <a:srcRect/>
          <a:stretch>
            <a:fillRect/>
          </a:stretch>
        </p:blipFill>
        <p:spPr bwMode="auto">
          <a:xfrm>
            <a:off x="0" y="1428736"/>
            <a:ext cx="8786842" cy="5429264"/>
          </a:xfrm>
          <a:prstGeom prst="rect">
            <a:avLst/>
          </a:prstGeom>
          <a:noFill/>
          <a:ln w="9525">
            <a:noFill/>
            <a:miter lim="800000"/>
            <a:headEnd/>
            <a:tailEnd/>
          </a:ln>
        </p:spPr>
      </p:pic>
      <p:sp>
        <p:nvSpPr>
          <p:cNvPr id="7" name="Rectangle 6"/>
          <p:cNvSpPr/>
          <p:nvPr/>
        </p:nvSpPr>
        <p:spPr>
          <a:xfrm>
            <a:off x="571472" y="428604"/>
            <a:ext cx="7358114" cy="707886"/>
          </a:xfrm>
          <a:prstGeom prst="rect">
            <a:avLst/>
          </a:prstGeom>
        </p:spPr>
        <p:txBody>
          <a:bodyPr wrap="square">
            <a:spAutoFit/>
          </a:bodyPr>
          <a:lstStyle/>
          <a:p>
            <a:pPr marL="514350" indent="-514350" algn="ctr">
              <a:buFont typeface="+mj-lt"/>
              <a:buAutoNum type="arabicParenR"/>
            </a:pPr>
            <a:r>
              <a:rPr lang="fr-MA" sz="4000" b="1" i="1" dirty="0">
                <a:solidFill>
                  <a:srgbClr val="FFFF00"/>
                </a:solidFill>
              </a:rPr>
              <a:t>Le Monarque</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marL="514350" indent="-514350" algn="just">
              <a:lnSpc>
                <a:spcPct val="150000"/>
              </a:lnSpc>
              <a:buNone/>
            </a:pPr>
            <a:r>
              <a:rPr lang="fr-MA" dirty="0"/>
              <a:t>Le Roi en GB règne sans gouverner. </a:t>
            </a:r>
            <a:r>
              <a:rPr lang="fr-MA" dirty="0" smtClean="0"/>
              <a:t>L’évolution</a:t>
            </a:r>
            <a:r>
              <a:rPr lang="fr-MA" dirty="0"/>
              <a:t>, historique </a:t>
            </a:r>
            <a:r>
              <a:rPr lang="fr-MA" dirty="0" smtClean="0"/>
              <a:t>du </a:t>
            </a:r>
            <a:r>
              <a:rPr lang="fr-MA" dirty="0"/>
              <a:t>régime politique Britannique est allée vers le sens d’une limitation substantielle des pouvoirs du Roi, au point de le rendre un personnage honorifique et symbolique sans aucune responsabilité politique. </a:t>
            </a:r>
            <a:endParaRPr lang="fr-MA" dirty="0" smtClean="0"/>
          </a:p>
          <a:p>
            <a:pPr marL="514350" indent="-514350" algn="just">
              <a:lnSpc>
                <a:spcPct val="150000"/>
              </a:lnSpc>
              <a:buNone/>
            </a:pPr>
            <a:r>
              <a:rPr lang="fr-MA" dirty="0" smtClean="0"/>
              <a:t>Toutefois</a:t>
            </a:r>
            <a:r>
              <a:rPr lang="fr-MA" dirty="0"/>
              <a:t>, sur le plan juridique formel, il continue de bénéficier d’un pouvoir considérable. </a:t>
            </a:r>
            <a:endParaRPr lang="fr-MA" dirty="0" smtClean="0"/>
          </a:p>
          <a:p>
            <a:pPr algn="just">
              <a:lnSpc>
                <a:spcPct val="150000"/>
              </a:lnSpc>
              <a:buFont typeface="Constantia" pitchFamily="18" charset="0"/>
              <a:buChar char="₋"/>
            </a:pPr>
            <a:r>
              <a:rPr lang="fr-MA" dirty="0" smtClean="0"/>
              <a:t>Il </a:t>
            </a:r>
            <a:r>
              <a:rPr lang="fr-MA" dirty="0"/>
              <a:t>est le chef spirituel de l’Eglise anglicane; </a:t>
            </a:r>
            <a:endParaRPr lang="fr-MA" dirty="0" smtClean="0"/>
          </a:p>
          <a:p>
            <a:pPr algn="just">
              <a:lnSpc>
                <a:spcPct val="150000"/>
              </a:lnSpc>
              <a:buFont typeface="Constantia" pitchFamily="18" charset="0"/>
              <a:buChar char="₋"/>
            </a:pPr>
            <a:r>
              <a:rPr lang="fr-MA" dirty="0" smtClean="0"/>
              <a:t>il </a:t>
            </a:r>
            <a:r>
              <a:rPr lang="fr-MA" dirty="0"/>
              <a:t>nomme le premier ministre, </a:t>
            </a:r>
            <a:endParaRPr lang="fr-MA" dirty="0" smtClean="0"/>
          </a:p>
          <a:p>
            <a:pPr algn="just">
              <a:lnSpc>
                <a:spcPct val="150000"/>
              </a:lnSpc>
              <a:buFont typeface="Constantia" pitchFamily="18" charset="0"/>
              <a:buChar char="₋"/>
            </a:pPr>
            <a:r>
              <a:rPr lang="fr-MA" dirty="0" smtClean="0"/>
              <a:t>il </a:t>
            </a:r>
            <a:r>
              <a:rPr lang="fr-MA" dirty="0"/>
              <a:t>convoque et dissout la chambre des Communes</a:t>
            </a:r>
            <a:r>
              <a:rPr lang="fr-MA" dirty="0" smtClean="0"/>
              <a:t>,</a:t>
            </a:r>
          </a:p>
          <a:p>
            <a:pPr algn="just">
              <a:lnSpc>
                <a:spcPct val="150000"/>
              </a:lnSpc>
              <a:buFont typeface="Constantia" pitchFamily="18" charset="0"/>
              <a:buChar char="₋"/>
            </a:pPr>
            <a:r>
              <a:rPr lang="fr-MA" dirty="0" smtClean="0"/>
              <a:t> </a:t>
            </a:r>
            <a:r>
              <a:rPr lang="fr-MA" dirty="0"/>
              <a:t>il promulgue les lois, </a:t>
            </a:r>
            <a:endParaRPr lang="fr-MA" dirty="0" smtClean="0"/>
          </a:p>
          <a:p>
            <a:pPr algn="just">
              <a:lnSpc>
                <a:spcPct val="150000"/>
              </a:lnSpc>
              <a:buFont typeface="Constantia" pitchFamily="18" charset="0"/>
              <a:buChar char="₋"/>
            </a:pPr>
            <a:r>
              <a:rPr lang="fr-MA" dirty="0" smtClean="0"/>
              <a:t>il </a:t>
            </a:r>
            <a:r>
              <a:rPr lang="fr-MA" dirty="0"/>
              <a:t>est le chef des forces armées, </a:t>
            </a:r>
            <a:endParaRPr lang="fr-MA" dirty="0" smtClean="0"/>
          </a:p>
          <a:p>
            <a:pPr algn="just">
              <a:lnSpc>
                <a:spcPct val="150000"/>
              </a:lnSpc>
              <a:buFont typeface="Constantia" pitchFamily="18" charset="0"/>
              <a:buChar char="₋"/>
            </a:pPr>
            <a:r>
              <a:rPr lang="fr-MA" dirty="0" smtClean="0"/>
              <a:t>il </a:t>
            </a:r>
            <a:r>
              <a:rPr lang="fr-MA" dirty="0"/>
              <a:t>conclut les traités internationaux et il peut déclarer la guerre et faire la paix….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107</a:t>
            </a:fld>
            <a:endParaRPr lang="fr-FR"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lnSpc>
                <a:spcPct val="150000"/>
              </a:lnSpc>
              <a:buNone/>
            </a:pPr>
            <a:r>
              <a:rPr lang="fr-MA" dirty="0"/>
              <a:t> </a:t>
            </a:r>
          </a:p>
          <a:p>
            <a:pPr algn="just">
              <a:lnSpc>
                <a:spcPct val="150000"/>
              </a:lnSpc>
              <a:buNone/>
            </a:pPr>
            <a:endParaRPr lang="fr-MA" dirty="0"/>
          </a:p>
          <a:p>
            <a:pPr algn="just">
              <a:lnSpc>
                <a:spcPct val="150000"/>
              </a:lnSpc>
              <a:buNone/>
            </a:pPr>
            <a:r>
              <a:rPr lang="fr-MA" dirty="0"/>
              <a:t>Malgré leur importance, les prérogatives royales ne sont pas exercées par le roi, en raison des </a:t>
            </a:r>
            <a:r>
              <a:rPr lang="fr-MA" dirty="0" smtClean="0"/>
              <a:t>conventions </a:t>
            </a:r>
            <a:r>
              <a:rPr lang="fr-MA" dirty="0"/>
              <a:t>constitutionnelles qui habilitent le premier ministre et le cabinet  à s’en charger.</a:t>
            </a:r>
          </a:p>
          <a:p>
            <a:pPr algn="just">
              <a:lnSpc>
                <a:spcPct val="150000"/>
              </a:lnSpc>
              <a:buNone/>
            </a:pPr>
            <a:r>
              <a:rPr lang="fr-FR" dirty="0"/>
              <a:t> Depuis deux siècles, aucun roi n'a tenté de s'opposer ouvertement à une loi ou </a:t>
            </a:r>
            <a:r>
              <a:rPr lang="fr-FR" dirty="0" smtClean="0"/>
              <a:t>à une mesure </a:t>
            </a:r>
            <a:r>
              <a:rPr lang="fr-FR" dirty="0"/>
              <a:t>adoptée par le gouvernement, même quand il les désapprouvait personnellement </a:t>
            </a:r>
            <a:endParaRPr lang="fr-FR" dirty="0" smtClean="0"/>
          </a:p>
          <a:p>
            <a:pPr algn="just">
              <a:lnSpc>
                <a:spcPct val="150000"/>
              </a:lnSpc>
              <a:buNone/>
            </a:pPr>
            <a:r>
              <a:rPr lang="fr-FR" dirty="0" smtClean="0"/>
              <a:t>(</a:t>
            </a:r>
            <a:r>
              <a:rPr lang="fr-FR" dirty="0"/>
              <a:t>le cas du Roi George V </a:t>
            </a:r>
            <a:r>
              <a:rPr lang="fr-FR" dirty="0" smtClean="0"/>
              <a:t>quand </a:t>
            </a:r>
            <a:r>
              <a:rPr lang="fr-FR" dirty="0"/>
              <a:t>il a désapprouvé ouvertement la loi pour l'indépendance de l'Irlande sans pour autant s’opposer a son adoption).</a:t>
            </a:r>
            <a:endParaRPr lang="fr-MA" dirty="0"/>
          </a:p>
          <a:p>
            <a:pPr algn="just">
              <a:lnSpc>
                <a:spcPct val="150000"/>
              </a:lnSpc>
              <a:buNone/>
            </a:pPr>
            <a:r>
              <a:rPr lang="fr-MA" dirty="0"/>
              <a:t>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108</a:t>
            </a:fld>
            <a:endParaRPr lang="fr-F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20000"/>
          </a:bodyPr>
          <a:lstStyle/>
          <a:p>
            <a:pPr marL="514350" indent="-514350" algn="just">
              <a:lnSpc>
                <a:spcPct val="150000"/>
              </a:lnSpc>
              <a:buFont typeface="+mj-lt"/>
              <a:buAutoNum type="arabicPeriod" startAt="2"/>
            </a:pPr>
            <a:endParaRPr lang="fr-MA" b="1" dirty="0"/>
          </a:p>
          <a:p>
            <a:pPr marL="514350" indent="-514350" algn="just">
              <a:lnSpc>
                <a:spcPct val="150000"/>
              </a:lnSpc>
              <a:buFont typeface="+mj-lt"/>
              <a:buAutoNum type="arabicPeriod" startAt="2"/>
            </a:pPr>
            <a:r>
              <a:rPr lang="fr-MA" b="1" dirty="0">
                <a:solidFill>
                  <a:srgbClr val="FFFF00"/>
                </a:solidFill>
              </a:rPr>
              <a:t>Le cabinet ( gouvernement)</a:t>
            </a:r>
          </a:p>
          <a:p>
            <a:pPr marL="514350" indent="-514350" algn="just">
              <a:lnSpc>
                <a:spcPct val="150000"/>
              </a:lnSpc>
              <a:buNone/>
            </a:pPr>
            <a:r>
              <a:rPr lang="fr-MA" dirty="0"/>
              <a:t>Avant la révolution de 1688, cet organe n’existait pas, le Roi choisissait lui-même, entre ses conseillers </a:t>
            </a:r>
            <a:r>
              <a:rPr lang="fr-MA" dirty="0" smtClean="0"/>
              <a:t>privés, </a:t>
            </a:r>
            <a:r>
              <a:rPr lang="fr-MA" dirty="0"/>
              <a:t>ceux dont il avait le plus confiance pour </a:t>
            </a:r>
            <a:r>
              <a:rPr lang="fr-MA" dirty="0" smtClean="0"/>
              <a:t>devenir ministre. </a:t>
            </a:r>
            <a:r>
              <a:rPr lang="fr-MA" dirty="0"/>
              <a:t>Il les nommait révoquait à sa guise. </a:t>
            </a:r>
          </a:p>
          <a:p>
            <a:pPr marL="514350" indent="-514350" algn="just">
              <a:lnSpc>
                <a:spcPct val="150000"/>
              </a:lnSpc>
              <a:buNone/>
            </a:pPr>
            <a:r>
              <a:rPr lang="fr-MA" dirty="0"/>
              <a:t>Depuis le 18</a:t>
            </a:r>
            <a:r>
              <a:rPr lang="fr-MA" baseline="30000" dirty="0"/>
              <a:t>e</a:t>
            </a:r>
            <a:r>
              <a:rPr lang="fr-MA" dirty="0"/>
              <a:t> siècle, le cabinet doit </a:t>
            </a:r>
            <a:r>
              <a:rPr lang="fr-MA" dirty="0" smtClean="0"/>
              <a:t>avoir la </a:t>
            </a:r>
            <a:r>
              <a:rPr lang="fr-MA" dirty="0"/>
              <a:t>confiance du parlement pour son investiture. </a:t>
            </a:r>
          </a:p>
          <a:p>
            <a:pPr marL="514350" indent="-514350" algn="just">
              <a:lnSpc>
                <a:spcPct val="150000"/>
              </a:lnSpc>
              <a:buNone/>
            </a:pPr>
            <a:r>
              <a:rPr lang="fr-FR" dirty="0"/>
              <a:t>Le cabinet jouit des pouvoirs considérables. </a:t>
            </a:r>
            <a:endParaRPr lang="fr-FR" dirty="0" smtClean="0"/>
          </a:p>
          <a:p>
            <a:pPr marL="514350" indent="-514350" algn="just">
              <a:lnSpc>
                <a:spcPct val="150000"/>
              </a:lnSpc>
              <a:buNone/>
            </a:pPr>
            <a:r>
              <a:rPr lang="fr-FR" dirty="0" smtClean="0"/>
              <a:t>Il </a:t>
            </a:r>
            <a:r>
              <a:rPr lang="fr-FR" dirty="0"/>
              <a:t>exerce le pouvoir exécutif et une partie des compétences relevant des prérogatives royales; il détient le pouvoir considérable </a:t>
            </a:r>
            <a:r>
              <a:rPr lang="fr-FR" dirty="0" smtClean="0"/>
              <a:t>de légiférer </a:t>
            </a:r>
            <a:r>
              <a:rPr lang="fr-FR" dirty="0"/>
              <a:t>à la place du parlement, suite à la délégation faite par ce dernier (loi d’habilitation).</a:t>
            </a:r>
            <a:endParaRPr lang="fr-MA" dirty="0"/>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109</a:t>
            </a:fld>
            <a:endParaRPr lang="fr-F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lgn="just">
              <a:lnSpc>
                <a:spcPct val="150000"/>
              </a:lnSpc>
              <a:buNone/>
            </a:pPr>
            <a:r>
              <a:rPr lang="fr-FR" dirty="0"/>
              <a:t>La composition du Cabinet est très complexe. Il se compose du Premier ministre, des ministres, des secrétaires d’État. </a:t>
            </a:r>
            <a:endParaRPr lang="fr-FR" dirty="0" smtClean="0"/>
          </a:p>
          <a:p>
            <a:pPr marL="514350" indent="-514350" algn="just">
              <a:lnSpc>
                <a:spcPct val="150000"/>
              </a:lnSpc>
              <a:buNone/>
            </a:pPr>
            <a:r>
              <a:rPr lang="fr-FR" dirty="0" smtClean="0"/>
              <a:t>Il </a:t>
            </a:r>
            <a:r>
              <a:rPr lang="fr-FR" dirty="0"/>
              <a:t>existe des ministres qui sont à la tête d’un ministère, et d’autres personnalités dont les fonctions sont honorifiques (par exemple, Lord du Sceau privé), ou effectives (Lord Chancelier, Lord président du Conseil privé) qui font partie du ministère. Quant aux secrétaires d’État (</a:t>
            </a:r>
            <a:r>
              <a:rPr lang="fr-FR" dirty="0" err="1"/>
              <a:t>Foreign</a:t>
            </a:r>
            <a:r>
              <a:rPr lang="fr-FR" dirty="0"/>
              <a:t> </a:t>
            </a:r>
            <a:r>
              <a:rPr lang="fr-FR" dirty="0" err="1"/>
              <a:t>secretary</a:t>
            </a:r>
            <a:r>
              <a:rPr lang="fr-FR" dirty="0"/>
              <a:t>, Home </a:t>
            </a:r>
            <a:r>
              <a:rPr lang="fr-FR" dirty="0" err="1"/>
              <a:t>secretary</a:t>
            </a:r>
            <a:r>
              <a:rPr lang="fr-FR" dirty="0"/>
              <a:t>, etc.), ce sont des personnalités à la tête d’un département ministériel ancien. A l’exception de ces derniers, tous les ministres sont nommés par le 1</a:t>
            </a:r>
            <a:r>
              <a:rPr lang="fr-FR" baseline="30000" dirty="0"/>
              <a:t>er</a:t>
            </a:r>
            <a:r>
              <a:rPr lang="fr-FR" dirty="0"/>
              <a:t> ministre.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110</a:t>
            </a:fld>
            <a:endParaRPr lang="fr-F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357298"/>
          </a:xfrm>
        </p:spPr>
        <p:txBody>
          <a:bodyPr>
            <a:normAutofit fontScale="90000"/>
          </a:bodyPr>
          <a:lstStyle/>
          <a:p>
            <a:pPr algn="ctr"/>
            <a:r>
              <a:rPr lang="fr-MA" b="1" dirty="0"/>
              <a:t>a</a:t>
            </a:r>
            <a:r>
              <a:rPr lang="fr-MA" b="1" dirty="0">
                <a:latin typeface="Times New Roman" pitchFamily="18" charset="0"/>
                <a:cs typeface="Times New Roman" pitchFamily="18" charset="0"/>
              </a:rPr>
              <a:t>) </a:t>
            </a:r>
            <a:r>
              <a:rPr lang="fr-MA" b="1" dirty="0">
                <a:solidFill>
                  <a:srgbClr val="FFFF00"/>
                </a:solidFill>
                <a:latin typeface="Times New Roman" pitchFamily="18" charset="0"/>
                <a:cs typeface="Times New Roman" pitchFamily="18" charset="0"/>
              </a:rPr>
              <a:t>La prééminence  du 1</a:t>
            </a:r>
            <a:r>
              <a:rPr lang="fr-MA" b="1" baseline="30000" dirty="0">
                <a:solidFill>
                  <a:srgbClr val="FFFF00"/>
                </a:solidFill>
                <a:latin typeface="Times New Roman" pitchFamily="18" charset="0"/>
                <a:cs typeface="Times New Roman" pitchFamily="18" charset="0"/>
              </a:rPr>
              <a:t>er</a:t>
            </a:r>
            <a:r>
              <a:rPr lang="fr-MA" b="1" dirty="0">
                <a:solidFill>
                  <a:srgbClr val="FFFF00"/>
                </a:solidFill>
                <a:latin typeface="Times New Roman" pitchFamily="18" charset="0"/>
                <a:cs typeface="Times New Roman" pitchFamily="18" charset="0"/>
              </a:rPr>
              <a:t> ministre</a:t>
            </a:r>
            <a:r>
              <a:rPr lang="fr-MA" b="1" dirty="0">
                <a:solidFill>
                  <a:srgbClr val="FFFF00"/>
                </a:solidFill>
              </a:rPr>
              <a:t/>
            </a:r>
            <a:br>
              <a:rPr lang="fr-MA" b="1" dirty="0">
                <a:solidFill>
                  <a:srgbClr val="FFFF00"/>
                </a:solidFill>
              </a:rPr>
            </a:br>
            <a:endParaRPr lang="fr-FR" dirty="0">
              <a:solidFill>
                <a:srgbClr val="FFFF00"/>
              </a:solidFill>
            </a:endParaRP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111</a:t>
            </a:fld>
            <a:endParaRPr lang="fr-FR"/>
          </a:p>
        </p:txBody>
      </p:sp>
      <p:pic>
        <p:nvPicPr>
          <p:cNvPr id="8" name="Espace réservé du contenu 7" descr="Winston Churchill — Wikipédia"/>
          <p:cNvPicPr>
            <a:picLocks noGrp="1"/>
          </p:cNvPicPr>
          <p:nvPr>
            <p:ph idx="1"/>
          </p:nvPr>
        </p:nvPicPr>
        <p:blipFill>
          <a:blip r:embed="rId2"/>
          <a:srcRect/>
          <a:stretch>
            <a:fillRect/>
          </a:stretch>
        </p:blipFill>
        <p:spPr bwMode="auto">
          <a:xfrm>
            <a:off x="142844" y="2000240"/>
            <a:ext cx="9001156" cy="4857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514350" indent="-514350" algn="just">
              <a:buNone/>
            </a:pPr>
            <a:endParaRPr lang="fr-MA" b="1" dirty="0"/>
          </a:p>
          <a:p>
            <a:pPr marL="514350" indent="-514350" algn="just">
              <a:lnSpc>
                <a:spcPct val="150000"/>
              </a:lnSpc>
              <a:buNone/>
            </a:pPr>
            <a:r>
              <a:rPr lang="fr-MA" dirty="0"/>
              <a:t>L’une de caractéristiques du régime politique Britannique est la souplesse de la séparation des pouvoirs entre l’organe législatif et l’organe exécutif, en ce sens que ce dernier émane directement de la majorité au sein du  parlement. </a:t>
            </a:r>
          </a:p>
          <a:p>
            <a:pPr marL="514350" indent="-514350" algn="just">
              <a:lnSpc>
                <a:spcPct val="150000"/>
              </a:lnSpc>
              <a:buNone/>
            </a:pPr>
            <a:r>
              <a:rPr lang="fr-FR" dirty="0"/>
              <a:t>Le Premier ministre, est formellement désigné par le monarque. Conformément à la coutume constitutionnelle. </a:t>
            </a:r>
            <a:r>
              <a:rPr lang="fr-FR" dirty="0" smtClean="0"/>
              <a:t>Il </a:t>
            </a:r>
            <a:r>
              <a:rPr lang="fr-FR" dirty="0"/>
              <a:t>est toujours le leader du parti majoritaire aux élections de la Chambre des communes.</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112</a:t>
            </a:fld>
            <a:endParaRPr lang="fr-F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p>
          <a:p>
            <a:pPr algn="just">
              <a:lnSpc>
                <a:spcPct val="150000"/>
              </a:lnSpc>
              <a:buNone/>
            </a:pPr>
            <a:r>
              <a:rPr lang="fr-FR" dirty="0"/>
              <a:t>Juridiquement, le 1</a:t>
            </a:r>
            <a:r>
              <a:rPr lang="fr-FR" baseline="30000" dirty="0"/>
              <a:t>er</a:t>
            </a:r>
            <a:r>
              <a:rPr lang="fr-FR" dirty="0"/>
              <a:t> ministre est responsable devant la Chambre des communes, mais il y a </a:t>
            </a:r>
            <a:r>
              <a:rPr lang="fr-FR" dirty="0" smtClean="0"/>
              <a:t>peu </a:t>
            </a:r>
            <a:r>
              <a:rPr lang="fr-FR" dirty="0"/>
              <a:t>de chance pour qu’il soit renversé, tant qu’il bénéficie de  la confiance de son parti et qu’il arrive a remporter les élections.</a:t>
            </a:r>
          </a:p>
          <a:p>
            <a:pPr algn="just">
              <a:lnSpc>
                <a:spcPct val="150000"/>
              </a:lnSpc>
              <a:buNone/>
            </a:pPr>
            <a:r>
              <a:rPr lang="fr-FR" dirty="0"/>
              <a:t>Lorsque le </a:t>
            </a:r>
            <a:r>
              <a:rPr lang="fr-FR" dirty="0" smtClean="0"/>
              <a:t>premier </a:t>
            </a:r>
            <a:r>
              <a:rPr lang="fr-FR" dirty="0"/>
              <a:t>ministre dispose d’une majorité homogène, il pilote l’ensemble de l’action gouvernementale. Les décisions les plus importantes sont confectionnées par des commissions </a:t>
            </a:r>
            <a:r>
              <a:rPr lang="fr-FR" i="1" dirty="0"/>
              <a:t>ad hoc </a:t>
            </a:r>
            <a:r>
              <a:rPr lang="fr-FR" dirty="0"/>
              <a:t>qu’il nomme et qui sont composées de quelques ministres qui bénéficient de sa confiance.</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113</a:t>
            </a:fld>
            <a:endParaRPr lang="fr-F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p>
          <a:p>
            <a:pPr algn="just">
              <a:lnSpc>
                <a:spcPct val="150000"/>
              </a:lnSpc>
              <a:buNone/>
            </a:pPr>
            <a:r>
              <a:rPr lang="fr-FR" dirty="0"/>
              <a:t>Il faut dire que le 1</a:t>
            </a:r>
            <a:r>
              <a:rPr lang="fr-FR" baseline="30000" dirty="0"/>
              <a:t>er</a:t>
            </a:r>
            <a:r>
              <a:rPr lang="fr-FR" dirty="0"/>
              <a:t> ministre dispose </a:t>
            </a:r>
            <a:r>
              <a:rPr lang="fr-FR" dirty="0" smtClean="0"/>
              <a:t>des </a:t>
            </a:r>
            <a:r>
              <a:rPr lang="fr-FR" dirty="0"/>
              <a:t>prérogatives très importantes qui lui permettent d’imposer ses décisions à la Chambre des communes.</a:t>
            </a:r>
          </a:p>
          <a:p>
            <a:pPr algn="just">
              <a:lnSpc>
                <a:spcPct val="150000"/>
              </a:lnSpc>
              <a:buNone/>
            </a:pPr>
            <a:r>
              <a:rPr lang="fr-FR" dirty="0"/>
              <a:t>Il peut prononcer la dissolution de la chambre des communes  en cas de motion de censure adoptée par cette dernière contre le gouvernement et de son refus d’accorder sa confiance au gouvernement.</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114</a:t>
            </a:fld>
            <a:endParaRPr lang="fr-F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lgn="ctr">
              <a:lnSpc>
                <a:spcPct val="150000"/>
              </a:lnSpc>
              <a:buFont typeface="+mj-lt"/>
              <a:buAutoNum type="arabicPeriod" startAt="3"/>
            </a:pPr>
            <a:r>
              <a:rPr lang="fr-MA" b="1" dirty="0"/>
              <a:t>Le parlement</a:t>
            </a:r>
          </a:p>
          <a:p>
            <a:pPr marL="514350" indent="-514350" algn="ctr">
              <a:lnSpc>
                <a:spcPct val="150000"/>
              </a:lnSpc>
              <a:buNone/>
            </a:pPr>
            <a:endParaRPr lang="fr-MA" b="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115</a:t>
            </a:fld>
            <a:endParaRPr lang="fr-FR"/>
          </a:p>
        </p:txBody>
      </p:sp>
      <p:pic>
        <p:nvPicPr>
          <p:cNvPr id="6" name="Image 5" descr="Histoire : la monarchie britannique, son fonctionnement au XVIIIe siècle"/>
          <p:cNvPicPr/>
          <p:nvPr/>
        </p:nvPicPr>
        <p:blipFill>
          <a:blip r:embed="rId2"/>
          <a:srcRect/>
          <a:stretch>
            <a:fillRect/>
          </a:stretch>
        </p:blipFill>
        <p:spPr bwMode="auto">
          <a:xfrm>
            <a:off x="4714876" y="1428736"/>
            <a:ext cx="4429124" cy="5429264"/>
          </a:xfrm>
          <a:prstGeom prst="rect">
            <a:avLst/>
          </a:prstGeom>
          <a:noFill/>
          <a:ln w="9525">
            <a:noFill/>
            <a:miter lim="800000"/>
            <a:headEnd/>
            <a:tailEnd/>
          </a:ln>
        </p:spPr>
      </p:pic>
      <p:sp>
        <p:nvSpPr>
          <p:cNvPr id="7" name="Rectangle 6"/>
          <p:cNvSpPr/>
          <p:nvPr/>
        </p:nvSpPr>
        <p:spPr>
          <a:xfrm>
            <a:off x="0" y="1500174"/>
            <a:ext cx="4572000" cy="4616648"/>
          </a:xfrm>
          <a:prstGeom prst="rect">
            <a:avLst/>
          </a:prstGeom>
        </p:spPr>
        <p:txBody>
          <a:bodyPr wrap="square">
            <a:spAutoFit/>
          </a:bodyPr>
          <a:lstStyle/>
          <a:p>
            <a:pPr marL="514350" indent="-514350" algn="just">
              <a:lnSpc>
                <a:spcPct val="150000"/>
              </a:lnSpc>
            </a:pPr>
            <a:r>
              <a:rPr lang="fr-MA" sz="2800" dirty="0" smtClean="0"/>
              <a:t>	En </a:t>
            </a:r>
            <a:r>
              <a:rPr lang="fr-MA" sz="2800" dirty="0"/>
              <a:t>théorie, Le </a:t>
            </a:r>
            <a:r>
              <a:rPr lang="fr-MA" sz="2800" dirty="0" smtClean="0"/>
              <a:t>parlement Britannique </a:t>
            </a:r>
            <a:r>
              <a:rPr lang="fr-MA" sz="2800" dirty="0"/>
              <a:t>est composé de trois institutions chargées de faire la loi,  </a:t>
            </a:r>
            <a:r>
              <a:rPr lang="fr-FR" sz="2800" dirty="0"/>
              <a:t>la chambre des Communes , la Chambre de lords et le Roi.  </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142852"/>
            <a:ext cx="9001156" cy="1357322"/>
          </a:xfrm>
        </p:spPr>
        <p:txBody>
          <a:bodyPr>
            <a:normAutofit fontScale="90000"/>
          </a:bodyPr>
          <a:lstStyle/>
          <a:p>
            <a:pPr algn="ctr"/>
            <a:r>
              <a:rPr lang="fr-MA" b="1" i="1" dirty="0">
                <a:latin typeface="Times New Roman" pitchFamily="18" charset="0"/>
                <a:cs typeface="Times New Roman" pitchFamily="18" charset="0"/>
              </a:rPr>
              <a:t>a. La Chambre des Communes</a:t>
            </a:r>
            <a:r>
              <a:rPr lang="fr-FR" b="1" dirty="0"/>
              <a:t/>
            </a:r>
            <a:br>
              <a:rPr lang="fr-FR" b="1" dirty="0"/>
            </a:b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116</a:t>
            </a:fld>
            <a:endParaRPr lang="fr-FR"/>
          </a:p>
        </p:txBody>
      </p:sp>
      <p:pic>
        <p:nvPicPr>
          <p:cNvPr id="5" name="Espace réservé du contenu 4" descr="11 choses à savoir sur le Parlement britannique"/>
          <p:cNvPicPr>
            <a:picLocks noGrp="1"/>
          </p:cNvPicPr>
          <p:nvPr>
            <p:ph idx="1"/>
          </p:nvPr>
        </p:nvPicPr>
        <p:blipFill>
          <a:blip r:embed="rId2"/>
          <a:srcRect/>
          <a:stretch>
            <a:fillRect/>
          </a:stretch>
        </p:blipFill>
        <p:spPr bwMode="auto">
          <a:xfrm>
            <a:off x="0" y="1357298"/>
            <a:ext cx="9144000" cy="55007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marL="514350" indent="-514350" algn="just">
              <a:lnSpc>
                <a:spcPct val="150000"/>
              </a:lnSpc>
              <a:buNone/>
            </a:pPr>
            <a:endParaRPr lang="fr-FR" dirty="0"/>
          </a:p>
          <a:p>
            <a:pPr marL="514350" indent="-514350" algn="just">
              <a:lnSpc>
                <a:spcPct val="150000"/>
              </a:lnSpc>
              <a:buNone/>
            </a:pPr>
            <a:r>
              <a:rPr lang="fr-FR" dirty="0"/>
              <a:t>La chambre des Communes compte 650 députés élus pour cinq ans au suffrage universel directe, masculin depuis 1918 et féminin depuis 1928. </a:t>
            </a:r>
            <a:endParaRPr lang="fr-FR" dirty="0" smtClean="0"/>
          </a:p>
          <a:p>
            <a:pPr marL="514350" indent="-514350" algn="just">
              <a:lnSpc>
                <a:spcPct val="150000"/>
              </a:lnSpc>
              <a:buNone/>
            </a:pPr>
            <a:r>
              <a:rPr lang="fr-FR" dirty="0" smtClean="0"/>
              <a:t>Le </a:t>
            </a:r>
            <a:r>
              <a:rPr lang="fr-FR" dirty="0"/>
              <a:t>mode se scrutin (élection) est majoritaire à un tour. </a:t>
            </a:r>
            <a:r>
              <a:rPr lang="fr-FR" dirty="0" err="1"/>
              <a:t>C.a.d</a:t>
            </a:r>
            <a:r>
              <a:rPr lang="fr-FR" dirty="0"/>
              <a:t> que le candidat qui remporte le plus grand nombre de voix dans une circonscription électorale remporte le siège .</a:t>
            </a:r>
          </a:p>
          <a:p>
            <a:pPr marL="514350" indent="-514350" algn="just">
              <a:lnSpc>
                <a:spcPct val="150000"/>
              </a:lnSpc>
              <a:buNone/>
            </a:pPr>
            <a:r>
              <a:rPr lang="fr-MA" dirty="0"/>
              <a:t>Ce mode de scrutin favorise la polarisation politique et le bipartisme, dans la mesure ou les élections engendrent un parti majoritaire à la Chambre des communes. Du coup, le changement de majorité lors des élections entraine le changement de parti au pouvoir. </a:t>
            </a:r>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117</a:t>
            </a:fld>
            <a:endParaRPr lang="fr-F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MA" dirty="0"/>
          </a:p>
          <a:p>
            <a:pPr algn="just">
              <a:lnSpc>
                <a:spcPct val="150000"/>
              </a:lnSpc>
              <a:buNone/>
            </a:pPr>
            <a:r>
              <a:rPr lang="fr-MA" dirty="0"/>
              <a:t>Les députés sont élus pour un mandat de cinq ans, mais il arrive souvent que la chambre soit dissoute prématurément par </a:t>
            </a:r>
            <a:r>
              <a:rPr lang="fr-MA" dirty="0" smtClean="0"/>
              <a:t>le Roi, </a:t>
            </a:r>
            <a:r>
              <a:rPr lang="fr-MA" dirty="0"/>
              <a:t>suite à la demande du premier ministre. </a:t>
            </a:r>
            <a:endParaRPr lang="fr-FR" dirty="0"/>
          </a:p>
          <a:p>
            <a:pPr algn="just">
              <a:lnSpc>
                <a:spcPct val="150000"/>
              </a:lnSpc>
              <a:buNone/>
            </a:pPr>
            <a:r>
              <a:rPr lang="fr-FR" dirty="0"/>
              <a:t>La Chambre des communes choisit au début de chaque mandat  un président connu pour sa neutralité, nommé </a:t>
            </a:r>
            <a:r>
              <a:rPr lang="fr-FR" i="1" dirty="0"/>
              <a:t>le speaker</a:t>
            </a:r>
            <a:r>
              <a:rPr lang="fr-FR" dirty="0"/>
              <a:t>, pour toute la durée de la législature (5ans). Ce dernier jouit des compétences importantes comme: la nomination des présidents des commissions, la direction des débats et la sanctions contre les députés ayant transgressé le règlement intérieur de la chambre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118</a:t>
            </a:fld>
            <a:endParaRPr lang="fr-F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r>
              <a:rPr lang="fr-MA" dirty="0"/>
              <a:t>Cette chambre dispose, de manière </a:t>
            </a:r>
            <a:r>
              <a:rPr lang="fr-FR" dirty="0"/>
              <a:t>parallèle avec le Gouvernement, de l'initiative des lois. Les projets de lois sont examinés, amendés et votés par la chambre des communes et la chambre des Lords mais, en cas de désaccord, c'est la Chambre des Communes qui a le dernier mot.</a:t>
            </a:r>
          </a:p>
          <a:p>
            <a:pPr algn="just">
              <a:lnSpc>
                <a:spcPct val="150000"/>
              </a:lnSpc>
              <a:buNone/>
            </a:pPr>
            <a:r>
              <a:rPr lang="fr-MA" dirty="0"/>
              <a:t>De plus, elle dispose d’un pouvoir financier puisque les dépenses de l’Etat et les impôts sont soumis à son approbation. Elle dispose également d’un pouvoir de contrôle sur le gouvernement, vu  que ce dernier est responsable politiquement devant elle et qu’il peut être amener à démissionner en cas ou elle vote une motion de censure contre lui.</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119</a:t>
            </a:fld>
            <a:endParaRPr lang="fr-F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428736"/>
          </a:xfrm>
        </p:spPr>
        <p:txBody>
          <a:bodyPr/>
          <a:lstStyle/>
          <a:p>
            <a:pPr marL="914400" indent="-914400" algn="ctr">
              <a:buFont typeface="+mj-lt"/>
              <a:buAutoNum type="alphaLcParenR" startAt="2"/>
            </a:pPr>
            <a:r>
              <a:rPr lang="fr-MA" dirty="0"/>
              <a:t>La chambre des Lords</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120</a:t>
            </a:fld>
            <a:endParaRPr lang="fr-FR"/>
          </a:p>
        </p:txBody>
      </p:sp>
      <p:pic>
        <p:nvPicPr>
          <p:cNvPr id="5" name="Espace réservé du contenu 4" descr="Cocaïne et prostituées relancent le débat sur la chambre des Lords en Angleterre"/>
          <p:cNvPicPr>
            <a:picLocks noGrp="1"/>
          </p:cNvPicPr>
          <p:nvPr>
            <p:ph idx="1"/>
          </p:nvPr>
        </p:nvPicPr>
        <p:blipFill>
          <a:blip r:embed="rId2"/>
          <a:srcRect/>
          <a:stretch>
            <a:fillRect/>
          </a:stretch>
        </p:blipFill>
        <p:spPr bwMode="auto">
          <a:xfrm>
            <a:off x="0" y="1785926"/>
            <a:ext cx="9144000" cy="4806561"/>
          </a:xfrm>
          <a:prstGeom prst="rect">
            <a:avLst/>
          </a:prstGeom>
          <a:noFill/>
          <a:ln w="9525">
            <a:noFill/>
            <a:miter lim="800000"/>
            <a:headEnd/>
            <a:tailEnd/>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lnSpc>
                <a:spcPct val="150000"/>
              </a:lnSpc>
              <a:buNone/>
            </a:pPr>
            <a:endParaRPr lang="fr-MA" dirty="0"/>
          </a:p>
          <a:p>
            <a:pPr algn="just">
              <a:lnSpc>
                <a:spcPct val="150000"/>
              </a:lnSpc>
              <a:buNone/>
            </a:pPr>
            <a:r>
              <a:rPr lang="fr-MA" dirty="0"/>
              <a:t>La chambre des Lords rappelle le pouvoir de la couronne dans le passé. </a:t>
            </a:r>
          </a:p>
          <a:p>
            <a:pPr algn="just">
              <a:lnSpc>
                <a:spcPct val="150000"/>
              </a:lnSpc>
              <a:buNone/>
            </a:pPr>
            <a:r>
              <a:rPr lang="fr-MA" dirty="0"/>
              <a:t>Ses 800 membres (</a:t>
            </a:r>
            <a:r>
              <a:rPr lang="fr-FR" dirty="0"/>
              <a:t>682 pairs à vie </a:t>
            </a:r>
            <a:r>
              <a:rPr lang="fr-FR" i="1" dirty="0"/>
              <a:t>Life </a:t>
            </a:r>
            <a:r>
              <a:rPr lang="fr-FR" i="1" dirty="0" err="1"/>
              <a:t>peers</a:t>
            </a:r>
            <a:r>
              <a:rPr lang="fr-FR" i="1" dirty="0"/>
              <a:t> et 92 héréditaires</a:t>
            </a:r>
            <a:r>
              <a:rPr lang="fr-FR" dirty="0"/>
              <a:t>, )</a:t>
            </a:r>
            <a:r>
              <a:rPr lang="fr-MA" dirty="0"/>
              <a:t>sont nommés à vie par </a:t>
            </a:r>
            <a:r>
              <a:rPr lang="fr-MA" dirty="0" smtClean="0"/>
              <a:t>le Roi sur </a:t>
            </a:r>
            <a:r>
              <a:rPr lang="fr-MA" dirty="0"/>
              <a:t>proposition du premier ministre.</a:t>
            </a:r>
            <a:endParaRPr lang="fr-FR" dirty="0"/>
          </a:p>
          <a:p>
            <a:pPr algn="just">
              <a:lnSpc>
                <a:spcPct val="150000"/>
              </a:lnSpc>
              <a:buNone/>
            </a:pPr>
            <a:r>
              <a:rPr lang="fr-MA" dirty="0"/>
              <a:t>Cette chambre dispose du droit d’initiatives législatives et d’amendements, sauf en matière financière. </a:t>
            </a:r>
            <a:endParaRPr lang="fr-MA" dirty="0" smtClean="0"/>
          </a:p>
          <a:p>
            <a:pPr algn="just">
              <a:lnSpc>
                <a:spcPct val="150000"/>
              </a:lnSpc>
              <a:buNone/>
            </a:pPr>
            <a:r>
              <a:rPr lang="fr-MA" dirty="0" smtClean="0"/>
              <a:t>Mais </a:t>
            </a:r>
            <a:r>
              <a:rPr lang="fr-MA" dirty="0"/>
              <a:t>depuis 1999, ses pouvoirs ont été réduits pour n’en conserver que le droit de veto qui suspend une loi votée par la Chambre des communes pendant une année (un seul mois pour les lois de finances). Ce veto ne touche pas les réformes inscrites dans le programme du parti qui a remporté les élections.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121</a:t>
            </a:fld>
            <a:endParaRPr lang="fr-F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endParaRPr lang="fr-MA" dirty="0"/>
          </a:p>
          <a:p>
            <a:pPr algn="just">
              <a:lnSpc>
                <a:spcPct val="150000"/>
              </a:lnSpc>
              <a:buNone/>
            </a:pPr>
            <a:r>
              <a:rPr lang="fr-MA" dirty="0"/>
              <a:t>Depuis le vote du </a:t>
            </a:r>
            <a:r>
              <a:rPr lang="fr-FR" dirty="0" err="1"/>
              <a:t>Constitutional</a:t>
            </a:r>
            <a:r>
              <a:rPr lang="fr-FR" dirty="0"/>
              <a:t> </a:t>
            </a:r>
            <a:r>
              <a:rPr lang="fr-FR" dirty="0" err="1"/>
              <a:t>Reform</a:t>
            </a:r>
            <a:r>
              <a:rPr lang="fr-FR" dirty="0"/>
              <a:t> </a:t>
            </a:r>
            <a:r>
              <a:rPr lang="fr-FR" dirty="0" err="1"/>
              <a:t>Act</a:t>
            </a:r>
            <a:r>
              <a:rPr lang="fr-FR" dirty="0"/>
              <a:t> en </a:t>
            </a:r>
            <a:r>
              <a:rPr lang="fr-MA" dirty="0"/>
              <a:t>2005 cette chambre  n’exerce plus la fonction juridictionnelle, puisque les 12 Law Lords, qui sont nommés à vie par </a:t>
            </a:r>
            <a:r>
              <a:rPr lang="fr-MA" dirty="0" smtClean="0"/>
              <a:t>le roi, </a:t>
            </a:r>
            <a:r>
              <a:rPr lang="fr-MA" dirty="0"/>
              <a:t>parmi les personnalités les plus compétentes en Droit, siègent à part. ils sont révocables par une décision conjointe du deux chambres. </a:t>
            </a:r>
          </a:p>
          <a:p>
            <a:pPr algn="just">
              <a:lnSpc>
                <a:spcPct val="150000"/>
              </a:lnSpc>
              <a:buNone/>
            </a:pPr>
            <a:r>
              <a:rPr lang="fr-MA" dirty="0"/>
              <a:t>Il faut dire que la chambre des Lords ne bénéficie plus des pouvoirs  </a:t>
            </a:r>
            <a:r>
              <a:rPr lang="fr-MA" dirty="0" smtClean="0"/>
              <a:t>aristocratiques </a:t>
            </a:r>
            <a:r>
              <a:rPr lang="fr-MA" dirty="0"/>
              <a:t>traditionnels. Faute de pouvoir la supprimer, son statut était progressivement remis en cause, pour devenir plus représentative de la société Britannique en réservant un quota de 30% de sièges aux Femmes et un autre quota pour les minorités ethniques.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122</a:t>
            </a:fld>
            <a:endParaRPr lang="fr-F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p>
          <a:p>
            <a:pPr algn="just">
              <a:lnSpc>
                <a:spcPct val="150000"/>
              </a:lnSpc>
              <a:buNone/>
            </a:pPr>
            <a:r>
              <a:rPr lang="fr-FR" dirty="0"/>
              <a:t>le Royaume Uni étant un Etat unitaire, le Parlement a délégué certains de ses pouvoirs régionaux aux parlements des régions d'Ecosse, d'Irlande du Nord et du Pays de Galles. Ces derniers restent sous sa tutelle institutionnelle. Il peut revenir sur  sa délégation de manière unilatérale, comme il l’a fait en 2017, quand il a suspendu le parlement d'Irlande du Nord à cause de son incapacité à gérer la situation sécuritaire dans la région.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123</a:t>
            </a:fld>
            <a:endParaRPr lang="fr-F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20000"/>
          </a:bodyPr>
          <a:lstStyle/>
          <a:p>
            <a:pPr>
              <a:buNone/>
            </a:pPr>
            <a:endParaRPr lang="fr-FR" dirty="0"/>
          </a:p>
          <a:p>
            <a:pPr marL="514350" indent="-514350" algn="just">
              <a:buFont typeface="+mj-lt"/>
              <a:buAutoNum type="alphaLcParenR" startAt="3"/>
            </a:pPr>
            <a:r>
              <a:rPr lang="fr-MA" b="1" dirty="0"/>
              <a:t>Les rapports entre les différents pouvoirs</a:t>
            </a:r>
          </a:p>
          <a:p>
            <a:pPr marL="514350" indent="-514350" algn="just">
              <a:buNone/>
            </a:pPr>
            <a:endParaRPr lang="fr-FR" dirty="0"/>
          </a:p>
          <a:p>
            <a:pPr algn="just">
              <a:lnSpc>
                <a:spcPct val="150000"/>
              </a:lnSpc>
              <a:buNone/>
            </a:pPr>
            <a:r>
              <a:rPr lang="fr-FR" dirty="0"/>
              <a:t>La plus grande part des pouvoirs qu'exercent les membres du gouvernement trouve son fondement dans la loi. Il est fréquent en GB que des </a:t>
            </a:r>
            <a:r>
              <a:rPr lang="fr-FR" dirty="0" smtClean="0"/>
              <a:t>lois dite d’habilitation, </a:t>
            </a:r>
            <a:r>
              <a:rPr lang="fr-FR" dirty="0"/>
              <a:t>donnent à certains ministres ou départements de grands pouvoirs qui leur permettent </a:t>
            </a:r>
            <a:r>
              <a:rPr lang="fr-FR" dirty="0" smtClean="0"/>
              <a:t>d’édicter des normes à la place du parlement. </a:t>
            </a:r>
            <a:r>
              <a:rPr lang="fr-FR" dirty="0"/>
              <a:t>Ces pouvoirs seront soumis au contrôle juridictionnel qui veille à la légalité de leur mise en ouvre. </a:t>
            </a:r>
          </a:p>
          <a:p>
            <a:pPr algn="just">
              <a:lnSpc>
                <a:spcPct val="150000"/>
              </a:lnSpc>
              <a:buNone/>
            </a:pPr>
            <a:r>
              <a:rPr lang="fr-MA" dirty="0"/>
              <a:t>Le gouvernement dispose également de certaines prérogatives souveraines qu’il peut exercer sans l’autorisation du parlement. Ces derniers relèvent des ancienne compétences royales, désormais exercées par le cabinet sous le contrôle juridictionnel. Ce dernier est allé dans le sens de consacrer la primauté du parlement sur le gouvernement qui doit exécuter la loi .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124</a:t>
            </a:fld>
            <a:endParaRPr lang="fr-FR"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algn="just">
              <a:lnSpc>
                <a:spcPct val="150000"/>
              </a:lnSpc>
              <a:buNone/>
            </a:pPr>
            <a:endParaRPr lang="fr-FR" dirty="0"/>
          </a:p>
          <a:p>
            <a:pPr algn="just">
              <a:lnSpc>
                <a:spcPct val="150000"/>
              </a:lnSpc>
              <a:buNone/>
            </a:pPr>
            <a:r>
              <a:rPr lang="fr-FR" dirty="0"/>
              <a:t>Contrairement </a:t>
            </a:r>
            <a:r>
              <a:rPr lang="fr-FR" dirty="0" smtClean="0"/>
              <a:t>aux </a:t>
            </a:r>
            <a:r>
              <a:rPr lang="fr-FR" dirty="0"/>
              <a:t>apparences, au Royaume-Uni, l'exécutif contrôle l’ensemble du processus législatif dans la mesure ou:</a:t>
            </a:r>
          </a:p>
          <a:p>
            <a:pPr algn="just">
              <a:lnSpc>
                <a:spcPct val="150000"/>
              </a:lnSpc>
              <a:buFont typeface="Wingdings" pitchFamily="2" charset="2"/>
              <a:buChar char="Ø"/>
            </a:pPr>
            <a:r>
              <a:rPr lang="fr-FR" dirty="0"/>
              <a:t>Il fixe l’ordre du jour législatif,</a:t>
            </a:r>
          </a:p>
          <a:p>
            <a:pPr algn="just">
              <a:lnSpc>
                <a:spcPct val="150000"/>
              </a:lnSpc>
              <a:buFont typeface="Wingdings" pitchFamily="2" charset="2"/>
              <a:buChar char="Ø"/>
            </a:pPr>
            <a:r>
              <a:rPr lang="fr-FR" dirty="0"/>
              <a:t>Il détient l’initiative en matière </a:t>
            </a:r>
            <a:r>
              <a:rPr lang="fr-FR" dirty="0" smtClean="0"/>
              <a:t>législative. 90</a:t>
            </a:r>
            <a:r>
              <a:rPr lang="fr-FR" dirty="0"/>
              <a:t>% des lois sont d’origine </a:t>
            </a:r>
            <a:r>
              <a:rPr lang="fr-FR" dirty="0" smtClean="0"/>
              <a:t>gouvernementale (des projets de lois).</a:t>
            </a:r>
            <a:endParaRPr lang="fr-FR" dirty="0"/>
          </a:p>
          <a:p>
            <a:pPr algn="just">
              <a:lnSpc>
                <a:spcPct val="150000"/>
              </a:lnSpc>
              <a:buFont typeface="Wingdings" pitchFamily="2" charset="2"/>
              <a:buChar char="Ø"/>
            </a:pPr>
            <a:r>
              <a:rPr lang="fr-FR" dirty="0"/>
              <a:t>Le rôle de plus en plus important des commissions législatives,</a:t>
            </a:r>
          </a:p>
          <a:p>
            <a:pPr algn="just">
              <a:lnSpc>
                <a:spcPct val="150000"/>
              </a:lnSpc>
              <a:buFont typeface="Wingdings" pitchFamily="2" charset="2"/>
              <a:buChar char="Ø"/>
            </a:pPr>
            <a:r>
              <a:rPr lang="fr-MA" dirty="0"/>
              <a:t> l’importance de la législation déléguée. </a:t>
            </a:r>
          </a:p>
          <a:p>
            <a:pPr algn="just">
              <a:lnSpc>
                <a:spcPct val="150000"/>
              </a:lnSpc>
              <a:buNone/>
            </a:pPr>
            <a:r>
              <a:rPr lang="fr-MA" dirty="0"/>
              <a:t>En réalité le parlement britannique reste faible devant le gouvernement en ce sens que le bipartisme renforce le gouvernement</a:t>
            </a:r>
            <a:r>
              <a:rPr lang="fr-MA" dirty="0" smtClean="0"/>
              <a:t>. </a:t>
            </a:r>
            <a:r>
              <a:rPr lang="fr-MA" dirty="0"/>
              <a:t>Le gouvernement dispose ainsi du pouvoir de dissoudre le parlement, tandis que ce dernier peut à tout moment voter une motion de censure et contraindre le gouvernement a démissionner. </a:t>
            </a:r>
          </a:p>
          <a:p>
            <a:pPr algn="just">
              <a:lnSpc>
                <a:spcPct val="150000"/>
              </a:lnSpc>
              <a:buFont typeface="Wingdings" pitchFamily="2" charset="2"/>
              <a:buChar char="Ø"/>
            </a:pPr>
            <a:endParaRPr lang="fr-MA" dirty="0"/>
          </a:p>
          <a:p>
            <a:pPr algn="just">
              <a:lnSpc>
                <a:spcPct val="150000"/>
              </a:lnSpc>
              <a:buNone/>
            </a:pP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125</a:t>
            </a:fld>
            <a:endParaRPr lang="fr-FR"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714488"/>
          </a:xfrm>
        </p:spPr>
        <p:txBody>
          <a:bodyPr>
            <a:normAutofit fontScale="90000"/>
          </a:bodyPr>
          <a:lstStyle/>
          <a:p>
            <a:pPr algn="ctr"/>
            <a:r>
              <a:rPr lang="fr-CA" sz="4000" b="1" dirty="0"/>
              <a:t>Chapitre II. Le modèle constitutionnel présidentiel</a:t>
            </a:r>
            <a:r>
              <a:rPr lang="fr-FR" dirty="0"/>
              <a:t/>
            </a:r>
            <a:br>
              <a:rPr lang="fr-FR" dirty="0"/>
            </a:br>
            <a:endParaRPr lang="fr-FR" dirty="0"/>
          </a:p>
        </p:txBody>
      </p:sp>
      <p:sp>
        <p:nvSpPr>
          <p:cNvPr id="3" name="Espace réservé du contenu 2"/>
          <p:cNvSpPr>
            <a:spLocks noGrp="1"/>
          </p:cNvSpPr>
          <p:nvPr>
            <p:ph idx="1"/>
          </p:nvPr>
        </p:nvSpPr>
        <p:spPr>
          <a:xfrm>
            <a:off x="0" y="1357298"/>
            <a:ext cx="9144000" cy="5500702"/>
          </a:xfrm>
        </p:spPr>
        <p:txBody>
          <a:bodyPr>
            <a:normAutofit/>
          </a:bodyPr>
          <a:lstStyle/>
          <a:p>
            <a:pPr algn="just">
              <a:lnSpc>
                <a:spcPct val="150000"/>
              </a:lnSpc>
              <a:buNone/>
            </a:pPr>
            <a:r>
              <a:rPr lang="fr-FR" dirty="0"/>
              <a:t>Le régime présidentiel renvoie au modèle constitutionnel de séparation, </a:t>
            </a:r>
            <a:r>
              <a:rPr lang="fr-FR" dirty="0" smtClean="0"/>
              <a:t>dite </a:t>
            </a:r>
            <a:r>
              <a:rPr lang="fr-FR" dirty="0"/>
              <a:t>stricte, des pouvoirs tel qu’il se déploie aux États-Unis d’Amérique, ou il n’existe pas de moyens d’action réciproques entre l’organe exécutif et l’organe </a:t>
            </a:r>
            <a:r>
              <a:rPr lang="fr-FR" dirty="0" smtClean="0"/>
              <a:t>législatif, </a:t>
            </a:r>
            <a:r>
              <a:rPr lang="fr-FR" dirty="0"/>
              <a:t>comme c’est le cas dans les régimes parlementaires. Le Congrès ne peut pas renverser le président, tandis que ce dernier ne peut pas le dissoudre.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126</a:t>
            </a:fld>
            <a:endParaRPr lang="fr-F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r>
              <a:rPr lang="fr-MA" dirty="0"/>
              <a:t>Ce régime </a:t>
            </a:r>
            <a:r>
              <a:rPr lang="fr-MA" dirty="0" err="1"/>
              <a:t>monocéphale</a:t>
            </a:r>
            <a:r>
              <a:rPr lang="fr-MA" dirty="0"/>
              <a:t> implique l’absence de notion de gouvernement, dans la mesure ou l’exécutif est représenté par le président, qui est assisté, par un vice président et des secrétaires d’Etat qu’il nomme et révoque discrétionnairement. </a:t>
            </a:r>
            <a:endParaRPr lang="fr-FR" dirty="0"/>
          </a:p>
          <a:p>
            <a:pPr algn="just">
              <a:lnSpc>
                <a:spcPct val="150000"/>
              </a:lnSpc>
              <a:buNone/>
            </a:pPr>
            <a:r>
              <a:rPr lang="fr-MA" dirty="0"/>
              <a:t>Dans ce régime, le président n’est pas responsable devant le parlement et ne possède pas de moyens d’action (dissolution) sur l’assemblée. </a:t>
            </a:r>
          </a:p>
          <a:p>
            <a:pPr algn="just">
              <a:lnSpc>
                <a:spcPct val="150000"/>
              </a:lnSpc>
              <a:buNone/>
            </a:pPr>
            <a:r>
              <a:rPr lang="fr-MA" dirty="0"/>
              <a:t>De ce fait, nous sommes devant un régime ou le principe d’indépendance des pouvoirs est appliqué, mais pas celui de la spécialisation (le président intervient dans le processus législatif par son veto, alors que le Sénat assure aussi une fonction judicaire)</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127</a:t>
            </a:fld>
            <a:endParaRPr lang="fr-F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62500" lnSpcReduction="20000"/>
          </a:bodyPr>
          <a:lstStyle/>
          <a:p>
            <a:pPr algn="ctr">
              <a:lnSpc>
                <a:spcPct val="170000"/>
              </a:lnSpc>
              <a:buNone/>
            </a:pPr>
            <a:r>
              <a:rPr lang="fr-FR" sz="3100" b="1" i="1" dirty="0"/>
              <a:t>A. Les  traits distinctifs du régime présidentiel américain</a:t>
            </a:r>
          </a:p>
          <a:p>
            <a:pPr algn="just">
              <a:lnSpc>
                <a:spcPct val="170000"/>
              </a:lnSpc>
              <a:buNone/>
            </a:pPr>
            <a:endParaRPr lang="fr-FR" sz="3100" b="1" i="1" dirty="0"/>
          </a:p>
          <a:p>
            <a:pPr marL="514350" indent="-514350" algn="just">
              <a:lnSpc>
                <a:spcPct val="170000"/>
              </a:lnSpc>
              <a:buFont typeface="+mj-lt"/>
              <a:buAutoNum type="arabicParenR"/>
            </a:pPr>
            <a:r>
              <a:rPr lang="fr-FR" sz="3200" dirty="0"/>
              <a:t>Une stricte séparation des pouvoirs entre l’exécutif et le législatif</a:t>
            </a:r>
          </a:p>
          <a:p>
            <a:pPr marL="514350" indent="-514350" algn="just">
              <a:lnSpc>
                <a:spcPct val="170000"/>
              </a:lnSpc>
              <a:buFont typeface="+mj-lt"/>
              <a:buAutoNum type="arabicParenR"/>
            </a:pPr>
            <a:r>
              <a:rPr lang="fr-FR" sz="3200" dirty="0"/>
              <a:t>L’exécutif et </a:t>
            </a:r>
            <a:r>
              <a:rPr lang="fr-FR" sz="3200" dirty="0" err="1"/>
              <a:t>monocéphale</a:t>
            </a:r>
            <a:r>
              <a:rPr lang="fr-FR" sz="3200" dirty="0"/>
              <a:t> </a:t>
            </a:r>
            <a:r>
              <a:rPr lang="fr-FR" sz="3200" dirty="0" smtClean="0"/>
              <a:t>car </a:t>
            </a:r>
            <a:r>
              <a:rPr lang="fr-FR" sz="3200" dirty="0"/>
              <a:t>le président est a la fois le chef de l'État et chef du gouvernement.</a:t>
            </a:r>
          </a:p>
          <a:p>
            <a:pPr marL="514350" indent="-514350" algn="just">
              <a:lnSpc>
                <a:spcPct val="170000"/>
              </a:lnSpc>
              <a:buFont typeface="+mj-lt"/>
              <a:buAutoNum type="arabicParenR"/>
            </a:pPr>
            <a:r>
              <a:rPr lang="fr-FR" sz="3200" dirty="0"/>
              <a:t>Le président est élu, comme le parlement, au suffrage universel.</a:t>
            </a:r>
          </a:p>
          <a:p>
            <a:pPr marL="514350" indent="-514350" algn="just">
              <a:lnSpc>
                <a:spcPct val="170000"/>
              </a:lnSpc>
              <a:buFont typeface="+mj-lt"/>
              <a:buAutoNum type="arabicParenR"/>
            </a:pPr>
            <a:r>
              <a:rPr lang="fr-FR" sz="3200" dirty="0"/>
              <a:t>Le président nomme et révoque les secrétaires.</a:t>
            </a:r>
          </a:p>
          <a:p>
            <a:pPr marL="514350" indent="-514350" algn="just">
              <a:lnSpc>
                <a:spcPct val="170000"/>
              </a:lnSpc>
              <a:buFont typeface="+mj-lt"/>
              <a:buAutoNum type="arabicParenR"/>
            </a:pPr>
            <a:r>
              <a:rPr lang="fr-FR" sz="3200" dirty="0"/>
              <a:t>Le parlement et bicaméral, composé </a:t>
            </a:r>
            <a:r>
              <a:rPr lang="fr-FR" sz="3200" dirty="0" smtClean="0"/>
              <a:t>de la chambre des représentants et </a:t>
            </a:r>
            <a:r>
              <a:rPr lang="fr-FR" sz="3200" dirty="0"/>
              <a:t>du Sénat.</a:t>
            </a:r>
          </a:p>
          <a:p>
            <a:pPr marL="514350" indent="-514350" algn="just">
              <a:lnSpc>
                <a:spcPct val="170000"/>
              </a:lnSpc>
              <a:buFont typeface="+mj-lt"/>
              <a:buAutoNum type="arabicParenR"/>
            </a:pPr>
            <a:r>
              <a:rPr lang="fr-FR" sz="3200" dirty="0"/>
              <a:t>Le Congrès est élu au suffrage universel direct.</a:t>
            </a:r>
          </a:p>
          <a:p>
            <a:pPr marL="514350" indent="-514350" algn="just">
              <a:lnSpc>
                <a:spcPct val="170000"/>
              </a:lnSpc>
              <a:buFont typeface="+mj-lt"/>
              <a:buAutoNum type="arabicParenR"/>
            </a:pPr>
            <a:r>
              <a:rPr lang="fr-FR" sz="3200" dirty="0"/>
              <a:t>Le sénat représente les États fédérés.</a:t>
            </a:r>
          </a:p>
          <a:p>
            <a:pPr marL="514350" indent="-514350" algn="just">
              <a:lnSpc>
                <a:spcPct val="170000"/>
              </a:lnSpc>
              <a:buFont typeface="+mj-lt"/>
              <a:buAutoNum type="arabicParenR"/>
            </a:pPr>
            <a:r>
              <a:rPr lang="fr-FR" sz="3200" dirty="0"/>
              <a:t>L’exécutif et le législatif sont indépendants, équilibrés et surveillés selon le principes des </a:t>
            </a:r>
            <a:r>
              <a:rPr lang="fr-FR" sz="3200" b="1" i="1" dirty="0"/>
              <a:t>check and balances. </a:t>
            </a:r>
            <a:endParaRPr lang="fr-FR" b="1" i="1"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128</a:t>
            </a:fld>
            <a:endParaRPr lang="fr-F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ctr">
              <a:buNone/>
            </a:pPr>
            <a:endParaRPr lang="fr-MA" b="1" i="1" dirty="0"/>
          </a:p>
          <a:p>
            <a:pPr algn="ctr">
              <a:buNone/>
            </a:pPr>
            <a:r>
              <a:rPr lang="fr-MA" sz="3200" b="1" i="1" dirty="0"/>
              <a:t>B. Les institutions fédérales</a:t>
            </a:r>
          </a:p>
          <a:p>
            <a:pPr algn="just">
              <a:lnSpc>
                <a:spcPct val="150000"/>
              </a:lnSpc>
              <a:buNone/>
            </a:pPr>
            <a:endParaRPr lang="fr-MA" dirty="0"/>
          </a:p>
          <a:p>
            <a:pPr algn="just">
              <a:lnSpc>
                <a:spcPct val="150000"/>
              </a:lnSpc>
              <a:buNone/>
            </a:pPr>
            <a:r>
              <a:rPr lang="fr-MA" sz="2800" dirty="0"/>
              <a:t>Les institutions constitutionnelles des Etats-Unis sont fixées par la constitution de 1787, qui est la plus ancienne  constitution écrite dans le monde, selon le modèle de la monarchie limitée britannique du 18</a:t>
            </a:r>
            <a:r>
              <a:rPr lang="fr-MA" sz="2800" baseline="30000" dirty="0"/>
              <a:t>ème</a:t>
            </a:r>
            <a:r>
              <a:rPr lang="fr-MA" sz="2800" dirty="0"/>
              <a:t> siècle et le schéma républicain, tel qu’il était décrit dans l’Esprit des lois de Montesquieu .</a:t>
            </a:r>
          </a:p>
          <a:p>
            <a:pPr algn="just">
              <a:lnSpc>
                <a:spcPct val="150000"/>
              </a:lnSpc>
              <a:buNone/>
            </a:pPr>
            <a:endParaRPr lang="fr-MA" dirty="0"/>
          </a:p>
          <a:p>
            <a:pPr algn="just">
              <a:buNone/>
            </a:pPr>
            <a:endParaRPr lang="fr-MA" b="1" i="1" dirty="0"/>
          </a:p>
          <a:p>
            <a:pPr algn="just">
              <a:buNone/>
            </a:pPr>
            <a:endParaRPr lang="fr-FR" b="1"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129</a:t>
            </a:fld>
            <a:endParaRPr lang="fr-F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endParaRPr lang="fr-MA" dirty="0"/>
          </a:p>
          <a:p>
            <a:pPr marL="514350" indent="-514350" algn="ctr">
              <a:lnSpc>
                <a:spcPct val="150000"/>
              </a:lnSpc>
              <a:buAutoNum type="arabicPeriod"/>
            </a:pPr>
            <a:r>
              <a:rPr lang="fr-MA" sz="3000" b="1" dirty="0">
                <a:solidFill>
                  <a:srgbClr val="FFFF00"/>
                </a:solidFill>
              </a:rPr>
              <a:t>Le pouvoir exécutif </a:t>
            </a:r>
          </a:p>
          <a:p>
            <a:pPr marL="514350" indent="-514350" algn="just">
              <a:lnSpc>
                <a:spcPct val="150000"/>
              </a:lnSpc>
              <a:buNone/>
            </a:pPr>
            <a:endParaRPr lang="fr-MA" dirty="0"/>
          </a:p>
          <a:p>
            <a:pPr marL="514350" indent="-514350" algn="just">
              <a:lnSpc>
                <a:spcPct val="150000"/>
              </a:lnSpc>
              <a:buNone/>
            </a:pPr>
            <a:r>
              <a:rPr lang="fr-MA" dirty="0"/>
              <a:t>Le président des Etats –Unis constitue l’organe institutionnel central dans la constitution américaine. </a:t>
            </a:r>
          </a:p>
          <a:p>
            <a:pPr marL="514350" indent="-514350" algn="just">
              <a:lnSpc>
                <a:spcPct val="150000"/>
              </a:lnSpc>
              <a:buNone/>
            </a:pPr>
            <a:r>
              <a:rPr lang="fr-MA" dirty="0"/>
              <a:t>Il est élu avec son vice président, au suffrage universel indirecte, pour un mandat de 4 ans renouvelable une seule fois. </a:t>
            </a:r>
          </a:p>
          <a:p>
            <a:pPr marL="514350" indent="-514350" algn="just">
              <a:lnSpc>
                <a:spcPct val="150000"/>
              </a:lnSpc>
              <a:buNone/>
            </a:pPr>
            <a:r>
              <a:rPr lang="fr-MA" dirty="0"/>
              <a:t>Le président est élu par un collège électoral composé de 538 grand électeurs représentant tous les Etats fédérés. Il doit recueillir la majorité de 270 voix pour remporter les élections. Son investiture se déroule le 20 janvier chaque 4 ans.  </a:t>
            </a:r>
          </a:p>
          <a:p>
            <a:pPr marL="514350" indent="-514350" algn="just">
              <a:lnSpc>
                <a:spcPct val="150000"/>
              </a:lnSpc>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130</a:t>
            </a:fld>
            <a:endParaRPr lang="fr-F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0B4B166F-A3A3-4DE9-809D-A8E7BD5C3246}" type="slidenum">
              <a:rPr lang="fr-FR" smtClean="0"/>
              <a:pPr/>
              <a:t>131</a:t>
            </a:fld>
            <a:endParaRPr lang="fr-FR"/>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289" y="476672"/>
            <a:ext cx="8837345"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94548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0B4B166F-A3A3-4DE9-809D-A8E7BD5C3246}" type="slidenum">
              <a:rPr lang="fr-FR" smtClean="0"/>
              <a:pPr/>
              <a:t>132</a:t>
            </a:fld>
            <a:endParaRPr lang="fr-FR"/>
          </a:p>
        </p:txBody>
      </p:sp>
      <p:pic>
        <p:nvPicPr>
          <p:cNvPr id="5" name="Espace réservé du contenu 4" descr="Élection présidentielle américaine : comment ça marche ?"/>
          <p:cNvPicPr>
            <a:picLocks noGrp="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0" name="ZoneTexte 9"/>
          <p:cNvSpPr txBox="1"/>
          <p:nvPr/>
        </p:nvSpPr>
        <p:spPr>
          <a:xfrm>
            <a:off x="5786446" y="6286520"/>
            <a:ext cx="3357554" cy="369332"/>
          </a:xfrm>
          <a:prstGeom prst="rect">
            <a:avLst/>
          </a:prstGeom>
          <a:noFill/>
        </p:spPr>
        <p:txBody>
          <a:bodyPr wrap="square" rtlCol="0">
            <a:spAutoFit/>
          </a:bodyPr>
          <a:lstStyle/>
          <a:p>
            <a:r>
              <a:rPr lang="fr-FR" dirty="0"/>
              <a:t>TV5MONDE / Cédric </a:t>
            </a:r>
            <a:r>
              <a:rPr lang="fr-FR" dirty="0" err="1"/>
              <a:t>Lefeu</a:t>
            </a:r>
            <a:endParaRPr lang="fr-FR"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buNone/>
            </a:pPr>
            <a:endParaRPr lang="fr-FR" dirty="0"/>
          </a:p>
          <a:p>
            <a:pPr algn="ctr">
              <a:buNone/>
            </a:pPr>
            <a:r>
              <a:rPr lang="fr-MA" sz="3000" b="1" i="1" dirty="0">
                <a:solidFill>
                  <a:srgbClr val="FFFF00"/>
                </a:solidFill>
              </a:rPr>
              <a:t>a. Les prérogatives du président</a:t>
            </a:r>
          </a:p>
          <a:p>
            <a:pPr algn="just">
              <a:lnSpc>
                <a:spcPct val="160000"/>
              </a:lnSpc>
              <a:buNone/>
            </a:pPr>
            <a:r>
              <a:rPr lang="fr-MA" sz="3000" dirty="0"/>
              <a:t>Selon la constitution américaine, le  président dispose d’un grand nombre de pouvoirs.</a:t>
            </a:r>
          </a:p>
          <a:p>
            <a:pPr marL="514350" indent="-514350" algn="just">
              <a:lnSpc>
                <a:spcPct val="160000"/>
              </a:lnSpc>
              <a:buFont typeface="+mj-lt"/>
              <a:buAutoNum type="arabicPeriod"/>
            </a:pPr>
            <a:r>
              <a:rPr lang="fr-MA" sz="3000" dirty="0"/>
              <a:t>Il est le chef et le représentant de l’Etat, </a:t>
            </a:r>
          </a:p>
          <a:p>
            <a:pPr marL="514350" indent="-514350" algn="just">
              <a:lnSpc>
                <a:spcPct val="160000"/>
              </a:lnSpc>
              <a:buFont typeface="+mj-lt"/>
              <a:buAutoNum type="arabicPeriod"/>
            </a:pPr>
            <a:r>
              <a:rPr lang="fr-MA" sz="3000" dirty="0"/>
              <a:t>Il a le droit de grâce; </a:t>
            </a:r>
          </a:p>
          <a:p>
            <a:pPr marL="514350" indent="-514350" algn="just">
              <a:lnSpc>
                <a:spcPct val="160000"/>
              </a:lnSpc>
              <a:buFont typeface="+mj-lt"/>
              <a:buAutoNum type="arabicPeriod"/>
            </a:pPr>
            <a:r>
              <a:rPr lang="fr-MA" sz="3000" dirty="0"/>
              <a:t>Il veille a l’exécution de la loi, </a:t>
            </a:r>
          </a:p>
          <a:p>
            <a:pPr marL="514350" indent="-514350" algn="just">
              <a:lnSpc>
                <a:spcPct val="160000"/>
              </a:lnSpc>
              <a:buFont typeface="+mj-lt"/>
              <a:buAutoNum type="arabicPeriod"/>
            </a:pPr>
            <a:r>
              <a:rPr lang="fr-MA" sz="3000" dirty="0"/>
              <a:t>Il exerce le pouvoir réglementaire par le biais des «  </a:t>
            </a:r>
            <a:r>
              <a:rPr lang="fr-MA" sz="3000" i="1" dirty="0"/>
              <a:t>exécutives </a:t>
            </a:r>
            <a:r>
              <a:rPr lang="fr-MA" sz="3000" i="1" dirty="0" err="1"/>
              <a:t>orders</a:t>
            </a:r>
            <a:r>
              <a:rPr lang="fr-MA" sz="3000" i="1" dirty="0"/>
              <a:t> </a:t>
            </a:r>
            <a:r>
              <a:rPr lang="fr-MA" sz="3000" dirty="0"/>
              <a:t>»,</a:t>
            </a:r>
          </a:p>
          <a:p>
            <a:pPr marL="514350" indent="-514350" algn="just">
              <a:lnSpc>
                <a:spcPct val="160000"/>
              </a:lnSpc>
              <a:buFont typeface="+mj-lt"/>
              <a:buAutoNum type="arabicPeriod"/>
            </a:pPr>
            <a:r>
              <a:rPr lang="fr-MA" sz="3000" dirty="0"/>
              <a:t>Il est de ce fait le chef de l’administration fédérale;</a:t>
            </a:r>
          </a:p>
          <a:p>
            <a:pPr algn="just">
              <a:buNone/>
            </a:pPr>
            <a:endParaRPr lang="fr-MA" sz="3000" dirty="0"/>
          </a:p>
          <a:p>
            <a:pPr algn="just">
              <a:buNone/>
            </a:pPr>
            <a:endParaRPr lang="fr-MA" sz="30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133</a:t>
            </a:fld>
            <a:endParaRPr lang="fr-FR"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20000"/>
          </a:bodyPr>
          <a:lstStyle/>
          <a:p>
            <a:pPr marL="514350" indent="-514350" algn="just">
              <a:lnSpc>
                <a:spcPct val="160000"/>
              </a:lnSpc>
              <a:buFont typeface="+mj-lt"/>
              <a:buAutoNum type="arabicPeriod" startAt="6"/>
            </a:pPr>
            <a:r>
              <a:rPr lang="fr-MA" sz="2800" dirty="0"/>
              <a:t>Il nomme et révoque les fonctionnaires fédéraux, </a:t>
            </a:r>
          </a:p>
          <a:p>
            <a:pPr marL="514350" indent="-514350" algn="just">
              <a:lnSpc>
                <a:spcPct val="160000"/>
              </a:lnSpc>
              <a:buFont typeface="+mj-lt"/>
              <a:buAutoNum type="arabicPeriod" startAt="6"/>
            </a:pPr>
            <a:r>
              <a:rPr lang="fr-MA" sz="2800" dirty="0"/>
              <a:t>Il a un droit de regard sur tous les services de l’Etat</a:t>
            </a:r>
          </a:p>
          <a:p>
            <a:pPr marL="514350" indent="-514350" algn="just">
              <a:lnSpc>
                <a:spcPct val="160000"/>
              </a:lnSpc>
              <a:buFont typeface="+mj-lt"/>
              <a:buAutoNum type="arabicPeriod" startAt="6"/>
            </a:pPr>
            <a:r>
              <a:rPr lang="fr-MA" sz="2800" dirty="0"/>
              <a:t>Il a un grand pouvoir en matière de politique étrangère des Etats-Unis, il nomme les ambassadeurs, il négocie et conclu les traités internationaux, </a:t>
            </a:r>
          </a:p>
          <a:p>
            <a:pPr marL="514350" indent="-514350" algn="just">
              <a:lnSpc>
                <a:spcPct val="160000"/>
              </a:lnSpc>
              <a:buFont typeface="+mj-lt"/>
              <a:buAutoNum type="arabicPeriod" startAt="6"/>
            </a:pPr>
            <a:r>
              <a:rPr lang="fr-MA" sz="2800" dirty="0"/>
              <a:t>Il est aussi le chef suprême des force armées, et c’est lui qui décide des opérations militaires et du déclanchement de la guerre  et de la paix. </a:t>
            </a:r>
          </a:p>
          <a:p>
            <a:pPr marL="514350" indent="-514350" algn="just">
              <a:lnSpc>
                <a:spcPct val="160000"/>
              </a:lnSpc>
              <a:buNone/>
            </a:pPr>
            <a:r>
              <a:rPr lang="fr-MA" sz="2800" dirty="0"/>
              <a:t>Bref, les pouvoirs extraordinaires du président tournent essentiellement autour des silences de la constitution plus que sur la liste qu’elle décrit. </a:t>
            </a:r>
          </a:p>
          <a:p>
            <a:pPr>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134</a:t>
            </a:fld>
            <a:endParaRPr lang="fr-FR"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929718" cy="6715148"/>
          </a:xfrm>
        </p:spPr>
        <p:txBody>
          <a:bodyPr>
            <a:normAutofit/>
          </a:bodyPr>
          <a:lstStyle/>
          <a:p>
            <a:pPr marL="514350" indent="-514350" algn="ctr">
              <a:buFont typeface="+mj-lt"/>
              <a:buAutoNum type="alphaLcPeriod" startAt="2"/>
            </a:pPr>
            <a:r>
              <a:rPr lang="fr-MA" sz="3200" b="1" dirty="0">
                <a:solidFill>
                  <a:srgbClr val="FFFF00"/>
                </a:solidFill>
              </a:rPr>
              <a:t>Le congrès </a:t>
            </a:r>
          </a:p>
          <a:p>
            <a:pPr marL="514350" indent="-514350" algn="just">
              <a:lnSpc>
                <a:spcPct val="150000"/>
              </a:lnSpc>
              <a:buNone/>
            </a:pPr>
            <a:r>
              <a:rPr lang="fr-MA" sz="2800" dirty="0"/>
              <a:t>Le parlement es E.U.A s’appelle le Congrès. Il est formé de deux chambres: la chambre des représentants et le Sénat. </a:t>
            </a:r>
          </a:p>
          <a:p>
            <a:pPr marL="514350" indent="-514350" algn="just">
              <a:lnSpc>
                <a:spcPct val="150000"/>
              </a:lnSpc>
              <a:buFont typeface="Wingdings" pitchFamily="2" charset="2"/>
              <a:buChar char="Ø"/>
            </a:pPr>
            <a:r>
              <a:rPr lang="fr-MA" sz="2800" b="1" i="1" dirty="0">
                <a:solidFill>
                  <a:srgbClr val="FFFF00"/>
                </a:solidFill>
              </a:rPr>
              <a:t>La chambre des représentants</a:t>
            </a:r>
          </a:p>
          <a:p>
            <a:pPr marL="514350" indent="-514350" algn="just">
              <a:lnSpc>
                <a:spcPct val="150000"/>
              </a:lnSpc>
              <a:buNone/>
            </a:pPr>
            <a:r>
              <a:rPr lang="fr-MA" sz="2800" dirty="0"/>
              <a:t>Cette  chambre compte 435 députés, </a:t>
            </a:r>
            <a:r>
              <a:rPr lang="fr-FR" sz="2800" dirty="0"/>
              <a:t>élus selon le mode  de scrutin majoritaire direct à un tour. Les membre sont ainsi élus, pour un mandat de deux ans, à la majorité des votes exprimés et remportent le siège à pourvoir dans leur circonscription électorale.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135</a:t>
            </a:fld>
            <a:endParaRPr lang="fr-F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20000"/>
          </a:bodyPr>
          <a:lstStyle/>
          <a:p>
            <a:pPr marL="514350" indent="-514350">
              <a:lnSpc>
                <a:spcPct val="150000"/>
              </a:lnSpc>
              <a:buNone/>
            </a:pPr>
            <a:r>
              <a:rPr lang="fr-FR" dirty="0"/>
              <a:t>L'article 1, section 8 de la Constitution, détermine les pouvoirs législatifs  du Congrès :</a:t>
            </a:r>
          </a:p>
          <a:p>
            <a:pPr marL="514350" indent="-514350">
              <a:lnSpc>
                <a:spcPct val="150000"/>
              </a:lnSpc>
              <a:buFont typeface="Wingdings" pitchFamily="2" charset="2"/>
              <a:buChar char="v"/>
            </a:pPr>
            <a:r>
              <a:rPr lang="fr-FR" dirty="0"/>
              <a:t> Etablir et percevoir les impôts et taxes afin d'assurer une défense commune et le bien-être de la nation,</a:t>
            </a:r>
          </a:p>
          <a:p>
            <a:pPr marL="514350" indent="-514350">
              <a:lnSpc>
                <a:spcPct val="150000"/>
              </a:lnSpc>
              <a:buFont typeface="Wingdings" pitchFamily="2" charset="2"/>
              <a:buChar char="v"/>
            </a:pPr>
            <a:r>
              <a:rPr lang="fr-FR" dirty="0"/>
              <a:t>détermine le niveau des recettes ainsi que l'octroi des crédits,</a:t>
            </a:r>
          </a:p>
          <a:p>
            <a:pPr marL="514350" indent="-514350">
              <a:lnSpc>
                <a:spcPct val="150000"/>
              </a:lnSpc>
              <a:buFont typeface="Wingdings" pitchFamily="2" charset="2"/>
              <a:buChar char="v"/>
            </a:pPr>
            <a:r>
              <a:rPr lang="fr-FR" dirty="0"/>
              <a:t>réglementer le commerce entre États et avec les pays étrangers,</a:t>
            </a:r>
          </a:p>
          <a:p>
            <a:pPr marL="514350" indent="-514350">
              <a:lnSpc>
                <a:spcPct val="150000"/>
              </a:lnSpc>
              <a:buFont typeface="Wingdings" pitchFamily="2" charset="2"/>
              <a:buChar char="v"/>
            </a:pPr>
            <a:r>
              <a:rPr lang="fr-FR" dirty="0"/>
              <a:t> établir des lois uniformes en matière de faillite,</a:t>
            </a:r>
          </a:p>
          <a:p>
            <a:pPr marL="514350" indent="-514350">
              <a:lnSpc>
                <a:spcPct val="150000"/>
              </a:lnSpc>
              <a:buFont typeface="Wingdings" pitchFamily="2" charset="2"/>
              <a:buChar char="v"/>
            </a:pPr>
            <a:r>
              <a:rPr lang="fr-FR" dirty="0"/>
              <a:t> réglementer la naturalisation et la nationalité,</a:t>
            </a:r>
          </a:p>
          <a:p>
            <a:pPr marL="514350" indent="-514350">
              <a:lnSpc>
                <a:spcPct val="150000"/>
              </a:lnSpc>
              <a:buFont typeface="Wingdings" pitchFamily="2" charset="2"/>
              <a:buChar char="v"/>
            </a:pPr>
            <a:r>
              <a:rPr lang="fr-FR" dirty="0"/>
              <a:t> battre monnaie, </a:t>
            </a:r>
          </a:p>
          <a:p>
            <a:pPr marL="514350" indent="-514350">
              <a:lnSpc>
                <a:spcPct val="150000"/>
              </a:lnSpc>
              <a:buFont typeface="Wingdings" pitchFamily="2" charset="2"/>
              <a:buChar char="v"/>
            </a:pPr>
            <a:r>
              <a:rPr lang="fr-FR" dirty="0"/>
              <a:t> établir et organiser le service postal, </a:t>
            </a:r>
          </a:p>
          <a:p>
            <a:pPr marL="514350" indent="-514350">
              <a:lnSpc>
                <a:spcPct val="150000"/>
              </a:lnSpc>
              <a:buFont typeface="Wingdings" pitchFamily="2" charset="2"/>
              <a:buChar char="v"/>
            </a:pPr>
            <a:r>
              <a:rPr lang="fr-FR" dirty="0"/>
              <a:t> constituer une organisation judiciaire fédérale,</a:t>
            </a:r>
          </a:p>
          <a:p>
            <a:pPr marL="514350" indent="-514350">
              <a:lnSpc>
                <a:spcPct val="150000"/>
              </a:lnSpc>
              <a:buFont typeface="Wingdings" pitchFamily="2" charset="2"/>
              <a:buChar char="v"/>
            </a:pPr>
            <a:r>
              <a:rPr lang="fr-FR" dirty="0"/>
              <a:t> assurer l'entretien de l'armée et déclarer la guerre,</a:t>
            </a:r>
          </a:p>
          <a:p>
            <a:pPr marL="514350" indent="-514350">
              <a:lnSpc>
                <a:spcPct val="150000"/>
              </a:lnSpc>
              <a:buFont typeface="Wingdings" pitchFamily="2" charset="2"/>
              <a:buChar char="v"/>
            </a:pPr>
            <a:r>
              <a:rPr lang="fr-FR" dirty="0"/>
              <a:t> ratifier les traités.</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136</a:t>
            </a:fld>
            <a:endParaRPr lang="fr-F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Font typeface="Wingdings" pitchFamily="2" charset="2"/>
              <a:buChar char="Ø"/>
            </a:pPr>
            <a:endParaRPr lang="fr-MA" sz="2800" b="1" i="1" dirty="0">
              <a:solidFill>
                <a:srgbClr val="FFFF00"/>
              </a:solidFill>
            </a:endParaRPr>
          </a:p>
          <a:p>
            <a:pPr algn="just">
              <a:buFont typeface="Wingdings" pitchFamily="2" charset="2"/>
              <a:buChar char="Ø"/>
            </a:pPr>
            <a:r>
              <a:rPr lang="fr-MA" sz="2800" b="1" i="1" dirty="0">
                <a:solidFill>
                  <a:srgbClr val="FFFF00"/>
                </a:solidFill>
              </a:rPr>
              <a:t> Le Sénat</a:t>
            </a:r>
          </a:p>
          <a:p>
            <a:pPr algn="just">
              <a:lnSpc>
                <a:spcPct val="150000"/>
              </a:lnSpc>
              <a:buNone/>
            </a:pPr>
            <a:r>
              <a:rPr lang="fr-FR" sz="2800" dirty="0"/>
              <a:t>Le Sénat compte 100 sénateurs, soit deux pour chacun des 50 États de l’union, quelque soit le nombre de ses habitants. Pour être élu, un sénateur doit avoir au moins trente ans, résider dans l’État où il est désigné et être citoyen des États-Unis depuis au moins neuf ans. Son mandat dure six ans. Le Sénat est renouvelable a hauteur du tiers chaque deux ans.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137</a:t>
            </a:fld>
            <a:endParaRPr lang="fr-F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sz="2400" dirty="0"/>
          </a:p>
          <a:p>
            <a:pPr algn="just">
              <a:lnSpc>
                <a:spcPct val="150000"/>
              </a:lnSpc>
              <a:buNone/>
            </a:pPr>
            <a:r>
              <a:rPr lang="fr-FR" sz="2400" dirty="0"/>
              <a:t>les sénateurs étaient initialement choisis par les législateurs de chaque État, mais en 1913 le dix-septième amendement a la Constitution avait  institué leur élection au suffrage universel direct. </a:t>
            </a:r>
          </a:p>
          <a:p>
            <a:pPr algn="just">
              <a:lnSpc>
                <a:spcPct val="150000"/>
              </a:lnSpc>
              <a:buNone/>
            </a:pPr>
            <a:r>
              <a:rPr lang="fr-FR" sz="2400" dirty="0"/>
              <a:t>En cas de vacance, le gouverneur peut nommer un remplaçant. </a:t>
            </a:r>
          </a:p>
          <a:p>
            <a:pPr algn="just">
              <a:lnSpc>
                <a:spcPct val="150000"/>
              </a:lnSpc>
              <a:buNone/>
            </a:pPr>
            <a:r>
              <a:rPr lang="fr-FR" sz="2400" dirty="0"/>
              <a:t>Le Sénat est présidé par le vice-président des États-Unis, mais en général c’est un président intérimaire (le Doyen du parti majoritaire) ou son représentant qui occupe la présidence.</a:t>
            </a:r>
          </a:p>
          <a:p>
            <a:pPr algn="just">
              <a:lnSpc>
                <a:spcPct val="150000"/>
              </a:lnSpc>
              <a:buNone/>
            </a:pPr>
            <a:r>
              <a:rPr lang="fr-FR" sz="2400" dirty="0"/>
              <a:t> Le vice-président ne peut voter qu’ en cas d’égalité des voix lors de la soumission d’un projet.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138</a:t>
            </a:fld>
            <a:endParaRPr lang="fr-F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marL="514350" indent="-514350" algn="just">
              <a:lnSpc>
                <a:spcPct val="150000"/>
              </a:lnSpc>
              <a:buNone/>
            </a:pPr>
            <a:r>
              <a:rPr lang="fr-MA" dirty="0"/>
              <a:t>En plus de ces pouvoirs explicitement nommés par la constitution, il faut noter que le congrès dispose du pouvoir de superviser les services publics qu’il crée et en fixe les modalités de fonctionnement. </a:t>
            </a:r>
          </a:p>
          <a:p>
            <a:pPr marL="514350" indent="-514350" algn="just">
              <a:lnSpc>
                <a:spcPct val="150000"/>
              </a:lnSpc>
              <a:buNone/>
            </a:pPr>
            <a:r>
              <a:rPr lang="fr-MA" dirty="0"/>
              <a:t>A cela s’ajoute un pouvoir juridictionnel que le congrès exerce à travers la procédure de destitution (impeachment) qu’il déclenche contre le président et contre tous les fonctionnaires de l’Etat soupçonnés de trahison, de corruption ou de crimes graves contre l’Etat. </a:t>
            </a:r>
          </a:p>
          <a:p>
            <a:pPr marL="514350" indent="-514350" algn="just">
              <a:lnSpc>
                <a:spcPct val="150000"/>
              </a:lnSpc>
              <a:buNone/>
            </a:pPr>
            <a:r>
              <a:rPr lang="fr-MA" dirty="0"/>
              <a:t>De même, le congrès dispose d’un grand pouvoir d’investigation grâce à ses commissions permanentes et spécialisées. </a:t>
            </a:r>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139</a:t>
            </a:fld>
            <a:endParaRPr lang="fr-FR"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Cela lui permet de s’ériger en un organe judicaire et de convoquer par la force de Droit, et sous peine de sanctions pénales, toute personne ou fonctionnaire pour comparaitre devant lui afin de l’informer sur une affaire publique à élucider. </a:t>
            </a:r>
          </a:p>
          <a:p>
            <a:pPr algn="just">
              <a:lnSpc>
                <a:spcPct val="150000"/>
              </a:lnSpc>
              <a:buNone/>
            </a:pPr>
            <a:r>
              <a:rPr lang="fr-MA" dirty="0"/>
              <a:t>Ainsi, à l’exception des impôts, ou l’initiative revient de droit à la chambre des représentants, les deux chambres exercent conjointement le pouvoir législatif.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140</a:t>
            </a:fld>
            <a:endParaRPr lang="fr-F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marL="514350" indent="-514350" algn="ctr">
              <a:lnSpc>
                <a:spcPct val="150000"/>
              </a:lnSpc>
              <a:buFont typeface="+mj-lt"/>
              <a:buAutoNum type="alphaLcPeriod" startAt="3"/>
            </a:pPr>
            <a:r>
              <a:rPr lang="fr-MA" sz="2800" b="1" i="1" dirty="0">
                <a:solidFill>
                  <a:srgbClr val="FFFF00"/>
                </a:solidFill>
              </a:rPr>
              <a:t>Les rapports entre le président et le Congrès</a:t>
            </a:r>
          </a:p>
          <a:p>
            <a:pPr marL="514350" indent="-514350" algn="just">
              <a:lnSpc>
                <a:spcPct val="150000"/>
              </a:lnSpc>
              <a:buNone/>
            </a:pPr>
            <a:endParaRPr lang="fr-MA" sz="2800" dirty="0"/>
          </a:p>
          <a:p>
            <a:pPr marL="514350" indent="-514350" algn="just">
              <a:lnSpc>
                <a:spcPct val="150000"/>
              </a:lnSpc>
              <a:buNone/>
            </a:pPr>
            <a:r>
              <a:rPr lang="fr-MA" sz="2800" dirty="0"/>
              <a:t>Le rapport entre les deux organes est fondé sur le principe de la séparation stricte de leur pouvoirs. </a:t>
            </a:r>
          </a:p>
          <a:p>
            <a:pPr marL="514350" indent="-514350" algn="just">
              <a:lnSpc>
                <a:spcPct val="150000"/>
              </a:lnSpc>
              <a:buNone/>
            </a:pPr>
            <a:r>
              <a:rPr lang="fr-MA" sz="2800" dirty="0"/>
              <a:t>Le président ne peut pas dissoudre le congrès certes, mais il peut opposer son veto contre toute loi votée, lequel ne peut être levé qui si les une majorité des deux tires de chaque chambre vote contre lui, chose qui est très rare. </a:t>
            </a:r>
          </a:p>
          <a:p>
            <a:pPr marL="514350" indent="-514350" algn="just">
              <a:lnSpc>
                <a:spcPct val="150000"/>
              </a:lnSpc>
              <a:buNone/>
            </a:pPr>
            <a:r>
              <a:rPr lang="fr-MA" sz="2800" dirty="0"/>
              <a:t>Le président dispose aussi d’un pouvoir de nomination aux poste clés de l’administration fédérale.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141</a:t>
            </a:fld>
            <a:endParaRPr lang="fr-F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MA" sz="2400" dirty="0"/>
          </a:p>
          <a:p>
            <a:pPr algn="just">
              <a:lnSpc>
                <a:spcPct val="150000"/>
              </a:lnSpc>
              <a:buNone/>
            </a:pPr>
            <a:endParaRPr lang="fr-MA" sz="2400" dirty="0"/>
          </a:p>
          <a:p>
            <a:pPr algn="just">
              <a:lnSpc>
                <a:spcPct val="150000"/>
              </a:lnSpc>
              <a:buNone/>
            </a:pPr>
            <a:r>
              <a:rPr lang="fr-MA" sz="2800" dirty="0"/>
              <a:t>Le congrès, quant à lui, ne peut pas révoquer le président, mais peut enclencher une procédure de destitution qui demeure très compliquée et peux probable. (contre le président Nixon en 1974, </a:t>
            </a:r>
            <a:r>
              <a:rPr lang="fr-FR" sz="2800" dirty="0"/>
              <a:t>contre Bill Clinton en 1998, </a:t>
            </a:r>
            <a:r>
              <a:rPr lang="fr-MA" sz="2800" dirty="0"/>
              <a:t>et contre </a:t>
            </a:r>
            <a:r>
              <a:rPr lang="fr-MA" sz="2800" dirty="0" err="1"/>
              <a:t>Trump</a:t>
            </a:r>
            <a:r>
              <a:rPr lang="fr-MA" sz="2800" dirty="0"/>
              <a:t> en 2019). Toutefois, l’arme la plus redoutable du Congrès contre le président demeure le </a:t>
            </a:r>
            <a:r>
              <a:rPr lang="fr-MA" sz="2800" dirty="0" err="1"/>
              <a:t>chutdown</a:t>
            </a:r>
            <a:r>
              <a:rPr lang="fr-MA" sz="2800" dirty="0"/>
              <a:t>  ou la fermeture du gouvernement, lorsque ce dernier refuse de voter le budget ou les fonds nécessaires pour réaliser les projets  présidentiels. </a:t>
            </a:r>
            <a:endParaRPr lang="fr-FR" sz="2400"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142</a:t>
            </a:fld>
            <a:endParaRPr lang="fr-F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sz="2800" dirty="0"/>
          </a:p>
          <a:p>
            <a:pPr algn="just">
              <a:lnSpc>
                <a:spcPct val="150000"/>
              </a:lnSpc>
              <a:buNone/>
            </a:pPr>
            <a:r>
              <a:rPr lang="fr-MA" sz="2800" dirty="0"/>
              <a:t>( </a:t>
            </a:r>
            <a:r>
              <a:rPr lang="fr-MA" sz="2800" dirty="0" err="1"/>
              <a:t>exp</a:t>
            </a:r>
            <a:r>
              <a:rPr lang="fr-MA" sz="2800" dirty="0"/>
              <a:t> : </a:t>
            </a:r>
            <a:r>
              <a:rPr lang="fr-MA" sz="2800" dirty="0" err="1"/>
              <a:t>chutdown</a:t>
            </a:r>
            <a:r>
              <a:rPr lang="fr-MA" sz="2800" dirty="0"/>
              <a:t> de 2019 suite au refus de la chambre des représentant de voter le financement du Mur avec le Mexique. Le principe de cette sanction repose </a:t>
            </a:r>
            <a:r>
              <a:rPr lang="fr-FR" sz="2800" dirty="0"/>
              <a:t>sur le refus de financement de l'Etat fédéral, qui implique l’arrêt du gouvernement et de l’administration fédérale.</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143</a:t>
            </a:fld>
            <a:endParaRPr lang="fr-F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2984"/>
          </a:xfrm>
        </p:spPr>
        <p:txBody>
          <a:bodyPr>
            <a:normAutofit/>
          </a:bodyPr>
          <a:lstStyle/>
          <a:p>
            <a:pPr algn="ctr"/>
            <a:r>
              <a:rPr lang="fr-MA" sz="4000" b="1" i="1" dirty="0">
                <a:solidFill>
                  <a:srgbClr val="FFFF00"/>
                </a:solidFill>
              </a:rPr>
              <a:t>C. Le pouvoir judicaire</a:t>
            </a:r>
            <a:endParaRPr lang="fr-FR" sz="4000" b="1" i="1" dirty="0">
              <a:solidFill>
                <a:srgbClr val="FFFF00"/>
              </a:solidFill>
            </a:endParaRPr>
          </a:p>
        </p:txBody>
      </p:sp>
      <p:sp>
        <p:nvSpPr>
          <p:cNvPr id="3" name="Espace réservé du contenu 2"/>
          <p:cNvSpPr>
            <a:spLocks noGrp="1"/>
          </p:cNvSpPr>
          <p:nvPr>
            <p:ph idx="1"/>
          </p:nvPr>
        </p:nvSpPr>
        <p:spPr>
          <a:xfrm>
            <a:off x="0" y="1000108"/>
            <a:ext cx="9144000" cy="5857892"/>
          </a:xfrm>
        </p:spPr>
        <p:txBody>
          <a:bodyPr>
            <a:normAutofit fontScale="32500" lnSpcReduction="20000"/>
          </a:bodyPr>
          <a:lstStyle/>
          <a:p>
            <a:pPr algn="just">
              <a:lnSpc>
                <a:spcPct val="150000"/>
              </a:lnSpc>
              <a:buNone/>
            </a:pPr>
            <a:endParaRPr lang="fr-FR" dirty="0"/>
          </a:p>
          <a:p>
            <a:pPr algn="just">
              <a:lnSpc>
                <a:spcPct val="170000"/>
              </a:lnSpc>
              <a:buNone/>
            </a:pPr>
            <a:r>
              <a:rPr lang="fr-FR" sz="8000" dirty="0"/>
              <a:t>Le pouvoir judiciaire est indépendant aux Etats-Unis. la Cour suprême y joue un rôle essentiel et est de ce fait le gardien de l’Etat de Droit et de la constitutionnalité des lois. </a:t>
            </a:r>
            <a:br>
              <a:rPr lang="fr-FR" sz="8000" dirty="0"/>
            </a:br>
            <a:r>
              <a:rPr lang="fr-FR" sz="8000" dirty="0"/>
              <a:t>Le pouvoir judiciaire est assez fort, Les Juges sont désignés à vie et prennent leur retraite volontairement.</a:t>
            </a:r>
          </a:p>
          <a:p>
            <a:pPr algn="just">
              <a:lnSpc>
                <a:spcPct val="170000"/>
              </a:lnSpc>
              <a:buNone/>
            </a:pPr>
            <a:r>
              <a:rPr lang="fr-FR" sz="8000" dirty="0"/>
              <a:t>Ainsi, la fonction essentielle de la Cour Suprême est de garder la cohérence entre les deux ordres juridiques fédéral et local. </a:t>
            </a:r>
          </a:p>
          <a:p>
            <a:pPr algn="just">
              <a:lnSpc>
                <a:spcPct val="170000"/>
              </a:lnSpc>
              <a:buNone/>
            </a:pPr>
            <a:r>
              <a:rPr lang="fr-FR" sz="3100" dirty="0"/>
              <a:t/>
            </a:r>
            <a:br>
              <a:rPr lang="fr-FR" sz="3100" dirty="0"/>
            </a:b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144</a:t>
            </a:fld>
            <a:endParaRPr lang="fr-F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dirty="0"/>
          </a:p>
          <a:p>
            <a:pPr algn="just">
              <a:lnSpc>
                <a:spcPct val="150000"/>
              </a:lnSpc>
              <a:buNone/>
            </a:pPr>
            <a:r>
              <a:rPr lang="fr-FR" dirty="0"/>
              <a:t>Les juges de la Cour sont nommés à vie par le président des États-Unis, avec l'avis et le consentement du Sénat. </a:t>
            </a:r>
          </a:p>
          <a:p>
            <a:pPr algn="just">
              <a:lnSpc>
                <a:spcPct val="150000"/>
              </a:lnSpc>
              <a:buNone/>
            </a:pPr>
            <a:r>
              <a:rPr lang="fr-FR" dirty="0"/>
              <a:t>En général, la Cour suprême s'occupe d'affaires qui impliquent le gouvernement fédéral et des litiges entre les États fédérés. Elle se prononce sur la conformité des lois avec la Constitution des États-Unis. </a:t>
            </a:r>
          </a:p>
          <a:p>
            <a:pPr algn="just">
              <a:lnSpc>
                <a:spcPct val="150000"/>
              </a:lnSpc>
              <a:buNone/>
            </a:pPr>
            <a:r>
              <a:rPr lang="fr-FR" dirty="0"/>
              <a:t>Depuis l'arrêt </a:t>
            </a:r>
            <a:r>
              <a:rPr lang="fr-FR" i="1" dirty="0" err="1"/>
              <a:t>Marbury</a:t>
            </a:r>
            <a:r>
              <a:rPr lang="fr-FR" i="1" dirty="0"/>
              <a:t> v. Madison </a:t>
            </a:r>
            <a:r>
              <a:rPr lang="fr-FR" dirty="0"/>
              <a:t>de 1803,</a:t>
            </a:r>
            <a:r>
              <a:rPr lang="fr-FR" b="1" dirty="0"/>
              <a:t> </a:t>
            </a:r>
            <a:r>
              <a:rPr lang="fr-FR" dirty="0"/>
              <a:t>la Cour suprême contrôle la constitutionnalité des lois votées par le Congrès par voie d'exception. Ce contrôle est fait </a:t>
            </a:r>
            <a:r>
              <a:rPr lang="fr-FR" i="1" dirty="0"/>
              <a:t>a posteriori</a:t>
            </a:r>
            <a:r>
              <a:rPr lang="fr-FR" dirty="0"/>
              <a:t>.</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145</a:t>
            </a:fld>
            <a:endParaRPr lang="fr-F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dirty="0"/>
          </a:p>
          <a:p>
            <a:pPr algn="just">
              <a:lnSpc>
                <a:spcPct val="150000"/>
              </a:lnSpc>
              <a:buNone/>
            </a:pPr>
            <a:endParaRPr lang="fr-FR" dirty="0"/>
          </a:p>
          <a:p>
            <a:pPr algn="just">
              <a:lnSpc>
                <a:spcPct val="150000"/>
              </a:lnSpc>
              <a:buNone/>
            </a:pPr>
            <a:r>
              <a:rPr lang="fr-FR" dirty="0"/>
              <a:t>Les neuf juges de la Cour suprême constituent un seul et même collège. Ce dernier se compose d'un Président </a:t>
            </a:r>
            <a:r>
              <a:rPr lang="fr-FR" i="1" dirty="0"/>
              <a:t>(</a:t>
            </a:r>
            <a:r>
              <a:rPr lang="fr-FR" i="1" dirty="0" err="1"/>
              <a:t>Chief</a:t>
            </a:r>
            <a:r>
              <a:rPr lang="fr-FR" i="1" dirty="0"/>
              <a:t> Justice)</a:t>
            </a:r>
            <a:r>
              <a:rPr lang="fr-FR" dirty="0"/>
              <a:t> et de huit juges </a:t>
            </a:r>
            <a:r>
              <a:rPr lang="fr-FR" i="1" dirty="0"/>
              <a:t>(</a:t>
            </a:r>
            <a:r>
              <a:rPr lang="fr-FR" i="1" dirty="0" err="1"/>
              <a:t>Associate</a:t>
            </a:r>
            <a:r>
              <a:rPr lang="fr-FR" i="1" dirty="0"/>
              <a:t> Justices)</a:t>
            </a:r>
            <a:r>
              <a:rPr lang="fr-FR" dirty="0"/>
              <a:t>. Les juges sont connus. Les arrêts </a:t>
            </a:r>
            <a:r>
              <a:rPr lang="fr-FR" i="1" dirty="0"/>
              <a:t>(opinions)</a:t>
            </a:r>
            <a:r>
              <a:rPr lang="fr-FR" dirty="0"/>
              <a:t> font apparaître la répartition des votes.</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146</a:t>
            </a:fld>
            <a:endParaRPr lang="fr-F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052736"/>
          </a:xfrm>
        </p:spPr>
        <p:txBody>
          <a:bodyPr>
            <a:normAutofit fontScale="90000"/>
          </a:bodyPr>
          <a:lstStyle/>
          <a:p>
            <a:pPr algn="just"/>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3100" b="1" i="1" dirty="0">
                <a:solidFill>
                  <a:srgbClr val="FFFF00"/>
                </a:solidFill>
                <a:latin typeface="Baskerville Old Face" pitchFamily="18" charset="0"/>
                <a:cs typeface="Times New Roman" pitchFamily="18" charset="0"/>
              </a:rPr>
              <a:t/>
            </a:r>
            <a:br>
              <a:rPr lang="fr-CA" sz="3100" b="1" i="1" dirty="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t>
            </a:r>
            <a:br>
              <a:rPr lang="fr-CA" sz="3100" b="1" i="1" dirty="0" smtClean="0">
                <a:solidFill>
                  <a:srgbClr val="FFFF00"/>
                </a:solidFill>
                <a:latin typeface="Baskerville Old Face" pitchFamily="18" charset="0"/>
                <a:cs typeface="Times New Roman" pitchFamily="18" charset="0"/>
              </a:rPr>
            </a:br>
            <a:r>
              <a:rPr lang="fr-CA" sz="3100" b="1" i="1" dirty="0">
                <a:solidFill>
                  <a:srgbClr val="FFFF00"/>
                </a:solidFill>
                <a:latin typeface="Baskerville Old Face" pitchFamily="18" charset="0"/>
                <a:cs typeface="Times New Roman" pitchFamily="18" charset="0"/>
              </a:rPr>
              <a:t/>
            </a:r>
            <a:br>
              <a:rPr lang="fr-CA" sz="3100" b="1" i="1" dirty="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3100" b="1" i="1" dirty="0" smtClean="0">
                <a:solidFill>
                  <a:srgbClr val="FFFF00"/>
                </a:solidFill>
                <a:latin typeface="Baskerville Old Face" pitchFamily="18" charset="0"/>
                <a:cs typeface="Times New Roman" pitchFamily="18" charset="0"/>
              </a:rPr>
              <a:t/>
            </a:r>
            <a:br>
              <a:rPr lang="fr-CA" sz="3100" b="1" i="1" dirty="0" smtClean="0">
                <a:solidFill>
                  <a:srgbClr val="FFFF00"/>
                </a:solidFill>
                <a:latin typeface="Baskerville Old Face" pitchFamily="18" charset="0"/>
                <a:cs typeface="Times New Roman" pitchFamily="18" charset="0"/>
              </a:rPr>
            </a:br>
            <a:r>
              <a:rPr lang="fr-CA" sz="2700" b="1" i="1" dirty="0" smtClean="0">
                <a:solidFill>
                  <a:srgbClr val="FFFF00"/>
                </a:solidFill>
                <a:latin typeface="+mn-lt"/>
                <a:cs typeface="Times New Roman" pitchFamily="18" charset="0"/>
              </a:rPr>
              <a:t>Chapitre </a:t>
            </a:r>
            <a:r>
              <a:rPr lang="fr-CA" sz="2700" b="1" i="1" dirty="0">
                <a:solidFill>
                  <a:srgbClr val="FFFF00"/>
                </a:solidFill>
                <a:latin typeface="+mn-lt"/>
                <a:cs typeface="Times New Roman" pitchFamily="18" charset="0"/>
              </a:rPr>
              <a:t>III. Le modèle constitutionnel </a:t>
            </a:r>
            <a:r>
              <a:rPr lang="fr-CA" sz="2700" b="1" i="1" dirty="0" smtClean="0">
                <a:solidFill>
                  <a:srgbClr val="FFFF00"/>
                </a:solidFill>
                <a:latin typeface="+mn-lt"/>
                <a:cs typeface="Times New Roman" pitchFamily="18" charset="0"/>
              </a:rPr>
              <a:t>semi-présidentiel</a:t>
            </a:r>
            <a:r>
              <a:rPr lang="fr-FR" dirty="0" smtClean="0">
                <a:latin typeface="Baskerville Old Face" pitchFamily="18" charset="0"/>
              </a:rPr>
              <a:t/>
            </a:r>
            <a:br>
              <a:rPr lang="fr-FR" dirty="0" smtClean="0">
                <a:latin typeface="Baskerville Old Face" pitchFamily="18" charset="0"/>
              </a:rPr>
            </a:br>
            <a:endParaRPr lang="fr-FR" dirty="0">
              <a:latin typeface="Baskerville Old Face" pitchFamily="18" charset="0"/>
            </a:endParaRPr>
          </a:p>
        </p:txBody>
      </p:sp>
      <p:sp>
        <p:nvSpPr>
          <p:cNvPr id="3" name="Espace réservé du contenu 2"/>
          <p:cNvSpPr>
            <a:spLocks noGrp="1"/>
          </p:cNvSpPr>
          <p:nvPr>
            <p:ph idx="1"/>
          </p:nvPr>
        </p:nvSpPr>
        <p:spPr>
          <a:xfrm>
            <a:off x="0" y="1142984"/>
            <a:ext cx="9144000" cy="5715016"/>
          </a:xfrm>
        </p:spPr>
        <p:txBody>
          <a:bodyPr/>
          <a:lstStyle/>
          <a:p>
            <a:pPr algn="just">
              <a:lnSpc>
                <a:spcPct val="150000"/>
              </a:lnSpc>
              <a:buNone/>
            </a:pPr>
            <a:r>
              <a:rPr lang="fr-MA" dirty="0"/>
              <a:t>Ce modèle correspond à l’expérience institutionnelle Française telle qu’elle s’est manifestée lors de la Ve République, a partir du 4 Octobre 1958, et plus précisément depuis la réforme constitutionnelle du 6 novembre 1962, qui avait introduit l’élection du président de la République au suffrage universel direct, alors qu’il était </a:t>
            </a:r>
            <a:r>
              <a:rPr lang="fr-FR" dirty="0"/>
              <a:t>élu à la majorité absolue des suffrages par les deux chambres du Parlement réunies en Congrès lors de la IVème République. (Pourquoi la Vème République ?)</a:t>
            </a:r>
            <a:endParaRPr lang="fr-MA"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147</a:t>
            </a:fld>
            <a:endParaRPr lang="fr-F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285860"/>
          </a:xfrm>
        </p:spPr>
        <p:txBody>
          <a:bodyPr>
            <a:normAutofit fontScale="90000"/>
          </a:bodyPr>
          <a:lstStyle/>
          <a:p>
            <a:pPr algn="ct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sz="4900" b="1" i="1" dirty="0">
                <a:latin typeface="Times New Roman" pitchFamily="18" charset="0"/>
                <a:cs typeface="Times New Roman" pitchFamily="18" charset="0"/>
              </a:rPr>
              <a:t/>
            </a:r>
            <a:br>
              <a:rPr lang="fr-FR" sz="4900" b="1" i="1" dirty="0">
                <a:latin typeface="Times New Roman" pitchFamily="18" charset="0"/>
                <a:cs typeface="Times New Roman" pitchFamily="18" charset="0"/>
              </a:rPr>
            </a:br>
            <a:r>
              <a:rPr lang="fr-FR" b="1" i="1" dirty="0">
                <a:latin typeface="Times New Roman" pitchFamily="18" charset="0"/>
                <a:cs typeface="Times New Roman" pitchFamily="18" charset="0"/>
              </a:rPr>
              <a:t/>
            </a:r>
            <a:br>
              <a:rPr lang="fr-FR" b="1" i="1" dirty="0">
                <a:latin typeface="Times New Roman" pitchFamily="18" charset="0"/>
                <a:cs typeface="Times New Roman" pitchFamily="18" charset="0"/>
              </a:rPr>
            </a:br>
            <a:endParaRPr lang="fr-FR" b="1" i="1"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148</a:t>
            </a:fld>
            <a:endParaRPr lang="fr-FR"/>
          </a:p>
        </p:txBody>
      </p:sp>
      <p:sp>
        <p:nvSpPr>
          <p:cNvPr id="6" name="Espace réservé du contenu 5"/>
          <p:cNvSpPr>
            <a:spLocks noGrp="1"/>
          </p:cNvSpPr>
          <p:nvPr>
            <p:ph idx="1"/>
          </p:nvPr>
        </p:nvSpPr>
        <p:spPr>
          <a:xfrm>
            <a:off x="0" y="1142984"/>
            <a:ext cx="9144000" cy="5715016"/>
          </a:xfrm>
        </p:spPr>
        <p:txBody>
          <a:bodyPr>
            <a:normAutofit/>
          </a:bodyPr>
          <a:lstStyle/>
          <a:p>
            <a:pPr algn="just">
              <a:lnSpc>
                <a:spcPct val="160000"/>
              </a:lnSpc>
              <a:buNone/>
            </a:pPr>
            <a:endParaRPr lang="fr-FR" dirty="0"/>
          </a:p>
          <a:p>
            <a:pPr algn="just">
              <a:lnSpc>
                <a:spcPct val="160000"/>
              </a:lnSpc>
              <a:buNone/>
            </a:pPr>
            <a:r>
              <a:rPr lang="fr-FR" dirty="0"/>
              <a:t>Le Roi Louis XVI est arrêté à Varennes. Il est jugé, condamné à la guillotine par la Convention en 1793. Le 21 septembre  1792 </a:t>
            </a:r>
          </a:p>
          <a:p>
            <a:pPr algn="just">
              <a:lnSpc>
                <a:spcPct val="160000"/>
              </a:lnSpc>
              <a:buNone/>
            </a:pPr>
            <a:r>
              <a:rPr lang="fr-FR" dirty="0"/>
              <a:t>	la monarchie est officiellement abolie. Et la République fut proclamée en 1793. </a:t>
            </a:r>
          </a:p>
          <a:p>
            <a:pPr algn="just">
              <a:buNone/>
            </a:pPr>
            <a:r>
              <a:rPr lang="fr-FR" dirty="0"/>
              <a:t/>
            </a:r>
            <a:br>
              <a:rPr lang="fr-FR" dirty="0"/>
            </a:br>
            <a:endParaRPr lang="fr-FR" dirty="0"/>
          </a:p>
        </p:txBody>
      </p:sp>
      <p:sp>
        <p:nvSpPr>
          <p:cNvPr id="5" name="Rectangle 4"/>
          <p:cNvSpPr/>
          <p:nvPr/>
        </p:nvSpPr>
        <p:spPr>
          <a:xfrm>
            <a:off x="0" y="0"/>
            <a:ext cx="9144000" cy="1015663"/>
          </a:xfrm>
          <a:prstGeom prst="rect">
            <a:avLst/>
          </a:prstGeom>
        </p:spPr>
        <p:txBody>
          <a:bodyPr wrap="square">
            <a:spAutoFit/>
          </a:bodyPr>
          <a:lstStyle/>
          <a:p>
            <a:pPr algn="ctr"/>
            <a:r>
              <a:rPr lang="fr-FR" sz="2800" b="1" i="1" dirty="0">
                <a:latin typeface="Times New Roman" pitchFamily="18" charset="0"/>
                <a:cs typeface="Times New Roman" pitchFamily="18" charset="0"/>
              </a:rPr>
              <a:t>§1. </a:t>
            </a:r>
            <a:r>
              <a:rPr lang="fr-FR" sz="2800" b="1" i="1" dirty="0">
                <a:solidFill>
                  <a:srgbClr val="FFFF00"/>
                </a:solidFill>
                <a:latin typeface="Times New Roman" pitchFamily="18" charset="0"/>
                <a:cs typeface="Times New Roman" pitchFamily="18" charset="0"/>
              </a:rPr>
              <a:t>La démocratie Française : 5 Républiques et 15 Constituti</a:t>
            </a:r>
            <a:r>
              <a:rPr lang="fr-FR" sz="3200" b="1" i="1" dirty="0">
                <a:solidFill>
                  <a:srgbClr val="FFFF00"/>
                </a:solidFill>
                <a:latin typeface="Times New Roman" pitchFamily="18" charset="0"/>
                <a:cs typeface="Times New Roman" pitchFamily="18" charset="0"/>
              </a:rPr>
              <a:t>ons</a:t>
            </a:r>
            <a:r>
              <a:rPr lang="fr-FR" sz="2800" b="1" i="1" dirty="0">
                <a:latin typeface="Times New Roman" pitchFamily="18" charset="0"/>
                <a:cs typeface="Times New Roman" pitchFamily="18" charset="0"/>
              </a:rPr>
              <a:t>.</a:t>
            </a:r>
            <a:endParaRPr lang="fr-FR" sz="2800"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endParaRPr lang="fr-FR" dirty="0"/>
          </a:p>
          <a:p>
            <a:pPr algn="just">
              <a:lnSpc>
                <a:spcPct val="150000"/>
              </a:lnSpc>
              <a:buNone/>
            </a:pPr>
            <a:endParaRPr lang="fr-FR" sz="3000" dirty="0"/>
          </a:p>
          <a:p>
            <a:pPr algn="just">
              <a:lnSpc>
                <a:spcPct val="150000"/>
              </a:lnSpc>
              <a:buNone/>
            </a:pPr>
            <a:r>
              <a:rPr lang="fr-FR" sz="3100" dirty="0"/>
              <a:t>Depuis, la proclamation de l’abolition de la royauté, le 21 septembre 1792, la France a connu cinq républiques et onze constitutions ou lois constitutionnelles  républicaines </a:t>
            </a:r>
          </a:p>
          <a:p>
            <a:pPr algn="just">
              <a:lnSpc>
                <a:spcPct val="150000"/>
              </a:lnSpc>
              <a:buNone/>
            </a:pPr>
            <a:r>
              <a:rPr lang="fr-MA" sz="3100" dirty="0"/>
              <a:t>Cf. </a:t>
            </a:r>
            <a:r>
              <a:rPr lang="fr-MA" sz="2800" dirty="0"/>
              <a:t>https://www.youtube.com/watch?v=1zOkhMeXry0</a:t>
            </a:r>
            <a:endParaRPr lang="fr-FR" sz="31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149</a:t>
            </a:fld>
            <a:endParaRPr lang="fr-F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ctr">
              <a:buNone/>
            </a:pPr>
            <a:r>
              <a:rPr lang="fr-MA" b="1" i="1" dirty="0"/>
              <a:t>Chronologie des Cinque républiques françaises</a:t>
            </a:r>
            <a:endParaRPr lang="fr-FR" b="1"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150</a:t>
            </a:fld>
            <a:endParaRPr lang="fr-FR"/>
          </a:p>
        </p:txBody>
      </p:sp>
      <p:graphicFrame>
        <p:nvGraphicFramePr>
          <p:cNvPr id="245762" name="Object 2"/>
          <p:cNvGraphicFramePr>
            <a:graphicFrameLocks noChangeAspect="1"/>
          </p:cNvGraphicFramePr>
          <p:nvPr/>
        </p:nvGraphicFramePr>
        <p:xfrm>
          <a:off x="209580" y="785794"/>
          <a:ext cx="8934420" cy="5689600"/>
        </p:xfrm>
        <a:graphic>
          <a:graphicData uri="http://schemas.openxmlformats.org/presentationml/2006/ole">
            <mc:AlternateContent xmlns:mc="http://schemas.openxmlformats.org/markup-compatibility/2006">
              <mc:Choice xmlns:v="urn:schemas-microsoft-com:vml" Requires="v">
                <p:oleObj spid="_x0000_s1144" name="Document" r:id="rId4" imgW="6944188" imgH="4680991" progId="Word.Document.12">
                  <p:embed/>
                </p:oleObj>
              </mc:Choice>
              <mc:Fallback>
                <p:oleObj name="Document" r:id="rId4" imgW="6944188" imgH="4680991"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580" y="785794"/>
                        <a:ext cx="8934420" cy="568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7000900"/>
          </a:xfrm>
        </p:spPr>
        <p:txBody>
          <a:bodyPr>
            <a:normAutofit/>
          </a:bodyPr>
          <a:lstStyle/>
          <a:p>
            <a:pPr algn="ctr">
              <a:lnSpc>
                <a:spcPct val="150000"/>
              </a:lnSpc>
              <a:buNone/>
            </a:pPr>
            <a:r>
              <a:rPr lang="fr-MA" b="1" dirty="0">
                <a:solidFill>
                  <a:srgbClr val="FFFF00"/>
                </a:solidFill>
              </a:rPr>
              <a:t>§2</a:t>
            </a:r>
            <a:r>
              <a:rPr lang="fr-MA" b="1" dirty="0"/>
              <a:t>. </a:t>
            </a:r>
            <a:r>
              <a:rPr lang="fr-MA" b="1" dirty="0">
                <a:solidFill>
                  <a:srgbClr val="FFFF00"/>
                </a:solidFill>
              </a:rPr>
              <a:t>La Vème République  </a:t>
            </a:r>
          </a:p>
          <a:p>
            <a:pPr algn="ctr">
              <a:lnSpc>
                <a:spcPct val="150000"/>
              </a:lnSpc>
              <a:buNone/>
            </a:pPr>
            <a:endParaRPr lang="fr-MA" b="1" dirty="0"/>
          </a:p>
          <a:p>
            <a:pPr algn="just">
              <a:lnSpc>
                <a:spcPct val="150000"/>
              </a:lnSpc>
              <a:buNone/>
            </a:pPr>
            <a:r>
              <a:rPr lang="fr-MA" dirty="0"/>
              <a:t>La Constitution de 1958 était adoptée suite a son approbation, par le comité Consultatif Constitutionnel, nommé par le gouvernement de Charles De Gaulle, et par le référendum populaire  du 28 Septembre. </a:t>
            </a:r>
          </a:p>
          <a:p>
            <a:pPr algn="just">
              <a:lnSpc>
                <a:spcPct val="150000"/>
              </a:lnSpc>
              <a:buNone/>
            </a:pPr>
            <a:r>
              <a:rPr lang="fr-MA" dirty="0" smtClean="0"/>
              <a:t>Cette </a:t>
            </a:r>
            <a:r>
              <a:rPr lang="fr-MA" dirty="0"/>
              <a:t>Constitution sera révisée le 6 Novembre 1962 pour donner plus de pouvoirs au général de </a:t>
            </a:r>
            <a:r>
              <a:rPr lang="fr-MA" dirty="0" smtClean="0"/>
              <a:t>Gaulle </a:t>
            </a:r>
            <a:r>
              <a:rPr lang="fr-MA" dirty="0"/>
              <a:t>. </a:t>
            </a:r>
            <a:r>
              <a:rPr lang="fr-FR" dirty="0"/>
              <a:t>Cela pour mettre fin à la Crise  du coup d’Etat </a:t>
            </a:r>
            <a:r>
              <a:rPr lang="fr-FR" dirty="0" smtClean="0"/>
              <a:t>militaire d'Alger de 1961.</a:t>
            </a:r>
            <a:endParaRPr lang="fr-MA" dirty="0"/>
          </a:p>
          <a:p>
            <a:pPr algn="just">
              <a:lnSpc>
                <a:spcPct val="150000"/>
              </a:lnSpc>
              <a:buNone/>
            </a:pPr>
            <a:endParaRPr lang="fr-FR" b="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151</a:t>
            </a:fld>
            <a:endParaRPr lang="fr-F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ctr">
              <a:lnSpc>
                <a:spcPct val="150000"/>
              </a:lnSpc>
              <a:buNone/>
            </a:pPr>
            <a:r>
              <a:rPr lang="fr-MA" b="1" i="1" dirty="0"/>
              <a:t>§3. </a:t>
            </a:r>
            <a:r>
              <a:rPr lang="fr-MA" b="1" i="1" dirty="0">
                <a:solidFill>
                  <a:srgbClr val="FFFF00"/>
                </a:solidFill>
              </a:rPr>
              <a:t>Les principes de la réforme institutionnelle de 1958</a:t>
            </a:r>
          </a:p>
          <a:p>
            <a:pPr algn="just">
              <a:lnSpc>
                <a:spcPct val="150000"/>
              </a:lnSpc>
              <a:buNone/>
            </a:pPr>
            <a:endParaRPr lang="fr-MA" b="1" i="1" dirty="0"/>
          </a:p>
          <a:p>
            <a:pPr algn="just">
              <a:lnSpc>
                <a:spcPct val="150000"/>
              </a:lnSpc>
              <a:buNone/>
            </a:pPr>
            <a:r>
              <a:rPr lang="fr-MA" dirty="0"/>
              <a:t>La constitution de 1958 avait pour objectif de rompre avec l’instabilité gouvernementale qui caractérisait l’expérience de la IVème République, en ce sens que l’exécutif était à la merci du parlement </a:t>
            </a:r>
            <a:r>
              <a:rPr lang="fr-MA" dirty="0" smtClean="0"/>
              <a:t>et </a:t>
            </a:r>
            <a:r>
              <a:rPr lang="fr-MA" dirty="0"/>
              <a:t>ne pouvait espérer poursuivre librement sa politique. </a:t>
            </a:r>
          </a:p>
          <a:p>
            <a:pPr algn="just">
              <a:lnSpc>
                <a:spcPct val="150000"/>
              </a:lnSpc>
              <a:buNone/>
            </a:pPr>
            <a:r>
              <a:rPr lang="fr-MA" dirty="0"/>
              <a:t>Cette constitution apportait une innovation majeur quant au renforcement du rôle de l’exécutif bicéphale (A) et à la rationalisation du travail parlementaire (B).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152</a:t>
            </a:fld>
            <a:endParaRPr lang="fr-F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just">
              <a:lnSpc>
                <a:spcPct val="150000"/>
              </a:lnSpc>
              <a:buNone/>
            </a:pPr>
            <a:r>
              <a:rPr lang="fr-MA" dirty="0">
                <a:solidFill>
                  <a:srgbClr val="FFFF00"/>
                </a:solidFill>
              </a:rPr>
              <a:t>A</a:t>
            </a:r>
            <a:r>
              <a:rPr lang="fr-MA" sz="2800" b="1" i="1" dirty="0">
                <a:solidFill>
                  <a:srgbClr val="FFFF00"/>
                </a:solidFill>
              </a:rPr>
              <a:t>. </a:t>
            </a:r>
            <a:r>
              <a:rPr lang="fr-MA" sz="3200" b="1" i="1" dirty="0">
                <a:solidFill>
                  <a:srgbClr val="FFFF00"/>
                </a:solidFill>
              </a:rPr>
              <a:t>Le renforcement du rôle de l’exécutif </a:t>
            </a:r>
            <a:endParaRPr lang="fr-FR" sz="2800" b="1" i="1" dirty="0">
              <a:solidFill>
                <a:srgbClr val="FFFF00"/>
              </a:solidFill>
            </a:endParaRPr>
          </a:p>
          <a:p>
            <a:pPr algn="just">
              <a:lnSpc>
                <a:spcPct val="150000"/>
              </a:lnSpc>
              <a:buNone/>
            </a:pPr>
            <a:r>
              <a:rPr lang="fr-MA" sz="2800" dirty="0"/>
              <a:t>Le renforcement de l’exécutif se manifeste par le rôle institutionnel déterminant du président de la République (1) et par la stabilisation du rôle du gouvernement (2).</a:t>
            </a:r>
          </a:p>
          <a:p>
            <a:pPr marL="514350" indent="-514350" algn="just">
              <a:lnSpc>
                <a:spcPct val="150000"/>
              </a:lnSpc>
              <a:buFont typeface="+mj-lt"/>
              <a:buAutoNum type="arabicParenR"/>
            </a:pPr>
            <a:r>
              <a:rPr lang="fr-MA" sz="2400" b="1" i="1" dirty="0">
                <a:solidFill>
                  <a:schemeClr val="accent6">
                    <a:lumMod val="40000"/>
                    <a:lumOff val="60000"/>
                  </a:schemeClr>
                </a:solidFill>
              </a:rPr>
              <a:t>Le rôle déterminant du président de la République</a:t>
            </a:r>
          </a:p>
          <a:p>
            <a:pPr marL="514350" indent="-514350" algn="just">
              <a:lnSpc>
                <a:spcPct val="150000"/>
              </a:lnSpc>
              <a:buNone/>
            </a:pPr>
            <a:r>
              <a:rPr lang="fr-MA" sz="2800" dirty="0"/>
              <a:t>Le président de la Vème République est devenu la pièce maitresse de toute l’architecture constitutionnelle. Il est élu au suffrage universel pour un mandat de cinq ans, depuis le référendum du 24 septembre 2000, renouvelable une seule fois depuis le révision constitutionnelle du 23 Juillet 2008. </a:t>
            </a:r>
          </a:p>
          <a:p>
            <a:pPr marL="514350" indent="-514350" algn="just">
              <a:lnSpc>
                <a:spcPct val="150000"/>
              </a:lnSpc>
              <a:buNone/>
            </a:pPr>
            <a:endParaRPr lang="fr-MA" sz="2400" dirty="0"/>
          </a:p>
          <a:p>
            <a:pPr marL="514350" indent="-514350" algn="just">
              <a:lnSpc>
                <a:spcPct val="150000"/>
              </a:lnSpc>
              <a:buNone/>
            </a:pPr>
            <a:endParaRPr lang="fr-MA" sz="2800" dirty="0"/>
          </a:p>
          <a:p>
            <a:pPr marL="514350" indent="-514350" algn="just">
              <a:lnSpc>
                <a:spcPct val="150000"/>
              </a:lnSpc>
              <a:buFont typeface="+mj-lt"/>
              <a:buAutoNum type="arabicParenR"/>
            </a:pPr>
            <a:endParaRPr lang="fr-FR"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MA" dirty="0"/>
          </a:p>
          <a:p>
            <a:pPr algn="just">
              <a:lnSpc>
                <a:spcPct val="150000"/>
              </a:lnSpc>
              <a:buNone/>
            </a:pPr>
            <a:r>
              <a:rPr lang="fr-MA" dirty="0"/>
              <a:t>Le statut constitutionnel du président à été tellement renforcé au point ou l’on a décrit le régime politique français de Monarchie présidentielle. Ses compétences ont été  significativement renforcées en nombre et en qualité. </a:t>
            </a:r>
          </a:p>
          <a:p>
            <a:pPr algn="just">
              <a:lnSpc>
                <a:spcPct val="150000"/>
              </a:lnSpc>
              <a:buNone/>
            </a:pPr>
            <a:r>
              <a:rPr lang="fr-MA" dirty="0"/>
              <a:t>Ainsi, le président de la république est :</a:t>
            </a:r>
          </a:p>
          <a:p>
            <a:pPr algn="just">
              <a:lnSpc>
                <a:spcPct val="150000"/>
              </a:lnSpc>
              <a:buFont typeface="Wingdings" pitchFamily="2" charset="2"/>
              <a:buChar char="Ø"/>
            </a:pPr>
            <a:r>
              <a:rPr lang="fr-MA" dirty="0"/>
              <a:t>Le chef de l’Etat qui « …</a:t>
            </a:r>
            <a:r>
              <a:rPr lang="fr-MA" i="1" dirty="0"/>
              <a:t>veille </a:t>
            </a:r>
            <a:r>
              <a:rPr lang="fr-FR" i="1" dirty="0"/>
              <a:t>au respect de la Constitution; assure, par son arbitrage, le fonctionnement régulier des pouvoirs publics ainsi que la continuité de l’État…Il est le garant de l’indépendance nationale, de l’intégrité du territoire et du respect des traités. »</a:t>
            </a:r>
            <a:r>
              <a:rPr lang="fr-FR" dirty="0"/>
              <a:t> ( art 5)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154</a:t>
            </a:fld>
            <a:endParaRPr lang="fr-F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algn="just">
              <a:lnSpc>
                <a:spcPct val="150000"/>
              </a:lnSpc>
              <a:buNone/>
            </a:pPr>
            <a:r>
              <a:rPr lang="fr-MA" dirty="0"/>
              <a:t>les pouvoirs qui attestent de sa suprématie </a:t>
            </a:r>
            <a:r>
              <a:rPr lang="fr-MA" dirty="0" smtClean="0"/>
              <a:t>institutionnelle  sont:</a:t>
            </a:r>
            <a:endParaRPr lang="fr-MA" dirty="0"/>
          </a:p>
          <a:p>
            <a:pPr algn="just">
              <a:lnSpc>
                <a:spcPct val="150000"/>
              </a:lnSpc>
              <a:buFont typeface="Wingdings" pitchFamily="2" charset="2"/>
              <a:buChar char="Ø"/>
            </a:pPr>
            <a:r>
              <a:rPr lang="fr-MA" dirty="0"/>
              <a:t> le pouvoir de nomination et de révocation du premier ministre et des ministres du </a:t>
            </a:r>
            <a:r>
              <a:rPr lang="fr-MA" dirty="0" smtClean="0"/>
              <a:t>Gouvernement, lorsque  celui-ci présente </a:t>
            </a:r>
            <a:r>
              <a:rPr lang="fr-MA" dirty="0" err="1" smtClean="0"/>
              <a:t>présente</a:t>
            </a:r>
            <a:r>
              <a:rPr lang="fr-MA" dirty="0" smtClean="0"/>
              <a:t> la démission du gouvernement ( </a:t>
            </a:r>
            <a:r>
              <a:rPr lang="fr-MA" dirty="0"/>
              <a:t>art8);</a:t>
            </a:r>
          </a:p>
          <a:p>
            <a:pPr algn="just">
              <a:lnSpc>
                <a:spcPct val="150000"/>
              </a:lnSpc>
              <a:buFont typeface="Wingdings" pitchFamily="2" charset="2"/>
              <a:buChar char="Ø"/>
            </a:pPr>
            <a:r>
              <a:rPr lang="fr-MA" dirty="0"/>
              <a:t>La présidence du conseil </a:t>
            </a:r>
            <a:r>
              <a:rPr lang="fr-MA" dirty="0" smtClean="0"/>
              <a:t>des </a:t>
            </a:r>
            <a:r>
              <a:rPr lang="fr-MA" dirty="0"/>
              <a:t>ministres , </a:t>
            </a:r>
            <a:r>
              <a:rPr lang="fr-MA" dirty="0" err="1"/>
              <a:t>C.a.d</a:t>
            </a:r>
            <a:r>
              <a:rPr lang="fr-MA" dirty="0"/>
              <a:t>. l’exécutif  tout entier;</a:t>
            </a:r>
          </a:p>
          <a:p>
            <a:pPr algn="just">
              <a:lnSpc>
                <a:spcPct val="150000"/>
              </a:lnSpc>
              <a:buFont typeface="Wingdings" pitchFamily="2" charset="2"/>
              <a:buChar char="Ø"/>
            </a:pPr>
            <a:r>
              <a:rPr lang="fr-MA" dirty="0"/>
              <a:t>Il promulgue les lois, 15 jours suivant la transmission du Gouvernement,</a:t>
            </a:r>
          </a:p>
          <a:p>
            <a:pPr algn="just">
              <a:lnSpc>
                <a:spcPct val="150000"/>
              </a:lnSpc>
              <a:buFont typeface="Wingdings" pitchFamily="2" charset="2"/>
              <a:buChar char="Ø"/>
            </a:pPr>
            <a:r>
              <a:rPr lang="fr-MA" dirty="0"/>
              <a:t>La soumission de tout projet de </a:t>
            </a:r>
            <a:r>
              <a:rPr lang="fr-MA" dirty="0" smtClean="0"/>
              <a:t>loi au référendum </a:t>
            </a:r>
            <a:r>
              <a:rPr lang="fr-MA" dirty="0"/>
              <a:t>( art 11)</a:t>
            </a:r>
          </a:p>
          <a:p>
            <a:pPr algn="just">
              <a:lnSpc>
                <a:spcPct val="150000"/>
              </a:lnSpc>
              <a:buFont typeface="Wingdings" pitchFamily="2" charset="2"/>
              <a:buChar char="Ø"/>
            </a:pPr>
            <a:r>
              <a:rPr lang="fr-MA" dirty="0"/>
              <a:t> le pouvoir de dissolution de l’Assemblée Nationale ( art12) {</a:t>
            </a:r>
            <a:r>
              <a:rPr lang="fr-FR" dirty="0"/>
              <a:t>5  octobre 1962; 30 mai 1968; 22 mai 1981 et du 14 mai 1988; 21  avril 1997…}</a:t>
            </a:r>
            <a:endParaRPr lang="fr-MA" dirty="0"/>
          </a:p>
          <a:p>
            <a:pPr algn="just">
              <a:lnSpc>
                <a:spcPct val="150000"/>
              </a:lnSpc>
              <a:buFont typeface="Wingdings" pitchFamily="2" charset="2"/>
              <a:buChar char="Ø"/>
            </a:pPr>
            <a:r>
              <a:rPr lang="fr-MA" dirty="0"/>
              <a:t>Le pouvoir de nomination aux emploies civils et militaires ( Conseillers d’Etat, les ambassadeurs , les chanceliers de la cour des Comptes, les préfets…) art 13;</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155</a:t>
            </a:fld>
            <a:endParaRPr lang="fr-F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Font typeface="Wingdings" pitchFamily="2" charset="2"/>
              <a:buChar char="Ø"/>
            </a:pPr>
            <a:endParaRPr lang="fr-FR" dirty="0"/>
          </a:p>
          <a:p>
            <a:pPr algn="just">
              <a:lnSpc>
                <a:spcPct val="150000"/>
              </a:lnSpc>
              <a:buFont typeface="Wingdings" pitchFamily="2" charset="2"/>
              <a:buChar char="Ø"/>
            </a:pPr>
            <a:r>
              <a:rPr lang="fr-FR" dirty="0"/>
              <a:t>Il accrédite les ambassadeurs et les envoyés extraordinaires auprès des puissances étrangères; alors que ceux des Etats étrangers sont accrédités auprès de lui.(art 14);</a:t>
            </a:r>
          </a:p>
          <a:p>
            <a:pPr algn="just">
              <a:lnSpc>
                <a:spcPct val="150000"/>
              </a:lnSpc>
              <a:buFont typeface="Wingdings" pitchFamily="2" charset="2"/>
              <a:buChar char="Ø"/>
            </a:pPr>
            <a:r>
              <a:rPr lang="fr-FR" dirty="0"/>
              <a:t>Il est le chef des armées. Il préside les conseils et comités supérieurs de la Défense nationale ( art 15);</a:t>
            </a:r>
          </a:p>
          <a:p>
            <a:pPr algn="just">
              <a:lnSpc>
                <a:spcPct val="150000"/>
              </a:lnSpc>
              <a:buFont typeface="Wingdings" pitchFamily="2" charset="2"/>
              <a:buChar char="Ø"/>
            </a:pPr>
            <a:r>
              <a:rPr lang="fr-MA" dirty="0"/>
              <a:t> proclame l’état d’exception lorsque les institutions de la république sont menacées… ( art 16); ( </a:t>
            </a:r>
          </a:p>
          <a:p>
            <a:pPr algn="just">
              <a:lnSpc>
                <a:spcPct val="150000"/>
              </a:lnSpc>
              <a:buFont typeface="Wingdings" pitchFamily="2" charset="2"/>
              <a:buChar char="Ø"/>
            </a:pPr>
            <a:r>
              <a:rPr lang="fr-MA" dirty="0"/>
              <a:t>Il dispose du droit de grâce a titre individuel, ( art 17)</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156</a:t>
            </a:fld>
            <a:endParaRPr lang="fr-F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endParaRPr lang="fr-MA" dirty="0"/>
          </a:p>
          <a:p>
            <a:pPr algn="just">
              <a:lnSpc>
                <a:spcPct val="150000"/>
              </a:lnSpc>
              <a:buNone/>
            </a:pPr>
            <a:endParaRPr lang="fr-MA" dirty="0"/>
          </a:p>
          <a:p>
            <a:pPr algn="just">
              <a:lnSpc>
                <a:spcPct val="150000"/>
              </a:lnSpc>
              <a:buNone/>
            </a:pPr>
            <a:r>
              <a:rPr lang="fr-MA" dirty="0"/>
              <a:t>Etant ainsi, le chef du gouvernement se présente comme l’institution de liaison entre le parlement et le gouvernement, surtout qu’il est le chef de la majorité parlementaire, qui est censée soutenir l’action du gouvernement.</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157</a:t>
            </a:fld>
            <a:endParaRPr lang="fr-FR" dirty="0"/>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457200" indent="-457200" algn="just">
              <a:lnSpc>
                <a:spcPct val="150000"/>
              </a:lnSpc>
              <a:buFont typeface="+mj-lt"/>
              <a:buAutoNum type="arabicParenR" startAt="2"/>
            </a:pPr>
            <a:endParaRPr lang="fr-MA" sz="2400" dirty="0"/>
          </a:p>
          <a:p>
            <a:pPr marL="457200" indent="-457200" algn="just">
              <a:lnSpc>
                <a:spcPct val="150000"/>
              </a:lnSpc>
              <a:buFont typeface="+mj-lt"/>
              <a:buAutoNum type="arabicParenR" startAt="2"/>
            </a:pPr>
            <a:endParaRPr lang="fr-MA" sz="2400" dirty="0"/>
          </a:p>
          <a:p>
            <a:pPr marL="457200" indent="-457200" algn="just">
              <a:lnSpc>
                <a:spcPct val="150000"/>
              </a:lnSpc>
              <a:buFont typeface="+mj-lt"/>
              <a:buAutoNum type="arabicParenR" startAt="2"/>
            </a:pPr>
            <a:r>
              <a:rPr lang="fr-MA" sz="2400" dirty="0"/>
              <a:t> </a:t>
            </a:r>
            <a:r>
              <a:rPr lang="fr-MA" sz="2400" b="1" i="1" dirty="0">
                <a:solidFill>
                  <a:srgbClr val="FFFF00"/>
                </a:solidFill>
              </a:rPr>
              <a:t>la renforcement du rôle du gouvernement</a:t>
            </a:r>
          </a:p>
          <a:p>
            <a:pPr marL="457200" indent="-457200" algn="just">
              <a:lnSpc>
                <a:spcPct val="150000"/>
              </a:lnSpc>
              <a:buNone/>
            </a:pPr>
            <a:r>
              <a:rPr lang="fr-FR" dirty="0"/>
              <a:t>le Premier ministre dirige l’action du Gouvernement en disposant du pouvoir réglementaire, en sa qualité du chef  réel du gouvernement, comme l’indique l’article 21 de la constitution de l’administration et de la force armée (art 20). Toutefois , son statut, aussi important soit-il, demeure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158</a:t>
            </a:fld>
            <a:endParaRPr lang="fr-F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929718" cy="6715148"/>
          </a:xfrm>
        </p:spPr>
        <p:txBody>
          <a:bodyPr/>
          <a:lstStyle/>
          <a:p>
            <a:pPr marL="514350" indent="-514350" algn="just">
              <a:lnSpc>
                <a:spcPct val="150000"/>
              </a:lnSpc>
              <a:buNone/>
            </a:pPr>
            <a:endParaRPr lang="fr-FR" dirty="0"/>
          </a:p>
          <a:p>
            <a:pPr marL="514350" indent="-514350" algn="just">
              <a:lnSpc>
                <a:spcPct val="150000"/>
              </a:lnSpc>
              <a:buNone/>
            </a:pPr>
            <a:endParaRPr lang="fr-FR" dirty="0"/>
          </a:p>
          <a:p>
            <a:pPr marL="514350" indent="-514350" algn="just">
              <a:lnSpc>
                <a:spcPct val="150000"/>
              </a:lnSpc>
              <a:buNone/>
            </a:pPr>
            <a:r>
              <a:rPr lang="fr-FR" sz="2800" dirty="0"/>
              <a:t>éclipsé par le président de la république, bien que ce dernier ne soit pas membre du gouvernement et est de ce fait irresponsable politiquement devant le parlement. A ce titre, le premier ministre est chargé d’exécuter la loi ce qui le rend politiquement responsable devant le président de la république et devant le parlement. Il assure ainsi:</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159</a:t>
            </a:fld>
            <a:endParaRPr lang="fr-F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71462"/>
            <a:ext cx="9144000" cy="6858000"/>
          </a:xfrm>
        </p:spPr>
        <p:txBody>
          <a:bodyPr/>
          <a:lstStyle/>
          <a:p>
            <a:pPr algn="just">
              <a:lnSpc>
                <a:spcPct val="150000"/>
              </a:lnSpc>
            </a:pPr>
            <a:endParaRPr lang="fr-MA" dirty="0"/>
          </a:p>
          <a:p>
            <a:pPr algn="just">
              <a:lnSpc>
                <a:spcPct val="150000"/>
              </a:lnSpc>
            </a:pPr>
            <a:r>
              <a:rPr lang="fr-MA" dirty="0"/>
              <a:t>La   </a:t>
            </a:r>
            <a:r>
              <a:rPr lang="fr-FR" dirty="0"/>
              <a:t>coordination des réponses aux questions des députés; </a:t>
            </a:r>
          </a:p>
          <a:p>
            <a:pPr algn="just">
              <a:lnSpc>
                <a:spcPct val="150000"/>
              </a:lnSpc>
            </a:pPr>
            <a:r>
              <a:rPr lang="fr-MA" dirty="0"/>
              <a:t>La coordination entre les députés de la majorité;</a:t>
            </a:r>
          </a:p>
          <a:p>
            <a:pPr algn="just">
              <a:lnSpc>
                <a:spcPct val="150000"/>
              </a:lnSpc>
            </a:pPr>
            <a:r>
              <a:rPr lang="fr-MA" dirty="0"/>
              <a:t>L’initiative en matière de législation,</a:t>
            </a:r>
          </a:p>
          <a:p>
            <a:pPr algn="just">
              <a:lnSpc>
                <a:spcPct val="150000"/>
              </a:lnSpc>
            </a:pPr>
            <a:r>
              <a:rPr lang="fr-MA" dirty="0"/>
              <a:t>La fixation de l’ordre du jour de l’assemblée nationale et du Sénat;</a:t>
            </a:r>
          </a:p>
          <a:p>
            <a:pPr algn="just">
              <a:lnSpc>
                <a:spcPct val="150000"/>
              </a:lnSpc>
            </a:pPr>
            <a:r>
              <a:rPr lang="fr-MA" dirty="0"/>
              <a:t>La  prolongation des séances parlementaires; (art 28); </a:t>
            </a:r>
          </a:p>
          <a:p>
            <a:pPr algn="just">
              <a:lnSpc>
                <a:spcPct val="150000"/>
              </a:lnSpc>
            </a:pPr>
            <a:r>
              <a:rPr lang="fr-MA" dirty="0"/>
              <a:t>La saisine du Conseil constitutionnel au sujet de la constitutionnalité des lois;</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160</a:t>
            </a:fld>
            <a:endParaRPr lang="fr-F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endParaRPr lang="fr-MA" dirty="0"/>
          </a:p>
          <a:p>
            <a:pPr algn="just">
              <a:lnSpc>
                <a:spcPct val="150000"/>
              </a:lnSpc>
            </a:pPr>
            <a:r>
              <a:rPr lang="fr-MA" dirty="0"/>
              <a:t>Il peut ainsi selon l’art 38 demander au parlement </a:t>
            </a:r>
            <a:r>
              <a:rPr lang="fr-FR" dirty="0"/>
              <a:t>l’autorisation de prendre par ordonnances des mesures qui sont normalement du domaine de la loi.  Ladite autorisation est accordée pendant un délai limité, est dans l’objectif de faciliter au gouvernement l’exécution de son programme.  </a:t>
            </a:r>
          </a:p>
          <a:p>
            <a:pPr algn="just">
              <a:lnSpc>
                <a:spcPct val="150000"/>
              </a:lnSpc>
            </a:pPr>
            <a:r>
              <a:rPr lang="fr-FR" dirty="0"/>
              <a:t>Il peut également opposer l’irrecevabilité de toute proposition  de loi ou amendement qui n’est pas du domaine de la loi ou qui est contraire à la délégation accordée  au gouvernement en vertu de l’article 38, ( art41).</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161</a:t>
            </a:fld>
            <a:endParaRPr lang="fr-F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Toutefois, si le premier ministre dispose </a:t>
            </a:r>
            <a:r>
              <a:rPr lang="fr-MA" dirty="0" smtClean="0"/>
              <a:t>des </a:t>
            </a:r>
            <a:r>
              <a:rPr lang="fr-MA" dirty="0"/>
              <a:t>pouvoirs réglementaires et même législatifs assez conséquents, il n’en demeure pas moins que les ministres ne disposent d’aucune compétence réglementaire, en dehors de celles que leur délègue le premier ministre, en vertu de l’article 21 et de celle d’opposer leur contreseing aux actes de ce dernier et à ceux  du président de la République. la constitution ne leur reconnait, de ce fait, que le droit de prendre les directives </a:t>
            </a:r>
            <a:r>
              <a:rPr lang="fr-FR" dirty="0"/>
              <a:t> qui énoncent les orientations générales de l’action de l’administration qu’ils dirigent.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162</a:t>
            </a:fld>
            <a:endParaRPr lang="fr-F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001156" cy="1214422"/>
          </a:xfrm>
        </p:spPr>
        <p:txBody>
          <a:bodyPr>
            <a:normAutofit fontScale="90000"/>
          </a:bodyPr>
          <a:lstStyle/>
          <a:p>
            <a:pPr marL="914400" indent="-914400" algn="ctr">
              <a:buFont typeface="+mj-lt"/>
              <a:buAutoNum type="alphaUcPeriod" startAt="2"/>
            </a:pPr>
            <a:r>
              <a:rPr lang="fr-MA" b="1" i="1" dirty="0">
                <a:latin typeface="Times New Roman" pitchFamily="18" charset="0"/>
                <a:cs typeface="Times New Roman" pitchFamily="18" charset="0"/>
              </a:rPr>
              <a:t>La rationalisation du travail parlementaire</a:t>
            </a:r>
            <a:endParaRPr lang="fr-FR" b="1"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0" y="1142984"/>
            <a:ext cx="9144000" cy="5715016"/>
          </a:xfrm>
        </p:spPr>
        <p:txBody>
          <a:bodyPr/>
          <a:lstStyle/>
          <a:p>
            <a:pPr algn="just">
              <a:lnSpc>
                <a:spcPct val="150000"/>
              </a:lnSpc>
              <a:buNone/>
            </a:pPr>
            <a:endParaRPr lang="fr-FR" dirty="0"/>
          </a:p>
          <a:p>
            <a:pPr algn="just">
              <a:lnSpc>
                <a:spcPct val="150000"/>
              </a:lnSpc>
              <a:buNone/>
            </a:pPr>
            <a:r>
              <a:rPr lang="fr-FR" sz="2800" dirty="0"/>
              <a:t>La notion du « </a:t>
            </a:r>
            <a:r>
              <a:rPr lang="fr-FR" sz="2800" i="1" dirty="0"/>
              <a:t>parlementarisme rationalisé </a:t>
            </a:r>
            <a:r>
              <a:rPr lang="fr-FR" sz="2800" dirty="0"/>
              <a:t>» est forgée par le juriste Russe Boris </a:t>
            </a:r>
            <a:r>
              <a:rPr lang="fr-FR" sz="2800" dirty="0" err="1"/>
              <a:t>Mirkine</a:t>
            </a:r>
            <a:r>
              <a:rPr lang="fr-FR" sz="2800" dirty="0"/>
              <a:t>-</a:t>
            </a:r>
            <a:r>
              <a:rPr lang="fr-FR" sz="2800" dirty="0" err="1"/>
              <a:t>Guetzevitch</a:t>
            </a:r>
            <a:r>
              <a:rPr lang="fr-FR" sz="2800" dirty="0"/>
              <a:t> pour désigner ce type de parlements dont l’action est strictement régulée par la constitution de telle sorte à garantir une meilleur stabilité gouvernementale et une plus grande coopération du parlement  avec le gouvernement.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163</a:t>
            </a:fld>
            <a:endParaRPr lang="fr-F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FR" dirty="0"/>
          </a:p>
          <a:p>
            <a:pPr algn="just">
              <a:lnSpc>
                <a:spcPct val="150000"/>
              </a:lnSpc>
              <a:buNone/>
            </a:pPr>
            <a:r>
              <a:rPr lang="fr-FR" dirty="0"/>
              <a:t>La constitution de 1958, a voulu réagir contre les excès du parlementarisme absolu qui avait caractérisé la IIIe et la IVe République. Pour ce faire, elle va limiter les fonctions législatives du parlement au point de le convertir en </a:t>
            </a:r>
            <a:r>
              <a:rPr lang="fr-FR" dirty="0" smtClean="0"/>
              <a:t>un législateur </a:t>
            </a:r>
            <a:r>
              <a:rPr lang="fr-FR" dirty="0"/>
              <a:t>d’exception.  </a:t>
            </a:r>
          </a:p>
          <a:p>
            <a:pPr marL="514350" indent="-514350" algn="just">
              <a:lnSpc>
                <a:spcPct val="150000"/>
              </a:lnSpc>
              <a:buFont typeface="+mj-lt"/>
              <a:buAutoNum type="arabicPeriod"/>
            </a:pPr>
            <a:r>
              <a:rPr lang="fr-MA" i="1" dirty="0">
                <a:solidFill>
                  <a:srgbClr val="FFFF00"/>
                </a:solidFill>
              </a:rPr>
              <a:t>Les mécanismes de rationalisation parlementaire</a:t>
            </a:r>
          </a:p>
          <a:p>
            <a:pPr marL="514350" indent="-514350" algn="just">
              <a:lnSpc>
                <a:spcPct val="150000"/>
              </a:lnSpc>
              <a:buNone/>
            </a:pPr>
            <a:r>
              <a:rPr lang="fr-MA" dirty="0"/>
              <a:t>La constitution de 1958 avait mis en place un dispositif assez élaboré pour réguler les fonctions du parlement et faciliter l’action de l’exécutif. Parmi les éléments de ce dispositif on peut citer:</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164</a:t>
            </a:fld>
            <a:endParaRPr lang="fr-F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marL="514350" lvl="0" indent="-514350" algn="just">
              <a:lnSpc>
                <a:spcPct val="150000"/>
              </a:lnSpc>
              <a:buFont typeface="+mj-lt"/>
              <a:buAutoNum type="alphaLcParenR"/>
            </a:pPr>
            <a:r>
              <a:rPr lang="fr-FR" dirty="0"/>
              <a:t>La limitation de la durée des sessions parlementaires (deux fois trois mois par an). Le Parlement siège pendant deux sessions par an… (art 28)</a:t>
            </a:r>
          </a:p>
          <a:p>
            <a:pPr marL="514350" lvl="0" indent="-514350" algn="just">
              <a:lnSpc>
                <a:spcPct val="150000"/>
              </a:lnSpc>
              <a:buFont typeface="+mj-lt"/>
              <a:buAutoNum type="alphaLcParenR"/>
            </a:pPr>
            <a:r>
              <a:rPr lang="fr-FR" dirty="0"/>
              <a:t>La limitation du domaine de la loi qui est parallèle à une illimitation du domaine du règlement, ( art 34 et 37)</a:t>
            </a:r>
          </a:p>
          <a:p>
            <a:pPr marL="514350" lvl="0" indent="-514350" algn="just">
              <a:lnSpc>
                <a:spcPct val="150000"/>
              </a:lnSpc>
              <a:buFont typeface="+mj-lt"/>
              <a:buAutoNum type="alphaLcParenR"/>
            </a:pPr>
            <a:r>
              <a:rPr lang="fr-FR" dirty="0"/>
              <a:t>La limitation de l’initiative législative (propositions des lois) des  parlementaires et de leur droit d’amendement en fonction du domaine de la loi. ( art 39 ,40 et 41)</a:t>
            </a:r>
          </a:p>
          <a:p>
            <a:pPr marL="514350" lvl="0" indent="-514350" algn="just">
              <a:lnSpc>
                <a:spcPct val="150000"/>
              </a:lnSpc>
              <a:buFont typeface="+mj-lt"/>
              <a:buAutoNum type="alphaLcParenR"/>
            </a:pPr>
            <a:r>
              <a:rPr lang="fr-FR" dirty="0"/>
              <a:t>La maitrise de l’ordre du jour des deux chambres du parlement (art 48). </a:t>
            </a:r>
          </a:p>
          <a:p>
            <a:pPr marL="514350" indent="-514350" algn="just">
              <a:lnSpc>
                <a:spcPct val="150000"/>
              </a:lnSpc>
              <a:buFont typeface="+mj-lt"/>
              <a:buAutoNum type="alphaLcParenR"/>
            </a:pPr>
            <a:r>
              <a:rPr lang="fr-FR" dirty="0"/>
              <a:t>Limitation de la possibilité de renverser le gouvernement par le parlement (art 49)</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165</a:t>
            </a:fld>
            <a:endParaRPr lang="fr-F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MA" dirty="0"/>
          </a:p>
          <a:p>
            <a:pPr algn="just">
              <a:lnSpc>
                <a:spcPct val="150000"/>
              </a:lnSpc>
              <a:buNone/>
            </a:pPr>
            <a:endParaRPr lang="fr-MA" dirty="0"/>
          </a:p>
          <a:p>
            <a:pPr algn="just">
              <a:lnSpc>
                <a:spcPct val="150000"/>
              </a:lnSpc>
              <a:buNone/>
            </a:pPr>
            <a:r>
              <a:rPr lang="fr-MA" dirty="0"/>
              <a:t>A ces mécanismes de rationalisation de l’action parlementaire s’ajoutent deux éléments essentiels qui limitent la liberté du parlement, en l’occurrence: </a:t>
            </a:r>
          </a:p>
          <a:p>
            <a:pPr algn="just">
              <a:lnSpc>
                <a:spcPct val="150000"/>
              </a:lnSpc>
            </a:pPr>
            <a:r>
              <a:rPr lang="fr-MA" dirty="0"/>
              <a:t>le bicamérisme qui implique la possibilité pour le Sénat d’avoir un droit de regard sur l’ensemble des lois votées par l’Assemblé Nationale et surtout en matière de législation concernant les collectivité territoriale et les Français établis hors France.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166</a:t>
            </a:fld>
            <a:endParaRPr lang="fr-F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dirty="0"/>
          </a:p>
          <a:p>
            <a:pPr algn="just">
              <a:lnSpc>
                <a:spcPct val="150000"/>
              </a:lnSpc>
            </a:pPr>
            <a:r>
              <a:rPr lang="fr-MA" dirty="0"/>
              <a:t>Le conseil constitutionnel qui est chargé de contrôler, a priori comme a posteriori, la constitutionnalité des lois votées par le parlement. Cela fait de lui un législateur indirecte en ce sens qu’il peut agir en amont et en aval sur la loi en la déclarant conforme ou non à la constitution. </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167</a:t>
            </a:fld>
            <a:endParaRPr lang="fr-F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2984"/>
          </a:xfrm>
        </p:spPr>
        <p:txBody>
          <a:bodyPr>
            <a:normAutofit fontScale="90000"/>
          </a:bodyPr>
          <a:lstStyle/>
          <a:p>
            <a:pPr algn="ctr"/>
            <a:r>
              <a:rPr lang="fr-CA" sz="3600" b="1" i="1" dirty="0">
                <a:solidFill>
                  <a:srgbClr val="FFFF00"/>
                </a:solidFill>
                <a:latin typeface="Times New Roman" pitchFamily="18" charset="0"/>
                <a:cs typeface="Times New Roman" pitchFamily="18" charset="0"/>
              </a:rPr>
              <a:t>Chapitre IV. Le modèle constitutionnel Marocain </a:t>
            </a:r>
            <a:r>
              <a:rPr lang="fr-FR" b="1" dirty="0">
                <a:solidFill>
                  <a:srgbClr val="FFFF00"/>
                </a:solidFill>
              </a:rPr>
              <a:t/>
            </a:r>
            <a:br>
              <a:rPr lang="fr-FR" b="1" dirty="0">
                <a:solidFill>
                  <a:srgbClr val="FFFF00"/>
                </a:solidFill>
              </a:rPr>
            </a:br>
            <a:endParaRPr lang="fr-FR" b="1" dirty="0">
              <a:solidFill>
                <a:srgbClr val="FFFF00"/>
              </a:solidFill>
            </a:endParaRPr>
          </a:p>
        </p:txBody>
      </p:sp>
      <p:sp>
        <p:nvSpPr>
          <p:cNvPr id="3" name="Espace réservé du contenu 2"/>
          <p:cNvSpPr>
            <a:spLocks noGrp="1"/>
          </p:cNvSpPr>
          <p:nvPr>
            <p:ph idx="1"/>
          </p:nvPr>
        </p:nvSpPr>
        <p:spPr>
          <a:xfrm>
            <a:off x="0" y="1285860"/>
            <a:ext cx="9144000" cy="5572140"/>
          </a:xfrm>
        </p:spPr>
        <p:txBody>
          <a:bodyPr/>
          <a:lstStyle/>
          <a:p>
            <a:pPr algn="just">
              <a:lnSpc>
                <a:spcPct val="150000"/>
              </a:lnSpc>
              <a:buNone/>
            </a:pPr>
            <a:r>
              <a:rPr lang="fr-FR" b="1" i="1" dirty="0">
                <a:solidFill>
                  <a:srgbClr val="FFFF00"/>
                </a:solidFill>
              </a:rPr>
              <a:t>Section I. </a:t>
            </a:r>
            <a:r>
              <a:rPr lang="fr-CA" b="1" i="1" dirty="0">
                <a:solidFill>
                  <a:srgbClr val="FFFF00"/>
                </a:solidFill>
              </a:rPr>
              <a:t>Évolution du régime constitutionnel marocain</a:t>
            </a:r>
            <a:endParaRPr lang="fr-FR" b="1" i="1" dirty="0">
              <a:solidFill>
                <a:srgbClr val="FFFF00"/>
              </a:solidFill>
            </a:endParaRPr>
          </a:p>
          <a:p>
            <a:pPr algn="just">
              <a:lnSpc>
                <a:spcPct val="150000"/>
              </a:lnSpc>
              <a:buNone/>
            </a:pPr>
            <a:r>
              <a:rPr lang="fr-MA" dirty="0"/>
              <a:t>Le modèle constitutionnel marocain demeure un modèle particulier dans la typologie des régimes constitutionnels dans le monde, en ce sens qu’il recèle des particularités institutionnelles qui lui sont propres, bien qu’il ressemble, dans ses traits majeurs, aux modèles constitutionnels classiques, en l’occurrence aux modèles, parlementaire, présidentiel et </a:t>
            </a:r>
            <a:r>
              <a:rPr lang="fr-MA" dirty="0" smtClean="0"/>
              <a:t>semi-présidentiel.  </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168</a:t>
            </a:fld>
            <a:endParaRPr lang="fr-F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dirty="0"/>
          </a:p>
          <a:p>
            <a:pPr algn="just">
              <a:lnSpc>
                <a:spcPct val="150000"/>
              </a:lnSpc>
              <a:buNone/>
            </a:pPr>
            <a:r>
              <a:rPr lang="fr-MA" sz="2800" dirty="0"/>
              <a:t>En fait, si l’on veut classer le modèle constitutionnel Marocain selon le critère précités de séparation des pouvoirs, on peut le catégoriser comme «</a:t>
            </a:r>
            <a:r>
              <a:rPr lang="fr-MA" sz="2800" i="1" dirty="0"/>
              <a:t>une monarchie présidentielle/exécutive</a:t>
            </a:r>
            <a:r>
              <a:rPr lang="fr-MA" sz="2800" dirty="0"/>
              <a:t>», c’est-à-dire, comme une monarchie qui fonctionne selon les caractéristiques du régime constitutionnel </a:t>
            </a:r>
            <a:r>
              <a:rPr lang="fr-MA" sz="2800" dirty="0" smtClean="0"/>
              <a:t>semi-présidentiel  </a:t>
            </a:r>
            <a:r>
              <a:rPr lang="fr-MA" sz="2800" dirty="0"/>
              <a:t>ou mixte.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169</a:t>
            </a:fld>
            <a:endParaRPr lang="fr-F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MA" dirty="0"/>
          </a:p>
          <a:p>
            <a:pPr algn="just">
              <a:lnSpc>
                <a:spcPct val="150000"/>
              </a:lnSpc>
              <a:buNone/>
            </a:pPr>
            <a:endParaRPr lang="fr-MA" dirty="0"/>
          </a:p>
          <a:p>
            <a:pPr algn="just">
              <a:lnSpc>
                <a:spcPct val="150000"/>
              </a:lnSpc>
              <a:buNone/>
            </a:pPr>
            <a:r>
              <a:rPr lang="fr-MA" sz="2800" dirty="0"/>
              <a:t>Dans ce type de régime l’exécutif est bicéphale. Le chef de l’Etat ( le Roi) y constitue le véritable chef de l’exécutif et le Gouvernement est doublement responsable devant le Roi et devant le parlement. On est dès lors devant un parlementarisme dualiste et rationnalisé. C’est-a- dire un parlementarisme diminué au profit de l’exécutif et devant un équilibre asymétrique entre les pouvoirs législatifs et exécutifs.</a:t>
            </a:r>
            <a:endParaRPr lang="fr-FR" dirty="0"/>
          </a:p>
          <a:p>
            <a:pPr algn="just">
              <a:buNone/>
            </a:pPr>
            <a:endParaRPr lang="fr-FR" i="1"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170</a:t>
            </a:fld>
            <a:endParaRPr lang="fr-F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buNone/>
            </a:pPr>
            <a:endParaRPr lang="fr-MA" dirty="0"/>
          </a:p>
          <a:p>
            <a:pPr algn="just">
              <a:buNone/>
            </a:pPr>
            <a:endParaRPr lang="fr-MA" dirty="0"/>
          </a:p>
          <a:p>
            <a:pPr algn="just">
              <a:lnSpc>
                <a:spcPct val="150000"/>
              </a:lnSpc>
              <a:buNone/>
            </a:pPr>
            <a:r>
              <a:rPr lang="fr-MA" dirty="0"/>
              <a:t>Il faut noter que la 1</a:t>
            </a:r>
            <a:r>
              <a:rPr lang="fr-MA" baseline="30000" dirty="0"/>
              <a:t>ère</a:t>
            </a:r>
            <a:r>
              <a:rPr lang="fr-MA" dirty="0"/>
              <a:t> constitution marocaine date de 14 décembre 1962, suite au référendum constitutionnel organisé par la Roi Hassan II, le 7 décembre de la même année. </a:t>
            </a:r>
          </a:p>
          <a:p>
            <a:pPr algn="just">
              <a:lnSpc>
                <a:spcPct val="150000"/>
              </a:lnSpc>
              <a:buNone/>
            </a:pPr>
            <a:r>
              <a:rPr lang="fr-MA" dirty="0"/>
              <a:t>Cette Constitution marque le passage d’une monarchie «absolue/consultative» vers une monarchie  constitutionnelle/ exécutive, ou le Roi devient un </a:t>
            </a:r>
            <a:r>
              <a:rPr lang="fr-MA" dirty="0" smtClean="0"/>
              <a:t>chef d’Etat moderne, </a:t>
            </a:r>
            <a:r>
              <a:rPr lang="fr-MA" dirty="0"/>
              <a:t>doté d’une triple légitimité religieuse, sociologique et institutionnelle, qui fait de lui la pièce maitresse de tout l’édifice  institutionnel au Maroc. </a:t>
            </a:r>
          </a:p>
          <a:p>
            <a:pPr algn="just">
              <a:lnSpc>
                <a:spcPct val="150000"/>
              </a:lnSpc>
              <a:buNone/>
            </a:pPr>
            <a:r>
              <a:rPr lang="fr-MA" dirty="0"/>
              <a: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171</a:t>
            </a:fld>
            <a:endParaRPr lang="fr-F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buNone/>
            </a:pPr>
            <a:endParaRPr lang="fr-MA" dirty="0"/>
          </a:p>
          <a:p>
            <a:pPr algn="just">
              <a:lnSpc>
                <a:spcPct val="150000"/>
              </a:lnSpc>
              <a:buNone/>
            </a:pPr>
            <a:r>
              <a:rPr lang="fr-MA" dirty="0"/>
              <a:t>Et contrairement à certaines idées reçues sur le nombre de constitutions qu’ a connu le Maroc depuis son indépendance,  quatre ou Cinque, ou même six, il faut préciser que ce dernier n’en a connu qu’une seule, celle de 1962, qui à été révisée en 1970, 1972, 1992, 1996 et en 2011. </a:t>
            </a:r>
          </a:p>
          <a:p>
            <a:pPr algn="just">
              <a:lnSpc>
                <a:spcPct val="150000"/>
              </a:lnSpc>
              <a:buNone/>
            </a:pPr>
            <a:r>
              <a:rPr lang="fr-MA" dirty="0"/>
              <a:t>L’ampleur de ces révisions varie selon les constitutions et ne semble pas traduire une évolution linéaire vers une monarchie parlementaire, en ce sens qu’elles avaient toutes contribué dans le renforcement des pouvoirs royaux au lieu de les limiter, comme il est d’usage dans les régimes parlementaires.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172</a:t>
            </a:fld>
            <a:endParaRPr lang="fr-F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MA" dirty="0"/>
          </a:p>
          <a:p>
            <a:pPr algn="just">
              <a:lnSpc>
                <a:spcPct val="150000"/>
              </a:lnSpc>
              <a:buNone/>
            </a:pPr>
            <a:r>
              <a:rPr lang="fr-MA" sz="2800" dirty="0"/>
              <a:t>Ainsi, la Constitution de 1962 n’avait pas seulement constitutionnalisé les pouvoirs traditionnels du roi, mais elle lui avait ajouté d’autres pouvoirs issus de ses fonctions de chef d’Etat moderne (représentant suprême de la nation (art 19); présidence du conseil des ministres; promulgation des lois; proclamation de l’état d’exception; initiative de la loi, consultations référendaires….) . </a:t>
            </a:r>
          </a:p>
          <a:p>
            <a:pPr algn="just">
              <a:lnSpc>
                <a:spcPct val="150000"/>
              </a:lnSpc>
              <a:buNone/>
            </a:pPr>
            <a:endParaRPr lang="fr-FR" sz="28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173</a:t>
            </a:fld>
            <a:endParaRPr lang="fr-F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A cela il faut ajouter que la suprématie institutionnelle de la monarchie était rigoureusement verrouillée par l’article </a:t>
            </a:r>
            <a:r>
              <a:rPr lang="fr-MA" dirty="0" smtClean="0"/>
              <a:t>19 </a:t>
            </a:r>
            <a:r>
              <a:rPr lang="fr-MA" dirty="0"/>
              <a:t>qui énonce que «</a:t>
            </a:r>
            <a:r>
              <a:rPr lang="fr-FR" i="1" dirty="0"/>
              <a:t>Le Roi, «Amir Al </a:t>
            </a:r>
            <a:r>
              <a:rPr lang="fr-FR" i="1" dirty="0" err="1"/>
              <a:t>Mouminine</a:t>
            </a:r>
            <a:r>
              <a:rPr lang="fr-FR" i="1" dirty="0"/>
              <a:t> » (commandeur des croyants), symbole de l'unité de la nation, garant de la pérennité et de la continuité de l'État, veille au respect de l'Islam et de la Constitution. Il est le protecteur des droits et libertés des citoyens, groupes sociaux et collectivités. Il garantit l'indépendance de la nation et l'intégrité territoriale du royaume dans ses frontières authentiques</a:t>
            </a:r>
            <a:r>
              <a:rPr lang="fr-FR" dirty="0"/>
              <a:t>.»</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174</a:t>
            </a:fld>
            <a:endParaRPr lang="fr-F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buNone/>
            </a:pPr>
            <a:endParaRPr lang="fr-MA" dirty="0"/>
          </a:p>
          <a:p>
            <a:pPr algn="just">
              <a:lnSpc>
                <a:spcPct val="150000"/>
              </a:lnSpc>
              <a:buNone/>
            </a:pPr>
            <a:endParaRPr lang="fr-MA" dirty="0"/>
          </a:p>
          <a:p>
            <a:pPr algn="just">
              <a:lnSpc>
                <a:spcPct val="150000"/>
              </a:lnSpc>
              <a:buNone/>
            </a:pPr>
            <a:r>
              <a:rPr lang="fr-MA" dirty="0"/>
              <a:t>La révision constitutionnelle de 1970 avait permis au Roi d’exercer le pouvoir réglementaire par Dahir (art 29), au détriment du gouvernement qui agit en fonction de la délégation royale (art 29 et 62). </a:t>
            </a:r>
            <a:endParaRPr lang="fr-FR" dirty="0"/>
          </a:p>
          <a:p>
            <a:pPr algn="just">
              <a:lnSpc>
                <a:spcPct val="150000"/>
              </a:lnSpc>
              <a:buNone/>
            </a:pPr>
            <a:r>
              <a:rPr lang="fr-MA" dirty="0"/>
              <a:t>La constitution de 1972, quant à elle, semble redonner le pouvoir réglementaire au gouvernement, mais conserve l’essentiel des pouvoirs du Roi.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175</a:t>
            </a:fld>
            <a:endParaRPr lang="fr-F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MA" dirty="0"/>
          </a:p>
          <a:p>
            <a:pPr algn="just">
              <a:lnSpc>
                <a:spcPct val="150000"/>
              </a:lnSpc>
              <a:buNone/>
            </a:pPr>
            <a:r>
              <a:rPr lang="fr-MA" dirty="0"/>
              <a:t>La Constitution de 1992 apporte deux innovations majeurs qui </a:t>
            </a:r>
            <a:r>
              <a:rPr lang="fr-MA" dirty="0" smtClean="0"/>
              <a:t>touchent:</a:t>
            </a:r>
          </a:p>
          <a:p>
            <a:pPr algn="just">
              <a:lnSpc>
                <a:spcPct val="150000"/>
              </a:lnSpc>
              <a:buFont typeface="Constantia" pitchFamily="18" charset="0"/>
              <a:buChar char="⁻"/>
            </a:pPr>
            <a:r>
              <a:rPr lang="fr-MA" dirty="0" smtClean="0"/>
              <a:t> </a:t>
            </a:r>
            <a:r>
              <a:rPr lang="fr-MA" dirty="0"/>
              <a:t>l’affirmation de l’attachement du Maroc </a:t>
            </a:r>
            <a:r>
              <a:rPr lang="fr-MA" dirty="0" smtClean="0"/>
              <a:t>aux </a:t>
            </a:r>
            <a:r>
              <a:rPr lang="fr-MA" dirty="0"/>
              <a:t>droits de l’Homme tels qu’ils sont universellement reconnus; </a:t>
            </a:r>
            <a:endParaRPr lang="fr-MA" dirty="0" smtClean="0"/>
          </a:p>
          <a:p>
            <a:pPr algn="just">
              <a:lnSpc>
                <a:spcPct val="150000"/>
              </a:lnSpc>
              <a:buFont typeface="Constantia" pitchFamily="18" charset="0"/>
              <a:buChar char="⁻"/>
            </a:pPr>
            <a:r>
              <a:rPr lang="fr-MA" dirty="0" smtClean="0"/>
              <a:t>et </a:t>
            </a:r>
            <a:r>
              <a:rPr lang="fr-MA" dirty="0"/>
              <a:t>l’instauration d’un conseil constitutionnel chargé de contrôler la constitutionnalité des lois, (art 76-79).</a:t>
            </a:r>
          </a:p>
          <a:p>
            <a:pPr algn="just">
              <a:lnSpc>
                <a:spcPct val="150000"/>
              </a:lnSpc>
              <a:buNone/>
            </a:pPr>
            <a:r>
              <a:rPr lang="fr-MA" dirty="0"/>
              <a:t>De sa part, la Constitution de 1996, réaffirme les principaux contours de l’architecture institutionnelle du royaume et la prééminence de l’institution monarchique tout en renforçant le statut de 1</a:t>
            </a:r>
            <a:r>
              <a:rPr lang="fr-MA" baseline="30000" dirty="0"/>
              <a:t>er</a:t>
            </a:r>
            <a:r>
              <a:rPr lang="fr-MA" dirty="0"/>
              <a:t> ministre et du parlement. </a:t>
            </a:r>
          </a:p>
          <a:p>
            <a:pPr algn="just">
              <a:lnSpc>
                <a:spcPct val="150000"/>
              </a:lnSpc>
              <a:buNone/>
            </a:pP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176</a:t>
            </a:fld>
            <a:endParaRPr lang="fr-F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buNone/>
            </a:pPr>
            <a:endParaRPr lang="fr-MA" dirty="0"/>
          </a:p>
          <a:p>
            <a:pPr algn="just">
              <a:lnSpc>
                <a:spcPct val="150000"/>
              </a:lnSpc>
              <a:buNone/>
            </a:pPr>
            <a:endParaRPr lang="fr-MA" dirty="0"/>
          </a:p>
          <a:p>
            <a:pPr algn="just">
              <a:lnSpc>
                <a:spcPct val="150000"/>
              </a:lnSpc>
              <a:buNone/>
            </a:pPr>
            <a:r>
              <a:rPr lang="fr-MA" dirty="0"/>
              <a:t>En fin, la Constitution de 2011 semble être celle qui a opéré le plus d’innovations dans l’architecture institutionnelle de Royaume, dans la mesure ou elle l’a réinventé, sans pour autant modifier ses </a:t>
            </a:r>
            <a:r>
              <a:rPr lang="fr-MA" dirty="0" smtClean="0"/>
              <a:t>fondements, </a:t>
            </a:r>
            <a:r>
              <a:rPr lang="fr-MA" dirty="0"/>
              <a:t>basés sur la suprématie institutionnelle du Roi, le caractère </a:t>
            </a:r>
            <a:r>
              <a:rPr lang="fr-MA" dirty="0" smtClean="0"/>
              <a:t>bicéphale </a:t>
            </a:r>
            <a:r>
              <a:rPr lang="fr-MA" dirty="0"/>
              <a:t>de l’exécutif, </a:t>
            </a:r>
            <a:r>
              <a:rPr lang="fr-MA" dirty="0" smtClean="0"/>
              <a:t>le </a:t>
            </a:r>
            <a:r>
              <a:rPr lang="fr-MA" dirty="0"/>
              <a:t>parlementarisme dualiste et rationnalisé, et le pluralisme politique…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177</a:t>
            </a:fld>
            <a:endParaRPr lang="fr-FR"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10000"/>
          </a:bodyPr>
          <a:lstStyle/>
          <a:p>
            <a:pPr algn="ctr">
              <a:lnSpc>
                <a:spcPct val="150000"/>
              </a:lnSpc>
              <a:buNone/>
            </a:pPr>
            <a:r>
              <a:rPr lang="fr-CA" b="1" i="1" dirty="0">
                <a:solidFill>
                  <a:srgbClr val="FFFF00"/>
                </a:solidFill>
              </a:rPr>
              <a:t>Section II. Les grands traits du régime constitutionnel marocain</a:t>
            </a:r>
          </a:p>
          <a:p>
            <a:pPr algn="just">
              <a:lnSpc>
                <a:spcPct val="150000"/>
              </a:lnSpc>
              <a:buNone/>
            </a:pPr>
            <a:r>
              <a:rPr lang="fr-FR" dirty="0"/>
              <a:t>L’art 1 de la constitution de 2011 dispose que  « </a:t>
            </a:r>
            <a:r>
              <a:rPr lang="fr-FR" b="1" i="1" dirty="0">
                <a:solidFill>
                  <a:srgbClr val="FFC000"/>
                </a:solidFill>
              </a:rPr>
              <a:t>Le Maroc est une monarchie constitutionnelle, démocratique, parlementaire et sociale. Le régime constitutionnel du Royaume est fondé sur la séparation, l'équilibre et la collaboration des pouvoirs</a:t>
            </a:r>
            <a:r>
              <a:rPr lang="fr-FR" i="1" dirty="0"/>
              <a:t>… »</a:t>
            </a:r>
          </a:p>
          <a:p>
            <a:pPr algn="just">
              <a:lnSpc>
                <a:spcPct val="150000"/>
              </a:lnSpc>
              <a:buNone/>
            </a:pPr>
            <a:r>
              <a:rPr lang="fr-MA" dirty="0"/>
              <a:t>En fait, ledit article affirme que le Maroc est une monarchie constitutionnelle, c’est-a-dire que celle-ci est une </a:t>
            </a:r>
            <a:r>
              <a:rPr lang="fr-FR" dirty="0"/>
              <a:t>institution dont les pouvoirs sont juridiquement limités par la constitution. Cette forme de monarchie s’oppose à la monarchie </a:t>
            </a:r>
            <a:r>
              <a:rPr lang="fr-FR" dirty="0" smtClean="0"/>
              <a:t>absolue </a:t>
            </a:r>
            <a:r>
              <a:rPr lang="fr-FR" dirty="0"/>
              <a:t>ou le souverain concentre entre ses mains les trois pouvoirs, législatifs, exécutifs et judicaires. Au Maroc, la monarchie se veut constitutionnelle en ce sens qu’elle accepte l’encadrement de ses pouvoirs par les différentes constitutions. </a:t>
            </a:r>
          </a:p>
          <a:p>
            <a:pPr algn="just">
              <a:lnSpc>
                <a:spcPct val="150000"/>
              </a:lnSpc>
              <a:buNone/>
            </a:pPr>
            <a:endParaRPr lang="fr-FR" i="1" dirty="0"/>
          </a:p>
          <a:p>
            <a:pPr algn="just">
              <a:lnSpc>
                <a:spcPct val="150000"/>
              </a:lnSpc>
              <a:buNone/>
            </a:pPr>
            <a:endParaRPr lang="fr-CA" dirty="0"/>
          </a:p>
          <a:p>
            <a:pPr algn="just">
              <a:lnSpc>
                <a:spcPct val="150000"/>
              </a:lnSpc>
              <a:buNone/>
            </a:pP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178</a:t>
            </a:fld>
            <a:endParaRPr lang="fr-F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normAutofit lnSpcReduction="10000"/>
          </a:bodyPr>
          <a:lstStyle/>
          <a:p>
            <a:pPr algn="just">
              <a:lnSpc>
                <a:spcPct val="160000"/>
              </a:lnSpc>
              <a:buNone/>
            </a:pPr>
            <a:endParaRPr lang="fr-FR" dirty="0"/>
          </a:p>
          <a:p>
            <a:pPr algn="just">
              <a:lnSpc>
                <a:spcPct val="160000"/>
              </a:lnSpc>
              <a:buNone/>
            </a:pPr>
            <a:r>
              <a:rPr lang="fr-FR" dirty="0"/>
              <a:t>La séparation des pouvoirs ne signifie pas une indépendance totale entre eux, mais une simple différenciation institutionnelle et fonctionnelle de l’un par rapport à l’autre. Les organes législatif et exécutif sont tenus de collaborer en permanence les uns avec les autres dans le cadre globale de l’unité du pouvoir étatique. L’Etat est, de ce fait, une personne morale ayant une existence juridique en tant qu’ entité, une et indivisible, et il ne serait possible en conséquence de le diviser en plusieurs organes distincts l’un de l’autre.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179</a:t>
            </a:fld>
            <a:endParaRPr lang="fr-F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algn="just">
              <a:lnSpc>
                <a:spcPct val="150000"/>
              </a:lnSpc>
              <a:buNone/>
            </a:pPr>
            <a:endParaRPr lang="fr-FR" dirty="0"/>
          </a:p>
          <a:p>
            <a:pPr algn="just">
              <a:lnSpc>
                <a:spcPct val="150000"/>
              </a:lnSpc>
              <a:buNone/>
            </a:pPr>
            <a:r>
              <a:rPr lang="fr-FR" dirty="0"/>
              <a:t>Certes, jusqu’à l’adoption de la nouvelle constitution, ce concept était l’objet d’une certaine interprétation juridique conservatrice selon laquelle, la monarchie était la source du pouvoir constituant et par là même </a:t>
            </a:r>
            <a:r>
              <a:rPr lang="fr-FR" dirty="0" smtClean="0"/>
              <a:t>occasion, </a:t>
            </a:r>
            <a:r>
              <a:rPr lang="fr-FR" dirty="0"/>
              <a:t>elle lui était antérieure. Cela implique une certaine supériorité juridique et institutionnelle de la monarchie par rapport à la constitution elle même, et que cette dernière est en définitive, un produit de sa propre volonté. Cela signifie que la constitution ne peut restreindre les pouvoirs du roi que dans les limites de ce que ce dernier accepte volontiers de concéder.  </a:t>
            </a:r>
            <a:endParaRPr lang="fr-MA"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180</a:t>
            </a:fld>
            <a:endParaRPr lang="fr-F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Il faut dire que la constitution de 2011 a consolidé le rôle de l’instance législative (exclusivité en matière législative, droit de l’opposition, évaluation des politiques publiques…), comme elle a renforcé le statut du chef du gouvernement (son choix au sein du parti majoritaire, il exerce exclusivement le pouvoir réglementaire, il nomme aux emplois civils et les hauts fonctionnaires de l’administration….) et a érigé le pouvoir judiciaire en un pouvoir indépendant.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181</a:t>
            </a:fld>
            <a:endParaRPr lang="fr-F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endParaRPr lang="fr-MA" dirty="0"/>
          </a:p>
          <a:p>
            <a:pPr algn="just">
              <a:lnSpc>
                <a:spcPct val="150000"/>
              </a:lnSpc>
              <a:buNone/>
            </a:pPr>
            <a:r>
              <a:rPr lang="fr-MA" dirty="0"/>
              <a:t>De plus, cette constitution a consolidé l’Etat de droit, la parité entre les hommes et les femmes, la régionalisation avancée, la parité linguistique entre l’arabe et l’Amazighe, la diversité culturelle et linguistique, la participation politique des jeunes, des femmes et des marocains du monde…</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182</a:t>
            </a:fld>
            <a:endParaRPr lang="fr-F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85000" lnSpcReduction="20000"/>
          </a:bodyPr>
          <a:lstStyle/>
          <a:p>
            <a:pPr marL="514350" indent="-514350" algn="ctr">
              <a:buFont typeface="+mj-lt"/>
              <a:buAutoNum type="alphaUcPeriod"/>
            </a:pPr>
            <a:r>
              <a:rPr lang="fr-MA" sz="2800" b="1" i="1" dirty="0">
                <a:solidFill>
                  <a:srgbClr val="FFFF00"/>
                </a:solidFill>
              </a:rPr>
              <a:t>Les pouvoirs du Roi</a:t>
            </a:r>
          </a:p>
          <a:p>
            <a:pPr algn="just">
              <a:lnSpc>
                <a:spcPct val="150000"/>
              </a:lnSpc>
              <a:buNone/>
            </a:pPr>
            <a:r>
              <a:rPr lang="fr-MA" dirty="0"/>
              <a:t>Le roi dispose des pouvoirs très larges qui lui sont propres ou partagés avec d’autres institutions.</a:t>
            </a:r>
          </a:p>
          <a:p>
            <a:pPr algn="just">
              <a:lnSpc>
                <a:spcPct val="150000"/>
              </a:lnSpc>
              <a:buNone/>
            </a:pPr>
            <a:r>
              <a:rPr lang="fr-MA" dirty="0"/>
              <a:t>De ce fait, </a:t>
            </a:r>
          </a:p>
          <a:p>
            <a:pPr algn="just">
              <a:lnSpc>
                <a:spcPct val="150000"/>
              </a:lnSpc>
              <a:buFont typeface="Constantia" pitchFamily="18" charset="0"/>
              <a:buChar char="‐"/>
            </a:pPr>
            <a:r>
              <a:rPr lang="fr-MA" dirty="0"/>
              <a:t>il est le chef réel du l’exécutif et préside le conseil des ministres;</a:t>
            </a:r>
          </a:p>
          <a:p>
            <a:pPr algn="just">
              <a:lnSpc>
                <a:spcPct val="150000"/>
              </a:lnSpc>
              <a:buFont typeface="Constantia" pitchFamily="18" charset="0"/>
              <a:buChar char="‐"/>
            </a:pPr>
            <a:r>
              <a:rPr lang="fr-MA" dirty="0"/>
              <a:t>Il nomme le chef du gouvernement; </a:t>
            </a:r>
          </a:p>
          <a:p>
            <a:pPr algn="just">
              <a:lnSpc>
                <a:spcPct val="150000"/>
              </a:lnSpc>
              <a:buFont typeface="Constantia" pitchFamily="18" charset="0"/>
              <a:buChar char="‐"/>
            </a:pPr>
            <a:r>
              <a:rPr lang="fr-MA" dirty="0"/>
              <a:t>Il peut dissoudre le parlement;</a:t>
            </a:r>
          </a:p>
          <a:p>
            <a:pPr algn="just">
              <a:lnSpc>
                <a:spcPct val="150000"/>
              </a:lnSpc>
              <a:buFont typeface="Constantia" pitchFamily="18" charset="0"/>
              <a:buChar char="‐"/>
            </a:pPr>
            <a:r>
              <a:rPr lang="fr-MA" dirty="0"/>
              <a:t>Il promulgue la loi ; </a:t>
            </a:r>
          </a:p>
          <a:p>
            <a:pPr algn="just">
              <a:lnSpc>
                <a:spcPct val="150000"/>
              </a:lnSpc>
              <a:buFont typeface="Constantia" pitchFamily="18" charset="0"/>
              <a:buChar char="‐"/>
            </a:pPr>
            <a:r>
              <a:rPr lang="fr-FR" dirty="0"/>
              <a:t>L’article 42, lui attribue la qualité d’ «</a:t>
            </a:r>
            <a:r>
              <a:rPr lang="fr-FR" i="1" dirty="0"/>
              <a:t>Arbitre suprême entre [les] institutions</a:t>
            </a:r>
            <a:r>
              <a:rPr lang="fr-FR" dirty="0"/>
              <a:t>… ». Les articles 56 et 57, lui accordent simultanément les attributs et les attributions du président du Conseil Supérieur du Pouvoir Judiciaire et du responsable de la nomination des magistrats qui y siègent, tandis que l’article 107 fait de lui le « </a:t>
            </a:r>
            <a:r>
              <a:rPr lang="fr-FR" i="1" dirty="0"/>
              <a:t>garant de l'indépendance du pouvoir judiciaire</a:t>
            </a:r>
            <a:r>
              <a:rPr lang="fr-FR" dirty="0"/>
              <a:t> »</a:t>
            </a:r>
            <a:endParaRPr lang="fr-MA" dirty="0"/>
          </a:p>
          <a:p>
            <a:pPr algn="just">
              <a:lnSpc>
                <a:spcPct val="150000"/>
              </a:lnSpc>
              <a:buFont typeface="Constantia" pitchFamily="18" charset="0"/>
              <a:buChar char="‐"/>
            </a:pPr>
            <a:endParaRPr lang="fr-MA" dirty="0"/>
          </a:p>
          <a:p>
            <a:pPr algn="just">
              <a:lnSpc>
                <a:spcPct val="150000"/>
              </a:lnSpc>
              <a:buFont typeface="Constantia" pitchFamily="18" charset="0"/>
              <a:buChar char="‐"/>
            </a:pPr>
            <a:endParaRPr lang="fr-MA" dirty="0"/>
          </a:p>
          <a:p>
            <a:pPr algn="just">
              <a:lnSpc>
                <a:spcPct val="150000"/>
              </a:lnSpc>
              <a:buFont typeface="Constantia" pitchFamily="18" charset="0"/>
              <a:buChar char="‐"/>
            </a:pPr>
            <a:endParaRPr lang="fr-MA" dirty="0"/>
          </a:p>
          <a:p>
            <a:pPr algn="just">
              <a:lnSpc>
                <a:spcPct val="150000"/>
              </a:lnSpc>
              <a:buFont typeface="Constantia" pitchFamily="18" charset="0"/>
              <a:buChar char="‐"/>
            </a:pPr>
            <a:endParaRPr lang="fr-MA" dirty="0"/>
          </a:p>
          <a:p>
            <a:pPr algn="just">
              <a:lnSpc>
                <a:spcPct val="150000"/>
              </a:lnSpc>
              <a:buFont typeface="Constantia" pitchFamily="18" charset="0"/>
              <a:buChar char="‐"/>
            </a:pPr>
            <a:endParaRPr lang="fr-MA"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183</a:t>
            </a:fld>
            <a:endParaRPr lang="fr-F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42852"/>
            <a:ext cx="9144000" cy="6715148"/>
          </a:xfrm>
        </p:spPr>
        <p:txBody>
          <a:bodyPr>
            <a:normAutofit fontScale="92500"/>
          </a:bodyPr>
          <a:lstStyle/>
          <a:p>
            <a:pPr algn="just">
              <a:lnSpc>
                <a:spcPct val="150000"/>
              </a:lnSpc>
              <a:buNone/>
            </a:pPr>
            <a:endParaRPr lang="fr-FR" dirty="0"/>
          </a:p>
          <a:p>
            <a:pPr algn="just">
              <a:lnSpc>
                <a:spcPct val="150000"/>
              </a:lnSpc>
              <a:buNone/>
            </a:pPr>
            <a:r>
              <a:rPr lang="fr-FR" dirty="0"/>
              <a:t>L’article 130 donne au souverain la possibilité de contrôler étroitement la composition des membres de la cour constitutionnelle et, par là-même, tout son processus décisionnel, étant donné qu’il détient le pouvoir de nomination du président et de six membres parmi les 12 qui la constituent.</a:t>
            </a:r>
          </a:p>
          <a:p>
            <a:pPr algn="just">
              <a:lnSpc>
                <a:spcPct val="150000"/>
              </a:lnSpc>
              <a:buNone/>
            </a:pPr>
            <a:r>
              <a:rPr lang="fr-FR" dirty="0"/>
              <a:t>l’article </a:t>
            </a:r>
            <a:r>
              <a:rPr lang="fr-FR" dirty="0" smtClean="0"/>
              <a:t>172 </a:t>
            </a:r>
            <a:r>
              <a:rPr lang="fr-FR" dirty="0"/>
              <a:t>lui confère, aux côtés du chef du gouvernement et des deux chambres du parlement, « l'</a:t>
            </a:r>
            <a:r>
              <a:rPr lang="fr-FR" i="1" dirty="0"/>
              <a:t>initiative de la révision de la Constitution.</a:t>
            </a:r>
            <a:r>
              <a:rPr lang="fr-FR" dirty="0"/>
              <a:t>.. </a:t>
            </a:r>
            <a:r>
              <a:rPr lang="fr-FR" i="1" dirty="0"/>
              <a:t>[Qu’il] peut soumettre directement au référendum</a:t>
            </a:r>
            <a:r>
              <a:rPr lang="fr-FR" dirty="0"/>
              <a:t>». Son initiative de révision de la constitution devient définitive en cas de son approbation, en vertu de l’article </a:t>
            </a:r>
            <a:r>
              <a:rPr lang="fr-FR" dirty="0" smtClean="0"/>
              <a:t>174</a:t>
            </a:r>
            <a:r>
              <a:rPr lang="fr-FR" dirty="0"/>
              <a:t>.</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184</a:t>
            </a:fld>
            <a:endParaRPr lang="fr-F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 en matière législative les pouvoirs de Roi se manifestent à travers deux mécanismes constitutionnels essentiels:</a:t>
            </a:r>
          </a:p>
          <a:p>
            <a:pPr algn="just">
              <a:lnSpc>
                <a:spcPct val="150000"/>
              </a:lnSpc>
              <a:buFont typeface="Wingdings" pitchFamily="2" charset="2"/>
              <a:buChar char="ü"/>
            </a:pPr>
            <a:r>
              <a:rPr lang="fr-MA" dirty="0"/>
              <a:t> </a:t>
            </a:r>
            <a:r>
              <a:rPr lang="fr-FR" dirty="0"/>
              <a:t> La demande aux deux Chambres du parlement d’une nouvelle lecture de la loi, comme l’atteste l’article 95 selon lequel «</a:t>
            </a:r>
            <a:r>
              <a:rPr lang="fr-FR" i="1" dirty="0"/>
              <a:t>Le Roi peut demander aux deux Chambres du Parlement qu'il soit procédé à une nouvelle lecture de tout projet ou proposition de loi. La demande d'une nouvelle lecture est formulée par message. Cette nouvelle lecture ne peut être refusée </a:t>
            </a:r>
            <a:r>
              <a:rPr lang="fr-FR" dirty="0"/>
              <a: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185</a:t>
            </a:fld>
            <a:endParaRPr lang="fr-F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Font typeface="Wingdings" pitchFamily="2" charset="2"/>
              <a:buChar char="ü"/>
            </a:pPr>
            <a:endParaRPr lang="fr-FR" dirty="0"/>
          </a:p>
          <a:p>
            <a:pPr algn="just">
              <a:lnSpc>
                <a:spcPct val="150000"/>
              </a:lnSpc>
              <a:buFont typeface="Wingdings" pitchFamily="2" charset="2"/>
              <a:buChar char="ü"/>
            </a:pPr>
            <a:r>
              <a:rPr lang="fr-FR" dirty="0"/>
              <a:t>il agit en aval dans le domaine législatif à travers le mécanisme de promulgation des lois que lui attribue l’article 50. Il dispose dans ce cas de trente jours pour le faire. Certes cette limitation du délai joue relativement en faveur du parlement, mais le Roi peut à tout moment saisir la cour constitutionnelle ou demander une seconde lecture(art 95) pour déjouer ce délai. Toutefois, ce sont là des mécanismes constitutionnels exceptionnels que le Roi n’a jamais utilisé depuis 1962.</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186</a:t>
            </a:fld>
            <a:endParaRPr lang="fr-F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lgn="ctr">
              <a:lnSpc>
                <a:spcPct val="150000"/>
              </a:lnSpc>
              <a:buFont typeface="+mj-lt"/>
              <a:buAutoNum type="alphaUcPeriod" startAt="2"/>
            </a:pPr>
            <a:r>
              <a:rPr lang="fr-MA" b="1" i="1" dirty="0">
                <a:solidFill>
                  <a:srgbClr val="FFFF00"/>
                </a:solidFill>
              </a:rPr>
              <a:t>Les prérogatives du parlement</a:t>
            </a:r>
          </a:p>
          <a:p>
            <a:pPr marL="514350" indent="-514350" algn="just">
              <a:lnSpc>
                <a:spcPct val="150000"/>
              </a:lnSpc>
              <a:buNone/>
            </a:pPr>
            <a:endParaRPr lang="fr-FR" dirty="0"/>
          </a:p>
          <a:p>
            <a:pPr marL="514350" indent="-514350" algn="just">
              <a:lnSpc>
                <a:spcPct val="150000"/>
              </a:lnSpc>
              <a:buNone/>
            </a:pPr>
            <a:r>
              <a:rPr lang="fr-FR" dirty="0"/>
              <a:t>le parlement dispose de la capacité de renverser le gouvernement par les motions de censures. Il dispose également de la capacité de contrôler le travail gouvernemental, à travers les questions orales et écrites, ainsi qu’à travers les commissions d’enquête…etc. dans ce sens l’article 10 de la constitution garanti à l’opposition parlementaire certains droits de participation dans la procédure de législation et de contrôle du Gouvernement.. </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187</a:t>
            </a:fld>
            <a:endParaRPr lang="fr-F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FR" dirty="0"/>
          </a:p>
          <a:p>
            <a:pPr algn="just">
              <a:lnSpc>
                <a:spcPct val="150000"/>
              </a:lnSpc>
              <a:buNone/>
            </a:pPr>
            <a:endParaRPr lang="fr-FR" dirty="0"/>
          </a:p>
          <a:p>
            <a:pPr algn="just">
              <a:lnSpc>
                <a:spcPct val="150000"/>
              </a:lnSpc>
              <a:buNone/>
            </a:pPr>
            <a:r>
              <a:rPr lang="fr-FR" dirty="0"/>
              <a:t>L’articles 105 donne à la chambre des représentant le droit de présenter des motions de censure pour renverser le gouvernement après avoir reçue l’approbation du cinquième des membres de la chambre des représentants et le vote de la majorité absolue des voix.</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188</a:t>
            </a:fld>
            <a:endParaRPr lang="fr-F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514350" indent="-514350" algn="ctr">
              <a:lnSpc>
                <a:spcPct val="150000"/>
              </a:lnSpc>
              <a:buFont typeface="+mj-lt"/>
              <a:buAutoNum type="alphaUcPeriod" startAt="3"/>
            </a:pPr>
            <a:r>
              <a:rPr lang="fr-MA" b="1" i="1" dirty="0">
                <a:solidFill>
                  <a:srgbClr val="FFFF00"/>
                </a:solidFill>
              </a:rPr>
              <a:t>Les compétences du gouvernement</a:t>
            </a:r>
          </a:p>
          <a:p>
            <a:pPr marL="514350" indent="-514350" algn="just">
              <a:lnSpc>
                <a:spcPct val="150000"/>
              </a:lnSpc>
              <a:buNone/>
            </a:pPr>
            <a:r>
              <a:rPr lang="fr-FR" dirty="0"/>
              <a:t>le gouvernement dispose d’un dispositif juridique qui lui permet de limiter les excès du parlementarisme. Ce dispositif est constitué de deux mécanismes juridiques importants  qui sont :</a:t>
            </a:r>
          </a:p>
          <a:p>
            <a:pPr algn="just">
              <a:lnSpc>
                <a:spcPct val="160000"/>
              </a:lnSpc>
            </a:pPr>
            <a:r>
              <a:rPr lang="fr-FR" dirty="0"/>
              <a:t>Le vote de confiance entrainant la démission collective du gouvernement après avoir demandé la confiance/ approbation de la chambre des représentant sur une déclaration de politique générale ou sur le vote d'un texte présenté par lui.</a:t>
            </a:r>
          </a:p>
          <a:p>
            <a:pPr marL="514350" indent="-514350"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189</a:t>
            </a:fld>
            <a:endParaRPr lang="fr-F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just">
              <a:lnSpc>
                <a:spcPct val="150000"/>
              </a:lnSpc>
              <a:buNone/>
            </a:pPr>
            <a:endParaRPr lang="fr-FR" dirty="0"/>
          </a:p>
          <a:p>
            <a:pPr algn="just">
              <a:lnSpc>
                <a:spcPct val="150000"/>
              </a:lnSpc>
            </a:pPr>
            <a:r>
              <a:rPr lang="fr-FR" dirty="0"/>
              <a:t>La dissolution du parlement </a:t>
            </a:r>
            <a:r>
              <a:rPr lang="fr-FR" dirty="0" smtClean="0"/>
              <a:t>(uniquement la </a:t>
            </a:r>
            <a:r>
              <a:rPr lang="fr-FR" dirty="0"/>
              <a:t>chambre des </a:t>
            </a:r>
            <a:r>
              <a:rPr lang="fr-FR" dirty="0" smtClean="0"/>
              <a:t>représentants) </a:t>
            </a:r>
            <a:r>
              <a:rPr lang="fr-FR" dirty="0"/>
              <a:t>qui lui permet le lancement des élections anticipées qui aboutissent souvent à la substitution de la majorité parlementaire par une nouvelle plus docile pour le gouvernement. </a:t>
            </a:r>
          </a:p>
          <a:p>
            <a:pPr algn="just">
              <a:lnSpc>
                <a:spcPct val="150000"/>
              </a:lnSpc>
              <a:buNone/>
            </a:pPr>
            <a:r>
              <a:rPr lang="fr-FR" dirty="0"/>
              <a:t>Il faut signaler qu’au Maroc, le parlement n’a à fait usage de la motion de censure que deux fois dans son histoire: Le 15 juin 1964 contre le gouvernement de Ba </a:t>
            </a:r>
            <a:r>
              <a:rPr lang="fr-FR" dirty="0" err="1"/>
              <a:t>Hnini</a:t>
            </a:r>
            <a:r>
              <a:rPr lang="fr-FR" dirty="0"/>
              <a:t>, et le 14 mai 1990 contre le gouvernement Azzedine </a:t>
            </a:r>
            <a:r>
              <a:rPr lang="fr-FR" dirty="0" err="1"/>
              <a:t>Laraki</a:t>
            </a:r>
            <a:r>
              <a:rPr lang="fr-FR" dirty="0"/>
              <a:t>. </a:t>
            </a:r>
          </a:p>
          <a:p>
            <a:pPr algn="just">
              <a:lnSpc>
                <a:spcPct val="150000"/>
              </a:lnSpc>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190</a:t>
            </a:fld>
            <a:endParaRPr lang="fr-F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a:bodyPr>
          <a:lstStyle/>
          <a:p>
            <a:pPr algn="just">
              <a:lnSpc>
                <a:spcPct val="150000"/>
              </a:lnSpc>
              <a:buNone/>
            </a:pPr>
            <a:endParaRPr lang="fr-FR" dirty="0"/>
          </a:p>
          <a:p>
            <a:pPr algn="just">
              <a:lnSpc>
                <a:spcPct val="150000"/>
              </a:lnSpc>
              <a:buNone/>
            </a:pPr>
            <a:r>
              <a:rPr lang="fr-FR" dirty="0"/>
              <a:t>Le gouvernement, de son côté, n’a jamais fait usage de la disposition constitutionnelle de dissolution du parlement.</a:t>
            </a:r>
          </a:p>
          <a:p>
            <a:pPr algn="just">
              <a:lnSpc>
                <a:spcPct val="150000"/>
              </a:lnSpc>
              <a:buNone/>
            </a:pPr>
            <a:r>
              <a:rPr lang="fr-FR" dirty="0"/>
              <a:t>Toutefois, le roi Hassan II avait dissout le parlement en juin 1965, suite à sa déclaration de l’état d’exception, en vertu de l’article 35 de la constitution </a:t>
            </a:r>
            <a:r>
              <a:rPr lang="fr-FR" dirty="0" smtClean="0"/>
              <a:t>de </a:t>
            </a:r>
            <a:r>
              <a:rPr lang="fr-FR" dirty="0"/>
              <a:t>1962. Situation qui avait duré jusqu’au mois de juillet 1970. </a:t>
            </a:r>
          </a:p>
          <a:p>
            <a:pPr algn="just">
              <a:lnSpc>
                <a:spcPct val="150000"/>
              </a:lnSpc>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191</a:t>
            </a:fld>
            <a:endParaRPr lang="fr-F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a:bodyPr>
          <a:lstStyle/>
          <a:p>
            <a:pPr algn="ctr">
              <a:lnSpc>
                <a:spcPct val="150000"/>
              </a:lnSpc>
              <a:buNone/>
            </a:pPr>
            <a:r>
              <a:rPr lang="fr-CA" sz="3100" b="1" i="1" dirty="0">
                <a:solidFill>
                  <a:srgbClr val="FFFF00"/>
                </a:solidFill>
              </a:rPr>
              <a:t>Section III. Les innovations institutionnelles de la constitution de 2011</a:t>
            </a:r>
            <a:endParaRPr lang="fr-FR" sz="3100" b="1" i="1" dirty="0">
              <a:solidFill>
                <a:srgbClr val="FFFF00"/>
              </a:solidFill>
            </a:endParaRPr>
          </a:p>
          <a:p>
            <a:pPr algn="ctr">
              <a:lnSpc>
                <a:spcPct val="150000"/>
              </a:lnSpc>
              <a:buNone/>
            </a:pPr>
            <a:endParaRPr lang="fr-MA" dirty="0"/>
          </a:p>
          <a:p>
            <a:pPr algn="just">
              <a:lnSpc>
                <a:spcPct val="150000"/>
              </a:lnSpc>
              <a:buFont typeface="Constantia" pitchFamily="18" charset="0"/>
              <a:buChar char="‐"/>
            </a:pPr>
            <a:r>
              <a:rPr lang="fr-MA" dirty="0"/>
              <a:t>La primauté  «conditionnée » du Droit international  sur le droit interne;</a:t>
            </a:r>
          </a:p>
          <a:p>
            <a:pPr algn="just">
              <a:lnSpc>
                <a:spcPct val="150000"/>
              </a:lnSpc>
              <a:buFont typeface="Constantia" pitchFamily="18" charset="0"/>
              <a:buChar char="‐"/>
            </a:pPr>
            <a:r>
              <a:rPr lang="fr-MA" dirty="0"/>
              <a:t>renforcement des rôles législatifs et de contrôle du parlement;</a:t>
            </a:r>
          </a:p>
          <a:p>
            <a:pPr algn="just">
              <a:lnSpc>
                <a:spcPct val="150000"/>
              </a:lnSpc>
              <a:buFont typeface="Constantia" pitchFamily="18" charset="0"/>
              <a:buChar char="‐"/>
            </a:pPr>
            <a:r>
              <a:rPr lang="fr-MA" dirty="0"/>
              <a:t> nomination du chef du gouvernement au sein du parti arrivé en tête des élections; </a:t>
            </a:r>
          </a:p>
          <a:p>
            <a:pPr algn="just">
              <a:lnSpc>
                <a:spcPct val="150000"/>
              </a:lnSpc>
              <a:buFont typeface="Constantia" pitchFamily="18" charset="0"/>
              <a:buChar char="‐"/>
            </a:pPr>
            <a:r>
              <a:rPr lang="fr-MA" dirty="0"/>
              <a:t>désacralisation le personne du roi (art 46); </a:t>
            </a:r>
          </a:p>
          <a:p>
            <a:pPr algn="just">
              <a:lnSpc>
                <a:spcPct val="150000"/>
              </a:lnSpc>
              <a:buFont typeface="Constantia" pitchFamily="18" charset="0"/>
              <a:buChar char="‐"/>
            </a:pPr>
            <a:r>
              <a:rPr lang="fr-MA" dirty="0"/>
              <a:t>le pouvoir réglementaire est exercé par  le chef du gouvernement; </a:t>
            </a:r>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192</a:t>
            </a:fld>
            <a:endParaRPr lang="fr-F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Font typeface="Constantia" pitchFamily="18" charset="0"/>
              <a:buChar char="‐"/>
            </a:pPr>
            <a:endParaRPr lang="fr-MA" dirty="0"/>
          </a:p>
          <a:p>
            <a:pPr algn="just">
              <a:lnSpc>
                <a:spcPct val="150000"/>
              </a:lnSpc>
              <a:buFont typeface="Constantia" pitchFamily="18" charset="0"/>
              <a:buChar char="‐"/>
            </a:pPr>
            <a:endParaRPr lang="fr-MA" dirty="0"/>
          </a:p>
          <a:p>
            <a:pPr algn="just">
              <a:lnSpc>
                <a:spcPct val="150000"/>
              </a:lnSpc>
              <a:buFont typeface="Constantia" pitchFamily="18" charset="0"/>
              <a:buChar char="‐"/>
            </a:pPr>
            <a:r>
              <a:rPr lang="fr-MA" dirty="0"/>
              <a:t>Institution d’une cour constitutionnelle chargée de statuer sur les  demandes d’exception d’inconstitutionnalité des lois ; </a:t>
            </a:r>
          </a:p>
          <a:p>
            <a:pPr algn="just">
              <a:lnSpc>
                <a:spcPct val="150000"/>
              </a:lnSpc>
              <a:buFont typeface="Constantia" pitchFamily="18" charset="0"/>
              <a:buChar char="‐"/>
            </a:pPr>
            <a:r>
              <a:rPr lang="fr-MA" dirty="0"/>
              <a:t>Le caractère décentralisé et régionalisé de l’Etat;</a:t>
            </a:r>
          </a:p>
          <a:p>
            <a:pPr algn="just">
              <a:lnSpc>
                <a:spcPct val="150000"/>
              </a:lnSpc>
              <a:buFont typeface="Constantia" pitchFamily="18" charset="0"/>
              <a:buChar char="‐"/>
            </a:pPr>
            <a:r>
              <a:rPr lang="fr-MA" dirty="0"/>
              <a:t>L’ élévation de la justice au rang de pouvoir indépendant; </a:t>
            </a:r>
          </a:p>
          <a:p>
            <a:pPr algn="just">
              <a:lnSpc>
                <a:spcPct val="150000"/>
              </a:lnSpc>
              <a:buFont typeface="Constantia" pitchFamily="18" charset="0"/>
              <a:buChar char="‐"/>
            </a:pPr>
            <a:r>
              <a:rPr lang="fr-MA" dirty="0"/>
              <a:t>La constitutionnalisation des instances de la bonne gouvernance et des Droits de l’homme…</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193</a:t>
            </a:fld>
            <a:endParaRPr lang="fr-F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endParaRPr lang="fr-MA" dirty="0"/>
          </a:p>
          <a:p>
            <a:pPr algn="just">
              <a:lnSpc>
                <a:spcPct val="150000"/>
              </a:lnSpc>
              <a:buNone/>
            </a:pPr>
            <a:r>
              <a:rPr lang="fr-MA" dirty="0"/>
              <a:t>Mais ces innovations, aussi importantes soient-elles, ne peuvent être interprétées comme une rupture par rapport aux Constitutions précédentes, en ce sens qu’il s’agit là, selon les termes même du Roi, d’une «</a:t>
            </a:r>
            <a:r>
              <a:rPr lang="fr-MA" i="1" dirty="0"/>
              <a:t>révision constitutionnelle  profonde » . </a:t>
            </a:r>
            <a:endParaRPr lang="fr-MA" dirty="0"/>
          </a:p>
          <a:p>
            <a:pPr algn="just">
              <a:lnSpc>
                <a:spcPct val="150000"/>
              </a:lnSpc>
              <a:buNone/>
            </a:pPr>
            <a:r>
              <a:rPr lang="fr-MA" dirty="0"/>
              <a:t>Dès lors, on peut affirmer que le Maroc </a:t>
            </a:r>
            <a:r>
              <a:rPr lang="fr-MA" dirty="0" smtClean="0"/>
              <a:t>connait une stabilité constitutionnelle qui traduit </a:t>
            </a:r>
            <a:r>
              <a:rPr lang="fr-MA" dirty="0"/>
              <a:t>sa stabilité </a:t>
            </a:r>
            <a:r>
              <a:rPr lang="fr-MA" dirty="0" smtClean="0"/>
              <a:t>politique depuis </a:t>
            </a:r>
            <a:r>
              <a:rPr lang="fr-MA" dirty="0"/>
              <a:t>son </a:t>
            </a:r>
            <a:r>
              <a:rPr lang="fr-MA" dirty="0" smtClean="0"/>
              <a:t>indépendance,</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194</a:t>
            </a:fld>
            <a:endParaRPr lang="fr-F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70000" lnSpcReduction="20000"/>
          </a:bodyPr>
          <a:lstStyle/>
          <a:p>
            <a:pPr algn="ctr">
              <a:lnSpc>
                <a:spcPct val="170000"/>
              </a:lnSpc>
              <a:buNone/>
            </a:pPr>
            <a:r>
              <a:rPr lang="fr-MA" sz="3100" b="1" i="1" dirty="0">
                <a:solidFill>
                  <a:srgbClr val="FFFF00"/>
                </a:solidFill>
              </a:rPr>
              <a:t>Encadré N 3 la séparation des pouvoirs</a:t>
            </a:r>
          </a:p>
          <a:p>
            <a:pPr algn="ctr">
              <a:lnSpc>
                <a:spcPct val="170000"/>
              </a:lnSpc>
              <a:buNone/>
            </a:pPr>
            <a:r>
              <a:rPr lang="fr-MA" sz="3100" b="1" i="1" dirty="0">
                <a:solidFill>
                  <a:srgbClr val="FFFF00"/>
                </a:solidFill>
              </a:rPr>
              <a:t>À lire et à commenter ( a rendre le lundi 12 avril 2021 avant 00H)</a:t>
            </a:r>
            <a:endParaRPr lang="fr-FR" sz="3100" b="1" i="1" dirty="0">
              <a:solidFill>
                <a:srgbClr val="FFFF00"/>
              </a:solidFill>
            </a:endParaRPr>
          </a:p>
          <a:p>
            <a:pPr algn="just">
              <a:lnSpc>
                <a:spcPct val="170000"/>
              </a:lnSpc>
              <a:buNone/>
            </a:pPr>
            <a:endParaRPr lang="fr-FR" b="1" i="1" dirty="0"/>
          </a:p>
          <a:p>
            <a:pPr algn="just">
              <a:lnSpc>
                <a:spcPct val="170000"/>
              </a:lnSpc>
              <a:buNone/>
            </a:pPr>
            <a:r>
              <a:rPr lang="fr-FR" b="1" i="1" dirty="0"/>
              <a:t>Dans l’ouvrage  de Montesquieu « De l’Esprit des lois ». Deuxième partie (livres XI) Chapitre VI « De la constitution d’Angleterre », p. 47 on peut lire ce qui </a:t>
            </a:r>
            <a:r>
              <a:rPr lang="fr-FR" i="1" dirty="0"/>
              <a:t>suit :</a:t>
            </a:r>
          </a:p>
          <a:p>
            <a:pPr algn="just">
              <a:lnSpc>
                <a:spcPct val="170000"/>
              </a:lnSpc>
              <a:buNone/>
            </a:pPr>
            <a:r>
              <a:rPr lang="fr-FR" i="1" dirty="0"/>
              <a:t>« Il y a dans chaque État trois sortes de pouvoirs: la puissance législative, la puissance  exécutrice des choses qui dépendent du droit des gens, et la puissance exécutrice de celles qui dépendent du droit civil.</a:t>
            </a:r>
            <a:endParaRPr lang="fr-FR" dirty="0"/>
          </a:p>
          <a:p>
            <a:pPr algn="just">
              <a:lnSpc>
                <a:spcPct val="170000"/>
              </a:lnSpc>
              <a:buNone/>
            </a:pPr>
            <a:r>
              <a:rPr lang="fr-FR" i="1" dirty="0"/>
              <a:t>Par la première, le prince ou le magistrat fait des lois pour un temps ou pour toujours, et corrige ou abroge celles qui sont faites.</a:t>
            </a:r>
            <a:endParaRPr lang="fr-FR" dirty="0"/>
          </a:p>
          <a:p>
            <a:pPr algn="just">
              <a:lnSpc>
                <a:spcPct val="170000"/>
              </a:lnSpc>
              <a:buNone/>
            </a:pPr>
            <a:r>
              <a:rPr lang="fr-FR" i="1" dirty="0"/>
              <a:t>Par la seconde, il fait la paix ou la guerre, envoie ou reçoit des ambassades, établit la sûreté, prévient les invasions. </a:t>
            </a:r>
            <a:endParaRPr lang="fr-FR" dirty="0"/>
          </a:p>
          <a:p>
            <a:pPr algn="just">
              <a:lnSpc>
                <a:spcPct val="170000"/>
              </a:lnSpc>
              <a:buNone/>
            </a:pPr>
            <a:r>
              <a:rPr lang="fr-FR" i="1" dirty="0"/>
              <a:t>Par la troisième, il punit les crimes, ou juge les différends des particuliers. On appellera cette dernière la puissance de juger, et l'autre simplement la puissance exécutrice de l'État…</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195</a:t>
            </a:fld>
            <a:endParaRPr lang="fr-F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fontScale="85000" lnSpcReduction="10000"/>
          </a:bodyPr>
          <a:lstStyle/>
          <a:p>
            <a:pPr algn="just">
              <a:lnSpc>
                <a:spcPct val="170000"/>
              </a:lnSpc>
              <a:buNone/>
            </a:pPr>
            <a:endParaRPr lang="fr-FR" i="1" dirty="0"/>
          </a:p>
          <a:p>
            <a:pPr algn="just">
              <a:lnSpc>
                <a:spcPct val="170000"/>
              </a:lnSpc>
              <a:buNone/>
            </a:pPr>
            <a:r>
              <a:rPr lang="fr-FR" i="1" dirty="0"/>
              <a:t>Lorsque, dans la même personne ou dans le même corps de magistrature, la puissance législative est réunie à la puissance exécutrice, il n'y a point de liberté; parce qu'on peut craindre que le même monarque ou le même sénat ne fasse des lois tyranniques pour les exécuter tyranniquement.</a:t>
            </a:r>
            <a:endParaRPr lang="fr-FR" dirty="0"/>
          </a:p>
          <a:p>
            <a:pPr algn="just">
              <a:lnSpc>
                <a:spcPct val="170000"/>
              </a:lnSpc>
              <a:buNone/>
            </a:pPr>
            <a:r>
              <a:rPr lang="fr-FR" i="1" dirty="0"/>
              <a:t>Il n'y a point encore de liberté si la puissance de juger n'est pas séparée de la puissance législative et de l'exécutrice. Si elle était jointe à la puissance législative, le pouvoir sur la vie et la liberté des citoyens serait arbitraire: car le juge serait législateur.</a:t>
            </a:r>
            <a:endParaRPr lang="fr-FR" dirty="0"/>
          </a:p>
          <a:p>
            <a:pPr algn="just">
              <a:lnSpc>
                <a:spcPct val="170000"/>
              </a:lnSpc>
              <a:buNone/>
            </a:pPr>
            <a:r>
              <a:rPr lang="fr-FR" i="1" dirty="0"/>
              <a:t>Si elle était jointe à la puissance exécutrice, le juge pourrait avoir la force d'un  Oppresseur».</a:t>
            </a:r>
            <a:endParaRPr lang="fr-FR" dirty="0"/>
          </a:p>
          <a:p>
            <a:pPr algn="just">
              <a:lnSpc>
                <a:spcPct val="150000"/>
              </a:lnSpc>
              <a:buNone/>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196</a:t>
            </a:fld>
            <a:endParaRPr lang="fr-F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2984"/>
          </a:xfrm>
        </p:spPr>
        <p:txBody>
          <a:bodyPr>
            <a:noAutofit/>
          </a:bodyPr>
          <a:lstStyle/>
          <a:p>
            <a:pPr algn="ctr"/>
            <a:r>
              <a:rPr lang="fr-MA" sz="3600" b="1" i="1" dirty="0">
                <a:solidFill>
                  <a:srgbClr val="FFFF00"/>
                </a:solidFill>
                <a:latin typeface="+mn-lt"/>
              </a:rPr>
              <a:t>Comment faire une dissertation juridique</a:t>
            </a:r>
            <a:endParaRPr lang="fr-FR" sz="3600" b="1" i="1" dirty="0">
              <a:solidFill>
                <a:srgbClr val="FFFF00"/>
              </a:solidFill>
              <a:latin typeface="+mn-lt"/>
            </a:endParaRPr>
          </a:p>
        </p:txBody>
      </p:sp>
      <p:sp>
        <p:nvSpPr>
          <p:cNvPr id="3" name="Espace réservé du contenu 2"/>
          <p:cNvSpPr>
            <a:spLocks noGrp="1"/>
          </p:cNvSpPr>
          <p:nvPr>
            <p:ph idx="1"/>
          </p:nvPr>
        </p:nvSpPr>
        <p:spPr>
          <a:xfrm>
            <a:off x="0" y="1214422"/>
            <a:ext cx="9144000" cy="5643578"/>
          </a:xfrm>
        </p:spPr>
        <p:txBody>
          <a:bodyPr>
            <a:normAutofit fontScale="92500"/>
          </a:bodyPr>
          <a:lstStyle/>
          <a:p>
            <a:pPr marL="514350" indent="-514350" algn="just">
              <a:lnSpc>
                <a:spcPct val="150000"/>
              </a:lnSpc>
              <a:buNone/>
            </a:pPr>
            <a:r>
              <a:rPr lang="fr-FR" sz="2800" b="1" dirty="0"/>
              <a:t>Comment traiter l’introduction du  sujet</a:t>
            </a:r>
          </a:p>
          <a:p>
            <a:pPr marL="514350" indent="-514350" algn="just">
              <a:lnSpc>
                <a:spcPct val="150000"/>
              </a:lnSpc>
              <a:buFont typeface="+mj-lt"/>
              <a:buAutoNum type="alphaLcPeriod"/>
            </a:pPr>
            <a:r>
              <a:rPr lang="fr-FR" sz="2800" dirty="0"/>
              <a:t>Lire et délimiter le sujet</a:t>
            </a:r>
          </a:p>
          <a:p>
            <a:pPr marL="514350" indent="-514350" algn="just">
              <a:lnSpc>
                <a:spcPct val="150000"/>
              </a:lnSpc>
              <a:buFont typeface="Wingdings" pitchFamily="2" charset="2"/>
              <a:buChar char="Ø"/>
            </a:pPr>
            <a:r>
              <a:rPr lang="fr-MA" sz="2800" dirty="0"/>
              <a:t>Il fau délimiter la question du sujet dans le temps et dans l’espace (temps passé; présent; future ou conditionnel…;  </a:t>
            </a:r>
          </a:p>
          <a:p>
            <a:pPr marL="514350" indent="-514350" algn="just">
              <a:lnSpc>
                <a:spcPct val="150000"/>
              </a:lnSpc>
              <a:buFont typeface="Wingdings" pitchFamily="2" charset="2"/>
              <a:buChar char="Ø"/>
            </a:pPr>
            <a:r>
              <a:rPr lang="fr-MA" sz="2800" dirty="0"/>
              <a:t>Il faut déterminer qui, quoi et  quand, ou et comment…</a:t>
            </a:r>
            <a:endParaRPr lang="fr-FR" sz="2800" dirty="0"/>
          </a:p>
          <a:p>
            <a:pPr marL="514350" indent="-514350" algn="just">
              <a:lnSpc>
                <a:spcPct val="150000"/>
              </a:lnSpc>
              <a:buFont typeface="Wingdings" pitchFamily="2" charset="2"/>
              <a:buChar char="Ø"/>
            </a:pPr>
            <a:r>
              <a:rPr lang="fr-MA" sz="2800" dirty="0"/>
              <a:t>Il faut lire attentivement le sujet pour bien le comprendre et dégager  sa signification  et déterminer la partie du cours à laquelle il renvoie.</a:t>
            </a:r>
            <a:endParaRPr lang="fr-FR" sz="2800"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197</a:t>
            </a:fld>
            <a:endParaRPr lang="fr-F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lnSpcReduction="10000"/>
          </a:bodyPr>
          <a:lstStyle/>
          <a:p>
            <a:pPr marL="514350" indent="-514350" algn="just">
              <a:lnSpc>
                <a:spcPct val="150000"/>
              </a:lnSpc>
              <a:buFont typeface="+mj-lt"/>
              <a:buAutoNum type="alphaLcPeriod" startAt="2"/>
            </a:pPr>
            <a:r>
              <a:rPr lang="fr-MA" dirty="0"/>
              <a:t>Il faut déterminer la problématique du sujet, </a:t>
            </a:r>
            <a:r>
              <a:rPr lang="fr-MA" dirty="0" err="1"/>
              <a:t>cad</a:t>
            </a:r>
            <a:r>
              <a:rPr lang="fr-MA" dirty="0"/>
              <a:t> la question centrale à laquelle on doit répondre. </a:t>
            </a:r>
          </a:p>
          <a:p>
            <a:pPr marL="514350" indent="-514350" algn="just">
              <a:lnSpc>
                <a:spcPct val="150000"/>
              </a:lnSpc>
              <a:buFont typeface="Wingdings" pitchFamily="2" charset="2"/>
              <a:buChar char="Ø"/>
            </a:pPr>
            <a:r>
              <a:rPr lang="fr-MA" dirty="0"/>
              <a:t> quels sont les éléments constitutifs de la question ?</a:t>
            </a:r>
          </a:p>
          <a:p>
            <a:pPr marL="514350" indent="-514350" algn="just">
              <a:lnSpc>
                <a:spcPct val="150000"/>
              </a:lnSpc>
              <a:buFont typeface="Wingdings" pitchFamily="2" charset="2"/>
              <a:buChar char="Ø"/>
            </a:pPr>
            <a:r>
              <a:rPr lang="fr-MA" dirty="0"/>
              <a:t>Quelles sont les dimensions possibles du sujet à traiter?</a:t>
            </a:r>
          </a:p>
          <a:p>
            <a:pPr marL="514350" indent="-514350" algn="just">
              <a:lnSpc>
                <a:spcPct val="150000"/>
              </a:lnSpc>
              <a:buFont typeface="Wingdings" pitchFamily="2" charset="2"/>
              <a:buChar char="Ø"/>
            </a:pPr>
            <a:r>
              <a:rPr lang="fr-MA" dirty="0"/>
              <a:t>Quelles sont les parties du cours auxquelles la problématique renvoie?</a:t>
            </a:r>
          </a:p>
          <a:p>
            <a:pPr marL="514350" indent="-514350" algn="just">
              <a:lnSpc>
                <a:spcPct val="150000"/>
              </a:lnSpc>
              <a:buFont typeface="Wingdings" pitchFamily="2" charset="2"/>
              <a:buChar char="Ø"/>
            </a:pPr>
            <a:r>
              <a:rPr lang="fr-MA" dirty="0"/>
              <a:t>Quelles sont les références à mobiliser ( cours, auteur, ouvrage, événement historique ou institutionnel…)?</a:t>
            </a:r>
          </a:p>
          <a:p>
            <a:pPr marL="514350" indent="-514350" algn="just">
              <a:lnSpc>
                <a:spcPct val="150000"/>
              </a:lnSpc>
              <a:buFont typeface="+mj-lt"/>
              <a:buAutoNum type="alphaLcPeriod" startAt="3"/>
            </a:pPr>
            <a:r>
              <a:rPr lang="fr-MA" dirty="0"/>
              <a:t>Quel est l’intérêt du sujet a traiter ( sujet actuel, nouveau, universel, singulier, dangereux, crucial, importance théorique ou pratique, historique, ) ?</a:t>
            </a:r>
          </a:p>
          <a:p>
            <a:pPr marL="514350" indent="-514350" algn="just">
              <a:lnSpc>
                <a:spcPct val="150000"/>
              </a:lnSpc>
              <a:buNone/>
            </a:pPr>
            <a:endParaRPr lang="fr-MA" dirty="0"/>
          </a:p>
          <a:p>
            <a:pPr marL="514350" indent="-514350" algn="just">
              <a:lnSpc>
                <a:spcPct val="150000"/>
              </a:lnSpc>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198</a:t>
            </a:fld>
            <a:endParaRPr lang="fr-F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01156" cy="6858000"/>
          </a:xfrm>
        </p:spPr>
        <p:txBody>
          <a:bodyPr>
            <a:normAutofit fontScale="70000" lnSpcReduction="20000"/>
          </a:bodyPr>
          <a:lstStyle/>
          <a:p>
            <a:pPr marL="514350" indent="-514350" algn="just">
              <a:buFont typeface="+mj-lt"/>
              <a:buAutoNum type="alphaLcPeriod" startAt="4"/>
            </a:pPr>
            <a:endParaRPr lang="fr-MA" dirty="0"/>
          </a:p>
          <a:p>
            <a:pPr marL="514350" indent="-514350" algn="just">
              <a:buFont typeface="+mj-lt"/>
              <a:buAutoNum type="alphaLcPeriod" startAt="4"/>
            </a:pPr>
            <a:endParaRPr lang="fr-MA" dirty="0"/>
          </a:p>
          <a:p>
            <a:pPr marL="514350" indent="-514350" algn="just">
              <a:buFont typeface="+mj-lt"/>
              <a:buAutoNum type="alphaLcPeriod" startAt="4"/>
            </a:pPr>
            <a:endParaRPr lang="fr-MA" dirty="0"/>
          </a:p>
          <a:p>
            <a:pPr marL="514350" indent="-514350" algn="just">
              <a:buFont typeface="+mj-lt"/>
              <a:buAutoNum type="alphaLcPeriod" startAt="4"/>
            </a:pPr>
            <a:r>
              <a:rPr lang="fr-MA" dirty="0"/>
              <a:t>Établir un plan </a:t>
            </a:r>
            <a:r>
              <a:rPr lang="fr-FR" dirty="0"/>
              <a:t> et  justification de son bien fondé ;</a:t>
            </a:r>
            <a:endParaRPr lang="fr-MA" dirty="0"/>
          </a:p>
          <a:p>
            <a:pPr marL="514350" indent="-514350" algn="just">
              <a:lnSpc>
                <a:spcPct val="160000"/>
              </a:lnSpc>
              <a:buFont typeface="Wingdings" pitchFamily="2" charset="2"/>
              <a:buChar char="Ø"/>
            </a:pPr>
            <a:r>
              <a:rPr lang="fr-MA" dirty="0"/>
              <a:t>Le plan est obligatoirement binaire , c’est à dire en deux grandes parties subdivisées en deux grandes sections.</a:t>
            </a:r>
          </a:p>
          <a:p>
            <a:pPr marL="514350" indent="-514350" algn="just">
              <a:lnSpc>
                <a:spcPct val="160000"/>
              </a:lnSpc>
              <a:buFont typeface="Wingdings" pitchFamily="2" charset="2"/>
              <a:buChar char="Ø"/>
            </a:pPr>
            <a:r>
              <a:rPr lang="fr-MA" dirty="0"/>
              <a:t>La plan dualiste implique la division de la problématique en </a:t>
            </a:r>
            <a:r>
              <a:rPr lang="fr-FR" dirty="0"/>
              <a:t>deux parties/quatre sous-parties, </a:t>
            </a:r>
            <a:r>
              <a:rPr lang="fr-MA" dirty="0"/>
              <a:t>qui renvoie chacune à une facette du sujet comme :</a:t>
            </a:r>
          </a:p>
          <a:p>
            <a:pPr marL="514350" indent="-514350" algn="just">
              <a:lnSpc>
                <a:spcPct val="160000"/>
              </a:lnSpc>
              <a:buFont typeface="Arial" pitchFamily="34" charset="0"/>
              <a:buChar char="•"/>
            </a:pPr>
            <a:r>
              <a:rPr lang="fr-MA" dirty="0"/>
              <a:t>Avantage / inconvénient</a:t>
            </a:r>
          </a:p>
          <a:p>
            <a:pPr marL="514350" indent="-514350" algn="just">
              <a:lnSpc>
                <a:spcPct val="160000"/>
              </a:lnSpc>
              <a:buFont typeface="Arial" pitchFamily="34" charset="0"/>
              <a:buChar char="•"/>
            </a:pPr>
            <a:r>
              <a:rPr lang="fr-MA" dirty="0"/>
              <a:t>Risque / opportunité </a:t>
            </a:r>
          </a:p>
          <a:p>
            <a:pPr marL="514350" indent="-514350" algn="just">
              <a:lnSpc>
                <a:spcPct val="160000"/>
              </a:lnSpc>
              <a:buFont typeface="Arial" pitchFamily="34" charset="0"/>
              <a:buChar char="•"/>
            </a:pPr>
            <a:r>
              <a:rPr lang="fr-MA" dirty="0"/>
              <a:t>Avant/ présent</a:t>
            </a:r>
          </a:p>
          <a:p>
            <a:pPr marL="514350" indent="-514350" algn="just">
              <a:lnSpc>
                <a:spcPct val="160000"/>
              </a:lnSpc>
              <a:buFont typeface="Arial" pitchFamily="34" charset="0"/>
              <a:buChar char="•"/>
            </a:pPr>
            <a:r>
              <a:rPr lang="fr-MA" dirty="0"/>
              <a:t>Acteur/ action…</a:t>
            </a:r>
          </a:p>
          <a:p>
            <a:pPr marL="514350" indent="-514350" algn="just">
              <a:lnSpc>
                <a:spcPct val="160000"/>
              </a:lnSpc>
              <a:buFont typeface="Arial" pitchFamily="34" charset="0"/>
              <a:buChar char="•"/>
            </a:pPr>
            <a:r>
              <a:rPr lang="fr-MA" dirty="0"/>
              <a:t>Thèse / antithèse </a:t>
            </a:r>
          </a:p>
          <a:p>
            <a:pPr marL="514350" indent="-514350" algn="just">
              <a:lnSpc>
                <a:spcPct val="160000"/>
              </a:lnSpc>
              <a:buFont typeface="Wingdings" pitchFamily="2" charset="2"/>
              <a:buChar char="Ø"/>
            </a:pPr>
            <a:r>
              <a:rPr lang="fr-MA" dirty="0"/>
              <a:t>Élaborer des titres claires et évocateurs des question de la problématique </a:t>
            </a:r>
          </a:p>
          <a:p>
            <a:pPr marL="514350" indent="-514350" algn="just">
              <a:buFont typeface="Arial" pitchFamily="34" charset="0"/>
              <a:buChar char="•"/>
            </a:pPr>
            <a:endParaRPr lang="fr-MA" dirty="0"/>
          </a:p>
          <a:p>
            <a:pPr marL="514350" indent="-514350" algn="just">
              <a:buFont typeface="Arial" pitchFamily="34" charset="0"/>
              <a:buChar char="•"/>
            </a:pPr>
            <a:endParaRPr lang="fr-MA" dirty="0"/>
          </a:p>
          <a:p>
            <a:pPr marL="514350" indent="-514350" algn="just">
              <a:buNone/>
            </a:pPr>
            <a:r>
              <a:rPr lang="fr-MA" dirty="0"/>
              <a:t>  </a:t>
            </a:r>
          </a:p>
          <a:p>
            <a:pPr marL="514350" indent="-514350" algn="just">
              <a:buFont typeface="Arial" pitchFamily="34" charset="0"/>
              <a:buChar char="•"/>
            </a:pP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199</a:t>
            </a:fld>
            <a:endParaRPr lang="fr-F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just">
              <a:lnSpc>
                <a:spcPct val="150000"/>
              </a:lnSpc>
              <a:buNone/>
            </a:pPr>
            <a:r>
              <a:rPr lang="fr-MA" i="1" dirty="0">
                <a:solidFill>
                  <a:srgbClr val="FFFF00"/>
                </a:solidFill>
              </a:rPr>
              <a:t>Exigences de la rédaction</a:t>
            </a:r>
            <a:r>
              <a:rPr lang="fr-MA" dirty="0"/>
              <a:t>: </a:t>
            </a:r>
          </a:p>
          <a:p>
            <a:pPr marL="514350" indent="-514350" algn="just">
              <a:lnSpc>
                <a:spcPct val="150000"/>
              </a:lnSpc>
              <a:buFont typeface="Wingdings" pitchFamily="2" charset="2"/>
              <a:buChar char="v"/>
            </a:pPr>
            <a:r>
              <a:rPr lang="fr-MA" dirty="0"/>
              <a:t>Ecriture propre er lisible</a:t>
            </a:r>
          </a:p>
          <a:p>
            <a:pPr marL="514350" indent="-514350" algn="just">
              <a:lnSpc>
                <a:spcPct val="150000"/>
              </a:lnSpc>
              <a:buFont typeface="Wingdings" pitchFamily="2" charset="2"/>
              <a:buChar char="v"/>
            </a:pPr>
            <a:r>
              <a:rPr lang="fr-MA" dirty="0"/>
              <a:t>Absence de Fautes d’orthographe,</a:t>
            </a:r>
          </a:p>
          <a:p>
            <a:pPr marL="514350" indent="-514350" algn="just">
              <a:lnSpc>
                <a:spcPct val="150000"/>
              </a:lnSpc>
              <a:buFont typeface="Wingdings" pitchFamily="2" charset="2"/>
              <a:buChar char="v"/>
            </a:pPr>
            <a:r>
              <a:rPr lang="fr-MA" dirty="0"/>
              <a:t>Style soigné ( éviter le style largo ) </a:t>
            </a:r>
          </a:p>
          <a:p>
            <a:pPr marL="514350" indent="-514350" algn="just">
              <a:lnSpc>
                <a:spcPct val="150000"/>
              </a:lnSpc>
              <a:buFont typeface="Wingdings" pitchFamily="2" charset="2"/>
              <a:buChar char="v"/>
            </a:pPr>
            <a:r>
              <a:rPr lang="fr-MA" dirty="0"/>
              <a:t>Phrases courtes </a:t>
            </a:r>
          </a:p>
          <a:p>
            <a:pPr marL="514350" indent="-514350" algn="just">
              <a:lnSpc>
                <a:spcPct val="150000"/>
              </a:lnSpc>
              <a:buFont typeface="Wingdings" pitchFamily="2" charset="2"/>
              <a:buChar char="v"/>
            </a:pPr>
            <a:r>
              <a:rPr lang="fr-MA" dirty="0"/>
              <a:t>Respect de la ponctuation </a:t>
            </a:r>
          </a:p>
          <a:p>
            <a:pPr marL="514350" indent="-514350" algn="just">
              <a:lnSpc>
                <a:spcPct val="150000"/>
              </a:lnSpc>
              <a:buFont typeface="Wingdings" pitchFamily="2" charset="2"/>
              <a:buChar char="v"/>
            </a:pPr>
            <a:r>
              <a:rPr lang="fr-MA" dirty="0"/>
              <a:t>Absence des abréviations </a:t>
            </a:r>
          </a:p>
          <a:p>
            <a:pPr marL="514350" indent="-514350" algn="just">
              <a:lnSpc>
                <a:spcPct val="150000"/>
              </a:lnSpc>
              <a:buFont typeface="Wingdings" pitchFamily="2" charset="2"/>
              <a:buChar char="v"/>
            </a:pPr>
            <a:r>
              <a:rPr lang="fr-MA" dirty="0"/>
              <a:t>Équilibre entre les deux grandes parties et </a:t>
            </a:r>
            <a:r>
              <a:rPr lang="fr-MA" dirty="0" err="1"/>
              <a:t>sousparties</a:t>
            </a:r>
            <a:endParaRPr lang="fr-FR" dirty="0"/>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200</a:t>
            </a:fld>
            <a:endParaRPr lang="fr-F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858280" cy="6715148"/>
          </a:xfrm>
        </p:spPr>
        <p:txBody>
          <a:bodyPr>
            <a:normAutofit lnSpcReduction="10000"/>
          </a:bodyPr>
          <a:lstStyle/>
          <a:p>
            <a:pPr algn="just">
              <a:lnSpc>
                <a:spcPct val="150000"/>
              </a:lnSpc>
              <a:buNone/>
            </a:pPr>
            <a:r>
              <a:rPr lang="fr-FR" b="1" i="1" dirty="0" smtClean="0">
                <a:solidFill>
                  <a:srgbClr val="FFFF00"/>
                </a:solidFill>
              </a:rPr>
              <a:t>Plan binaire</a:t>
            </a:r>
          </a:p>
          <a:p>
            <a:pPr algn="just">
              <a:lnSpc>
                <a:spcPct val="150000"/>
              </a:lnSpc>
              <a:buNone/>
            </a:pPr>
            <a:r>
              <a:rPr lang="fr-FR" dirty="0" smtClean="0"/>
              <a:t>Introduction  </a:t>
            </a:r>
            <a:endParaRPr lang="fr-FR" dirty="0"/>
          </a:p>
          <a:p>
            <a:pPr algn="just">
              <a:lnSpc>
                <a:spcPct val="150000"/>
              </a:lnSpc>
              <a:buNone/>
            </a:pPr>
            <a:r>
              <a:rPr lang="fr-FR" dirty="0"/>
              <a:t>I – Titre de la 1re partie  </a:t>
            </a:r>
          </a:p>
          <a:p>
            <a:pPr marL="514350" indent="-514350" algn="just">
              <a:lnSpc>
                <a:spcPct val="150000"/>
              </a:lnSpc>
              <a:buAutoNum type="alphaUcParenR"/>
            </a:pPr>
            <a:r>
              <a:rPr lang="fr-FR" dirty="0"/>
              <a:t>Titre </a:t>
            </a:r>
          </a:p>
          <a:p>
            <a:pPr marL="514350" indent="-514350" algn="just">
              <a:lnSpc>
                <a:spcPct val="150000"/>
              </a:lnSpc>
              <a:buNone/>
            </a:pPr>
            <a:r>
              <a:rPr lang="fr-FR" dirty="0"/>
              <a:t>Transition </a:t>
            </a:r>
          </a:p>
          <a:p>
            <a:pPr marL="514350" indent="-514350" algn="just">
              <a:lnSpc>
                <a:spcPct val="150000"/>
              </a:lnSpc>
              <a:buFont typeface="Wingdings" pitchFamily="2" charset="2"/>
              <a:buAutoNum type="alphaUcParenR" startAt="2"/>
            </a:pPr>
            <a:r>
              <a:rPr lang="fr-FR" dirty="0"/>
              <a:t>Titre </a:t>
            </a:r>
          </a:p>
          <a:p>
            <a:pPr marL="514350" indent="-514350" algn="just">
              <a:lnSpc>
                <a:spcPct val="150000"/>
              </a:lnSpc>
              <a:buNone/>
            </a:pPr>
            <a:r>
              <a:rPr lang="fr-FR" dirty="0"/>
              <a:t>Transition </a:t>
            </a:r>
          </a:p>
          <a:p>
            <a:pPr marL="514350" indent="-514350" algn="just">
              <a:lnSpc>
                <a:spcPct val="150000"/>
              </a:lnSpc>
              <a:buNone/>
            </a:pPr>
            <a:r>
              <a:rPr lang="fr-FR" dirty="0"/>
              <a:t>II – Titre de la 2e partie</a:t>
            </a:r>
          </a:p>
          <a:p>
            <a:pPr marL="514350" indent="-514350" algn="just">
              <a:lnSpc>
                <a:spcPct val="150000"/>
              </a:lnSpc>
              <a:buAutoNum type="alphaUcParenR"/>
            </a:pPr>
            <a:r>
              <a:rPr lang="fr-FR" dirty="0"/>
              <a:t>Titre</a:t>
            </a:r>
          </a:p>
          <a:p>
            <a:pPr marL="514350" indent="-514350" algn="just">
              <a:lnSpc>
                <a:spcPct val="150000"/>
              </a:lnSpc>
              <a:buAutoNum type="alphaUcParenR"/>
            </a:pPr>
            <a:r>
              <a:rPr lang="fr-FR" dirty="0"/>
              <a:t>Titre</a:t>
            </a:r>
          </a:p>
        </p:txBody>
      </p:sp>
      <p:sp>
        <p:nvSpPr>
          <p:cNvPr id="4" name="Espace réservé du numéro de diapositive 3"/>
          <p:cNvSpPr>
            <a:spLocks noGrp="1"/>
          </p:cNvSpPr>
          <p:nvPr>
            <p:ph type="sldNum" sz="quarter" idx="12"/>
          </p:nvPr>
        </p:nvSpPr>
        <p:spPr/>
        <p:txBody>
          <a:bodyPr/>
          <a:lstStyle/>
          <a:p>
            <a:fld id="{0B4B166F-A3A3-4DE9-809D-A8E7BD5C3246}" type="slidenum">
              <a:rPr lang="fr-FR" smtClean="0"/>
              <a:pPr/>
              <a:t>201</a:t>
            </a:fld>
            <a:endParaRPr lang="fr-F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éb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75636</TotalTime>
  <Words>11425</Words>
  <Application>Microsoft Office PowerPoint</Application>
  <PresentationFormat>Affichage à l'écran (4:3)</PresentationFormat>
  <Paragraphs>1094</Paragraphs>
  <Slides>201</Slides>
  <Notes>1</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201</vt:i4>
      </vt:variant>
    </vt:vector>
  </HeadingPairs>
  <TitlesOfParts>
    <vt:vector size="203" baseType="lpstr">
      <vt:lpstr>Débit</vt:lpstr>
      <vt:lpstr>Document</vt:lpstr>
      <vt:lpstr>Ecole de Droit UIR 2024-2025 </vt:lpstr>
      <vt:lpstr>  Définition du Droit constitutionnel </vt:lpstr>
      <vt:lpstr>Présentation PowerPoint</vt:lpstr>
      <vt:lpstr>Présentation PowerPoint</vt:lpstr>
      <vt:lpstr>Présentation PowerPoint</vt:lpstr>
      <vt:lpstr>Présentation PowerPoint</vt:lpstr>
      <vt:lpstr>Objets du Droit constitutionnel</vt:lpstr>
      <vt:lpstr>5. Les sources du droit constitutionnel</vt:lpstr>
      <vt:lpstr>Présentation PowerPoint</vt:lpstr>
      <vt:lpstr>Présentation PowerPoint</vt:lpstr>
      <vt:lpstr>Présentation PowerPoint</vt:lpstr>
      <vt:lpstr>Présentation PowerPoint</vt:lpstr>
      <vt:lpstr>Présentation PowerPoint</vt:lpstr>
      <vt:lpstr>Chapitre I. La théorie générale de l’État </vt:lpstr>
      <vt:lpstr>Section 1.  Éléments constitutifs de l’État </vt:lpstr>
      <vt:lpstr>Présentation PowerPoint</vt:lpstr>
      <vt:lpstr>Le territoire</vt:lpstr>
      <vt:lpstr>Présentation PowerPoint</vt:lpstr>
      <vt:lpstr>Présentation PowerPoint</vt:lpstr>
      <vt:lpstr>B. La population</vt:lpstr>
      <vt:lpstr>Présentation PowerPoint</vt:lpstr>
      <vt:lpstr>Présentation PowerPoint</vt:lpstr>
      <vt:lpstr>Présentation PowerPoint</vt:lpstr>
      <vt:lpstr>Présentation PowerPoint</vt:lpstr>
      <vt:lpstr>            C. La puissance publique souveraine </vt:lpstr>
      <vt:lpstr>Présentation PowerPoint</vt:lpstr>
      <vt:lpstr>Présentation PowerPoint</vt:lpstr>
      <vt:lpstr>Présentation PowerPoint</vt:lpstr>
      <vt:lpstr>La reconnaissance internationale</vt:lpstr>
      <vt:lpstr>Section II : Les formes de l’État </vt:lpstr>
      <vt:lpstr>l’État unitaire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L’État composé</vt:lpstr>
      <vt:lpstr>Présentation PowerPoint</vt:lpstr>
      <vt:lpstr>Présentation PowerPoint</vt:lpstr>
      <vt:lpstr>Présentation PowerPoint</vt:lpstr>
      <vt:lpstr>Présentation PowerPoint</vt:lpstr>
      <vt:lpstr>Présentation PowerPoint</vt:lpstr>
      <vt:lpstr>Chapitre 2 : La Constitution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Section III : la justice constitutionnelle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Chapitre I. Le modèle constitutionnel parlementaire</vt:lpstr>
      <vt:lpstr>Présentation PowerPoint</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 Le régime parlementaire Britannique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 La prééminence  du 1er ministre </vt:lpstr>
      <vt:lpstr>Présentation PowerPoint</vt:lpstr>
      <vt:lpstr>Présentation PowerPoint</vt:lpstr>
      <vt:lpstr>Présentation PowerPoint</vt:lpstr>
      <vt:lpstr>Présentation PowerPoint</vt:lpstr>
      <vt:lpstr>a. La Chambre des Communes </vt:lpstr>
      <vt:lpstr>Présentation PowerPoint</vt:lpstr>
      <vt:lpstr>Présentation PowerPoint</vt:lpstr>
      <vt:lpstr>Présentation PowerPoint</vt:lpstr>
      <vt:lpstr>La chambre des Lords</vt:lpstr>
      <vt:lpstr>Présentation PowerPoint</vt:lpstr>
      <vt:lpstr>Présentation PowerPoint</vt:lpstr>
      <vt:lpstr>Présentation PowerPoint</vt:lpstr>
      <vt:lpstr>Présentation PowerPoint</vt:lpstr>
      <vt:lpstr>Présentation PowerPoint</vt:lpstr>
      <vt:lpstr>Chapitre II. Le modèle constitutionnel présidentiel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 Le pouvoir judicaire</vt:lpstr>
      <vt:lpstr>Présentation PowerPoint</vt:lpstr>
      <vt:lpstr>Présentation PowerPoint</vt:lpstr>
      <vt:lpstr>          Chapitre III. Le modèle constitutionnel semi-présidentiel </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La rationalisation du travail parlementaire</vt:lpstr>
      <vt:lpstr>Présentation PowerPoint</vt:lpstr>
      <vt:lpstr>Présentation PowerPoint</vt:lpstr>
      <vt:lpstr>Présentation PowerPoint</vt:lpstr>
      <vt:lpstr>Présentation PowerPoint</vt:lpstr>
      <vt:lpstr>Chapitre IV. Le modèle constitutionnel Marocain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Comment faire une dissertation juridique</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Ecole de Droit, UIR Droit constitutionnel</dc:title>
  <dc:creator>HP</dc:creator>
  <cp:lastModifiedBy>Utilisateur Windows</cp:lastModifiedBy>
  <cp:revision>833</cp:revision>
  <dcterms:created xsi:type="dcterms:W3CDTF">2021-02-03T14:18:14Z</dcterms:created>
  <dcterms:modified xsi:type="dcterms:W3CDTF">2024-10-23T08:00:54Z</dcterms:modified>
</cp:coreProperties>
</file>